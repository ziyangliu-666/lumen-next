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15. Lumen Platform is a platform on which teams of AI agents do research work. Everything we show runs on a public server; the address is on the slide. Every animation explains one part, and after it we show the real recording of the same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researcher who uses an AI model today works in one chat window. It does one thing at a time, so five parts take five rounds. A long chat drops its first messages without warning. And nobody sees the cost until the bill. Lumen gives the question to a team of agents: a lead splits it, readers work at once, and the cost is shown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question on our server. A lead agent plans and splits the work; three readers work in parallel. Every step is recorded with what it cost, against a cap of one dollar per account. Three findings and the answer come back, for three cents. This was a demo-mode run, without a model; we show a real-model answer in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Platform thinking. The seed is the engine every question needs: the tree of agents, the record of every step, and the cost cap. Producers add agents. Consumers, the web app and any app with an API key, ask questions with them. Our team is the operator. A new app gets all of the seed for free; the literature watch is about 210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The six use cases of our proposal, all built and running on the public server: a producer publishes an agent, a consumer asks with it through an API key, the owner approves a step over the cap, usage is read per agent, and a second app, the literature watch, runs on the platform. Around them: five services on k3s, HTTPS, autoscaling, the API, the pipeline and a load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us owns one part from design to deployment. [TEAM TO FILL: replace each dash with the hours that member spent, from the report section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Status: everything you will see is built and runs on the public server. The milestones are from our git history. Three open issues, each with its next step; the report lists all thirteen, with owners.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decisions shape the logical architecture; the report has them as AD-01 to AD-07. Services follow the slices we already had, so their tests stay. A turn goes on a durable queue, so a slow model call never holds a web request, any worker can take it, and KEDA can scale on the queue. A queue for each level prevents a deadlock; the next slides show it. Session is the only writer of the trace, so a worker that dies loses nothing. One shared database keeps every service on the same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derived the contexts. First we listed what the users do, from the use cases. Then we grouped the words they use: a context ends where a word changes its meaning. "Cost" is a number on a step in Session, and a ledger entry in Billing. Then, inside each context, the aggregate is what one transaction must keep consistent: a task tree rolls up its cost; a wallet never passes its cap without an approval. The check: each context was already one module of our monolith, and it became one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Domain-driven design gives us five bounded contexts: Identity, Projects, Session, Execution and Billing. Grey lines inside each box are its aggregates. One question crosses them as domain events: question asked, turn queued, step recorded, spend recorded, approval needed when a step would pass the cap, and finding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Lumen is a platform. A producer publishes an agent: instructions for one kind of question. A consumer app gets an API key and picks an agent. The platform runs it, records every step and bills it. So the literature watch app is about 210 lines: no database, no model, no billing of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services: identity, project, session, worker and billing; Traefik is the gateway. Follow one question: project opens a session, session puts the work in a RabbitMQ queue, and a worker takes it. Every step is saved in PostgreSQL and shown on the screen. More waiting work means more workers.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decision that matters. A lead waits for its readers, and a waiting lead keeps its worker. With one shared queue, two leads can take both workers, and their readers never start: a deadlock. So every worker has a slot for each level, fed by its own queue; in the code there are three, lumen.turns.0, 1 and 2. The deepest level waits for nothing, so every question finishes.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Apps get a key, not a password. It carries scopes and is stored only as a hash. Inside its scopes it works; on the web app's own pages the gateway refuses it with 403; past 20 requests at once or 60 a minute it gets 429.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decisions shape the physical architecture, AD-09 to AD-14 in the report. One k3s node costs about 1.3 dollars a day, and the same Helm chart runs on our laptops and could run on EKS. Traefik is already in k3s, so the gateway is configuration, not a service. Agent load shows in the queues before it shows in CPU, because a worker waits on the model, so the workers scale on queue length. The database and broker passwords are made in the cluster and never leave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t3.medium in AWS Singapore, about 1.3 dollars a day. Only ports 22, 80 and 443 are open; the Kubernetes API is closed. Traefik serves HTTPS with a Let's Encrypt certificate and routes each path to its service. Services call each other on /internal with a secret header, and /internal has no route from outside. A push deploys over SSH and the pods are replaced one by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PostgreSQL database; each context keeps its own tables. API keys are stored only as hashes. RabbitMQ keeps three durable queues, and project files go on a volume. A turn stays in its queue until a worker acknowledges it. Today one database for all; next, one per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schema. One PostgreSQL database, and each context owns its tables; the migration prefix shows the owner. A task has a parent and a depth, so the tree and its cost roll-up are SQL. Money is numeric, never a JavaScript number. An approval is decided in one transaction with SELECT FOR UPDATE. The approved row is an outbox: billing pods claim rows with SKIP LOCKED, so two pods never resume the same task. The API key itself is never stored, only its SHA-256 hash.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detailed use case: the literature watch app asks a question with its API key and a chosen agent. Project creates the project and asks session to start; session puts the first turn on lumen.turns.0; a worker takes it, applies the agent's instructions, calls gpt-4.1-nano and reports each step; then the app reads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detailed design of the same use case. The kernel, the code that runs a session, did not change. It calls three ports. In the monolith they are in-process. In the platform, Worker becomes QueueWorker, which publishes the turn on the queue for its level; WorkerReport becomes RemoteReport, so each step a worker makes is a POST to session; and the project service reaches the kernel through a remote session directory. The key guard, the agent lookup and the intent row are in the report, section 3.2.4, with a second use case: a step over the cap that waits for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recording of the real server. kubectl runs on the server through SSH, because the Kubernetes API is not public. Five services, PostgreSQL and RabbitMQ, and the autoscalers: CPU for identity, project and billing, and KEDA for the workers, on the queue length.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monorepo. main is the monolith we built for another course; ass/platform is this platform, and each member merges a branch into it. A push builds one image tagged with the commit SHA. There is no registry: the image goes to the server over SSH, and helm upgrade replaces the pods.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push runs tests, npm audit, CodeQL, a Trivy scan of the image, the deploy with Helm, an OWASP ZAP scan of the live server, and a small k6 load. Run 39439752963 stopped at the image scan: five critical issues. We built a platform image without Docker, patched at build, and run 39441445313 passed every stage in about 12.5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in detail, with the times of run 39441445313. A push to ass/platform, or a manual run, starts three checks at once: the tests with lint and typecheck, npm audit on the production dependencies, and CodeQL. Only when all three pass does deploy start. It builds one image tagged with the commit, and Trivy fails the job on a critical CVE that has a fix, so the image never reaches the server. Then the image goes over SSH, k3s imports it, and helm upgrade waits for every readiness probe. After the deploy, OWASP ZAP scans the live address and k6 runs a small load, only in demo mode so a push never pays for model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pipeline runs, from the GitHub command line: the list of runs, and every job of one run with its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deploy is a Helm release on the server, so we can see the history and roll back. The worker deployment has one revision per deploy.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found while we built it. The deadlock we found in design, before it happened. The image scan stopped run 39439752963: the monolith image carries Docker for its sandbox, and the platform workers never start a sandbox, so we built a smaller image. The first turn can reach a worker before the project request returns, so the agent choice is written first and claimed by the worker. Two KEDA settings: the default five-minute scale-down, and a short service name that does not work from the KEDA namespace.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question through the public API, with an API key, answered by gpt-4.1-nano. It was recorded on 21 October. It ended in under two seconds and cost USD 0.000168.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scaling works, from our load test on 20 October. Ten users ask without pause; one worker falls behind and the queue grows. Above five waiting jobs per worker, KEDA adds one: one to four workers in 49 seconds. 135 questions, median 6.1 seconds, none of the 1,040 requests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k6 load test with the real model, recorded live and played faster. Ten virtual users ask without pause. 131 questions and 1,159 requests, none failed; the median question finished in 4.1 seconds, p95 in 27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run, recorded at the same time. The queue reached 10 jobs per worker against the target of five, so KEDA added a second worker, and removed it after the load. This run needed two workers; the demo-mode run on 20 October needed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if a worker dies mid-question? A job leaves the queue only when its worker says done. We force-deleted a worker; its three jobs went back to the queue, a new worker took them, and the question ended in 12.6 seconds. The price: the jobs ran twice, 8 cents instead of 3. Making jobs safe to repeat is our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test on the public server, with the real model: a question starts, we force-delete the worker, and the question still ends. Its cost rose from USD 0.000255 to 0.000467, because the jobs ran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about eight minutes, with deploy/k8s/demo.sh and LUMEN_URL set to the address on the slide. Before the load test, switch the workers to demo mode (gh workflow run platform-deploy.yml -f worker=demo), so the load costs nothing; switch back afterwards. If the network fails, the recordings on the previous slides show the same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gif"/><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gif"/><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gif"/><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gif"/><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gif"/><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gif"/><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gif"/><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gif"/><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gif"/><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gif"/><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gif"/><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gif"/><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gif"/><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gif"/><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gif"/><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gif"/><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gif"/><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1737360"/>
            <a:ext cx="6400800" cy="365760"/>
          </a:xfrm>
          <a:prstGeom prst="rect">
            <a:avLst/>
          </a:prstGeom>
          <a:noFill/>
          <a:ln/>
        </p:spPr>
        <p:txBody>
          <a:bodyPr wrap="square" lIns="0" tIns="0" rIns="0" bIns="0" rtlCol="0" anchor="t"/>
          <a:lstStyle/>
          <a:p>
            <a:pPr indent="0" marL="0">
              <a:buNone/>
            </a:pPr>
            <a:r>
              <a:rPr lang="en-US" sz="1800" dirty="0">
                <a:solidFill>
                  <a:srgbClr val="9A9DA3"/>
                </a:solidFill>
                <a:latin typeface="Switzer" pitchFamily="34" charset="0"/>
                <a:ea typeface="Switzer" pitchFamily="34" charset="-122"/>
                <a:cs typeface="Switzer" pitchFamily="34" charset="-120"/>
              </a:rPr>
              <a:t>Architecting Scalable Systems  ·  Team 15</a:t>
            </a:r>
            <a:endParaRPr lang="en-US" sz="1800" dirty="0"/>
          </a:p>
        </p:txBody>
      </p:sp>
      <p:sp>
        <p:nvSpPr>
          <p:cNvPr id="3" name="Text 1"/>
          <p:cNvSpPr txBox="1"/>
          <p:nvPr/>
        </p:nvSpPr>
        <p:spPr>
          <a:xfrm>
            <a:off x="731520" y="2194560"/>
            <a:ext cx="7315200" cy="1188720"/>
          </a:xfrm>
          <a:prstGeom prst="rect">
            <a:avLst/>
          </a:prstGeom>
          <a:noFill/>
          <a:ln/>
        </p:spPr>
        <p:txBody>
          <a:bodyPr wrap="square" lIns="0" tIns="0" rIns="0" bIns="0" rtlCol="0" anchor="ctr"/>
          <a:lstStyle/>
          <a:p>
            <a:pPr indent="0" marL="0">
              <a:buNone/>
            </a:pPr>
            <a:r>
              <a:rPr lang="en-US" sz="6400" dirty="0">
                <a:solidFill>
                  <a:srgbClr val="FFFFFF"/>
                </a:solidFill>
                <a:latin typeface="Switzer Medium" pitchFamily="34" charset="0"/>
                <a:ea typeface="Switzer Medium" pitchFamily="34" charset="-122"/>
                <a:cs typeface="Switzer Medium" pitchFamily="34" charset="-120"/>
              </a:rPr>
              <a:t>Lumen Platform</a:t>
            </a:r>
            <a:endParaRPr lang="en-US" sz="6400" dirty="0"/>
          </a:p>
        </p:txBody>
      </p:sp>
      <p:sp>
        <p:nvSpPr>
          <p:cNvPr id="4" name="Text 2"/>
          <p:cNvSpPr txBox="1"/>
          <p:nvPr/>
        </p:nvSpPr>
        <p:spPr>
          <a:xfrm>
            <a:off x="731520" y="3429000"/>
            <a:ext cx="6400800" cy="1005840"/>
          </a:xfrm>
          <a:prstGeom prst="rect">
            <a:avLst/>
          </a:prstGeom>
          <a:noFill/>
          <a:ln/>
        </p:spPr>
        <p:txBody>
          <a:bodyPr wrap="square" lIns="0" tIns="0" rIns="0" bIns="0" rtlCol="0" anchor="t"/>
          <a:lstStyle/>
          <a:p>
            <a:pPr indent="0" marL="0">
              <a:buNone/>
            </a:pPr>
            <a:r>
              <a:rPr lang="en-US" sz="2600" dirty="0">
                <a:solidFill>
                  <a:srgbClr val="9A9DA3"/>
                </a:solidFill>
                <a:latin typeface="Switzer" pitchFamily="34" charset="0"/>
                <a:ea typeface="Switzer" pitchFamily="34" charset="-122"/>
                <a:cs typeface="Switzer" pitchFamily="34" charset="-120"/>
              </a:rPr>
              <a:t>A platform for teams of</a:t>
            </a:r>
            <a:endParaRPr lang="en-US" sz="2600" dirty="0"/>
          </a:p>
          <a:p>
            <a:pPr indent="0" marL="0">
              <a:buNone/>
            </a:pPr>
            <a:r>
              <a:rPr lang="en-US" sz="2600" dirty="0">
                <a:solidFill>
                  <a:srgbClr val="9A9DA3"/>
                </a:solidFill>
                <a:latin typeface="Switzer" pitchFamily="34" charset="0"/>
                <a:ea typeface="Switzer" pitchFamily="34" charset="-122"/>
                <a:cs typeface="Switzer" pitchFamily="34" charset="-120"/>
              </a:rPr>
              <a:t>AI research agents</a:t>
            </a:r>
            <a:endParaRPr lang="en-US" sz="2600" dirty="0"/>
          </a:p>
        </p:txBody>
      </p:sp>
      <p:sp>
        <p:nvSpPr>
          <p:cNvPr id="5" name="Text 3"/>
          <p:cNvSpPr txBox="1"/>
          <p:nvPr/>
        </p:nvSpPr>
        <p:spPr>
          <a:xfrm>
            <a:off x="731520" y="5212080"/>
            <a:ext cx="7315200" cy="365760"/>
          </a:xfrm>
          <a:prstGeom prst="rect">
            <a:avLst/>
          </a:prstGeom>
          <a:noFill/>
          <a:ln/>
        </p:spPr>
        <p:txBody>
          <a:bodyPr wrap="square" lIns="0" tIns="0" rIns="0" bIns="0" rtlCol="0" anchor="t"/>
          <a:lstStyle/>
          <a:p>
            <a:pPr indent="0" marL="0">
              <a:buNone/>
            </a:pPr>
            <a:r>
              <a:rPr lang="en-US" sz="1600" dirty="0">
                <a:solidFill>
                  <a:srgbClr val="FFFFFF"/>
                </a:solidFill>
                <a:latin typeface="Switzer" pitchFamily="34" charset="0"/>
                <a:ea typeface="Switzer" pitchFamily="34" charset="-122"/>
                <a:cs typeface="Switzer" pitchFamily="34" charset="-120"/>
              </a:rPr>
              <a:t>He Rong  ·  Li Zhuoyang  ·  Liu Ziyang  ·  Lu Yi  ·  Peng Xujian</a:t>
            </a:r>
            <a:endParaRPr lang="en-US" sz="1600" dirty="0"/>
          </a:p>
        </p:txBody>
      </p:sp>
      <p:sp>
        <p:nvSpPr>
          <p:cNvPr id="6" name="Text 4"/>
          <p:cNvSpPr txBox="1"/>
          <p:nvPr/>
        </p:nvSpPr>
        <p:spPr>
          <a:xfrm>
            <a:off x="731520" y="5623560"/>
            <a:ext cx="7315200" cy="365760"/>
          </a:xfrm>
          <a:prstGeom prst="rect">
            <a:avLst/>
          </a:prstGeom>
          <a:noFill/>
          <a:ln/>
        </p:spPr>
        <p:txBody>
          <a:bodyPr wrap="square" lIns="0" tIns="0" rIns="0" bIns="0" rtlCol="0" anchor="t"/>
          <a:lstStyle/>
          <a:p>
            <a:pPr indent="0" marL="0">
              <a:buNone/>
            </a:pPr>
            <a:r>
              <a:rPr lang="en-US" sz="1500" dirty="0">
                <a:solidFill>
                  <a:srgbClr val="9A9DA3"/>
                </a:solidFill>
                <a:latin typeface="JetBrains Mono" pitchFamily="34" charset="0"/>
                <a:ea typeface="JetBrains Mono" pitchFamily="34" charset="-122"/>
                <a:cs typeface="JetBrains Mono" pitchFamily="34" charset="-120"/>
              </a:rPr>
              <a:t>lumen.54-179-112-87.sslip.io</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Overview  ·  The problem</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One chat window is not enough</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problem.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Overview  ·  What Lumen does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 team of agents for each question</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tre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Overview  ·  Platform thinking</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One engine; producers and consumers plug in</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sp>
        <p:nvSpPr>
          <p:cNvPr id="10" name="Text 8"/>
          <p:cNvSpPr txBox="1"/>
          <p:nvPr/>
        </p:nvSpPr>
        <p:spPr>
          <a:xfrm>
            <a:off x="548640" y="1783080"/>
            <a:ext cx="1828800"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role</a:t>
            </a:r>
            <a:endParaRPr lang="en-US" sz="1400" dirty="0"/>
          </a:p>
        </p:txBody>
      </p:sp>
      <p:sp>
        <p:nvSpPr>
          <p:cNvPr id="11" name="Text 9"/>
          <p:cNvSpPr txBox="1"/>
          <p:nvPr/>
        </p:nvSpPr>
        <p:spPr>
          <a:xfrm>
            <a:off x="2560320" y="1783080"/>
            <a:ext cx="2926080"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who</a:t>
            </a:r>
            <a:endParaRPr lang="en-US" sz="1400" dirty="0"/>
          </a:p>
        </p:txBody>
      </p:sp>
      <p:sp>
        <p:nvSpPr>
          <p:cNvPr id="12" name="Text 10"/>
          <p:cNvSpPr txBox="1"/>
          <p:nvPr/>
        </p:nvSpPr>
        <p:spPr>
          <a:xfrm>
            <a:off x="5669280" y="1783080"/>
            <a:ext cx="5788152"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what they do</a:t>
            </a:r>
            <a:endParaRPr lang="en-US" sz="1400" dirty="0"/>
          </a:p>
        </p:txBody>
      </p:sp>
      <p:sp>
        <p:nvSpPr>
          <p:cNvPr id="13" name="Shape 11"/>
          <p:cNvSpPr/>
          <p:nvPr/>
        </p:nvSpPr>
        <p:spPr>
          <a:xfrm>
            <a:off x="548640" y="2167128"/>
            <a:ext cx="11091672" cy="9144"/>
          </a:xfrm>
          <a:prstGeom prst="rect">
            <a:avLst/>
          </a:prstGeom>
          <a:solidFill>
            <a:srgbClr val="45484C"/>
          </a:solidFill>
          <a:ln/>
        </p:spPr>
      </p:sp>
      <p:sp>
        <p:nvSpPr>
          <p:cNvPr id="14" name="Text 12"/>
          <p:cNvSpPr txBox="1"/>
          <p:nvPr/>
        </p:nvSpPr>
        <p:spPr>
          <a:xfrm>
            <a:off x="548640" y="2221992"/>
            <a:ext cx="1828800" cy="822960"/>
          </a:xfrm>
          <a:prstGeom prst="rect">
            <a:avLst/>
          </a:prstGeom>
          <a:noFill/>
          <a:ln/>
        </p:spPr>
        <p:txBody>
          <a:bodyPr wrap="square" lIns="0" tIns="0" rIns="0" bIns="0" rtlCol="0" anchor="ctr"/>
          <a:lstStyle/>
          <a:p>
            <a:pPr indent="0" marL="0">
              <a:buNone/>
            </a:pPr>
            <a:r>
              <a:rPr lang="en-US" sz="2000" dirty="0">
                <a:solidFill>
                  <a:srgbClr val="FFFFFF"/>
                </a:solidFill>
                <a:latin typeface="Switzer Semibold" pitchFamily="34" charset="0"/>
                <a:ea typeface="Switzer Semibold" pitchFamily="34" charset="-122"/>
                <a:cs typeface="Switzer Semibold" pitchFamily="34" charset="-120"/>
              </a:rPr>
              <a:t>Seed</a:t>
            </a:r>
            <a:endParaRPr lang="en-US" sz="2000" dirty="0"/>
          </a:p>
        </p:txBody>
      </p:sp>
      <p:sp>
        <p:nvSpPr>
          <p:cNvPr id="15" name="Text 13"/>
          <p:cNvSpPr txBox="1"/>
          <p:nvPr/>
        </p:nvSpPr>
        <p:spPr>
          <a:xfrm>
            <a:off x="2560320" y="2221992"/>
            <a:ext cx="2926080" cy="822960"/>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the run engine</a:t>
            </a:r>
            <a:endParaRPr lang="en-US" sz="1800" dirty="0"/>
          </a:p>
        </p:txBody>
      </p:sp>
      <p:sp>
        <p:nvSpPr>
          <p:cNvPr id="16" name="Text 14"/>
          <p:cNvSpPr txBox="1"/>
          <p:nvPr/>
        </p:nvSpPr>
        <p:spPr>
          <a:xfrm>
            <a:off x="5669280" y="2221992"/>
            <a:ext cx="5788152" cy="82296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runs a question as a tree of recorded, costed steps under a cap</a:t>
            </a:r>
            <a:endParaRPr lang="en-US" sz="1800" dirty="0"/>
          </a:p>
        </p:txBody>
      </p:sp>
      <p:sp>
        <p:nvSpPr>
          <p:cNvPr id="17" name="Shape 15"/>
          <p:cNvSpPr/>
          <p:nvPr/>
        </p:nvSpPr>
        <p:spPr>
          <a:xfrm>
            <a:off x="548640" y="3081528"/>
            <a:ext cx="11091672" cy="9144"/>
          </a:xfrm>
          <a:prstGeom prst="rect">
            <a:avLst/>
          </a:prstGeom>
          <a:solidFill>
            <a:srgbClr val="45484C"/>
          </a:solidFill>
          <a:ln/>
        </p:spPr>
      </p:sp>
      <p:sp>
        <p:nvSpPr>
          <p:cNvPr id="18" name="Text 16"/>
          <p:cNvSpPr txBox="1"/>
          <p:nvPr/>
        </p:nvSpPr>
        <p:spPr>
          <a:xfrm>
            <a:off x="548640" y="3136392"/>
            <a:ext cx="1828800" cy="822960"/>
          </a:xfrm>
          <a:prstGeom prst="rect">
            <a:avLst/>
          </a:prstGeom>
          <a:noFill/>
          <a:ln/>
        </p:spPr>
        <p:txBody>
          <a:bodyPr wrap="square" lIns="0" tIns="0" rIns="0" bIns="0" rtlCol="0" anchor="ctr"/>
          <a:lstStyle/>
          <a:p>
            <a:pPr indent="0" marL="0">
              <a:buNone/>
            </a:pPr>
            <a:r>
              <a:rPr lang="en-US" sz="2000" dirty="0">
                <a:solidFill>
                  <a:srgbClr val="FFFFFF"/>
                </a:solidFill>
                <a:latin typeface="Switzer Semibold" pitchFamily="34" charset="0"/>
                <a:ea typeface="Switzer Semibold" pitchFamily="34" charset="-122"/>
                <a:cs typeface="Switzer Semibold" pitchFamily="34" charset="-120"/>
              </a:rPr>
              <a:t>Producer</a:t>
            </a:r>
            <a:endParaRPr lang="en-US" sz="2000" dirty="0"/>
          </a:p>
        </p:txBody>
      </p:sp>
      <p:sp>
        <p:nvSpPr>
          <p:cNvPr id="19" name="Text 17"/>
          <p:cNvSpPr txBox="1"/>
          <p:nvPr/>
        </p:nvSpPr>
        <p:spPr>
          <a:xfrm>
            <a:off x="2560320" y="3136392"/>
            <a:ext cx="2926080" cy="822960"/>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an agent author</a:t>
            </a:r>
            <a:endParaRPr lang="en-US" sz="1800" dirty="0"/>
          </a:p>
        </p:txBody>
      </p:sp>
      <p:sp>
        <p:nvSpPr>
          <p:cNvPr id="20" name="Text 18"/>
          <p:cNvSpPr txBox="1"/>
          <p:nvPr/>
        </p:nvSpPr>
        <p:spPr>
          <a:xfrm>
            <a:off x="5669280" y="3136392"/>
            <a:ext cx="5788152" cy="82296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publishes an agent, and reads how much it is used</a:t>
            </a:r>
            <a:endParaRPr lang="en-US" sz="1800" dirty="0"/>
          </a:p>
        </p:txBody>
      </p:sp>
      <p:sp>
        <p:nvSpPr>
          <p:cNvPr id="21" name="Shape 19"/>
          <p:cNvSpPr/>
          <p:nvPr/>
        </p:nvSpPr>
        <p:spPr>
          <a:xfrm>
            <a:off x="548640" y="3995928"/>
            <a:ext cx="11091672" cy="9144"/>
          </a:xfrm>
          <a:prstGeom prst="rect">
            <a:avLst/>
          </a:prstGeom>
          <a:solidFill>
            <a:srgbClr val="45484C"/>
          </a:solidFill>
          <a:ln/>
        </p:spPr>
      </p:sp>
      <p:sp>
        <p:nvSpPr>
          <p:cNvPr id="22" name="Text 20"/>
          <p:cNvSpPr txBox="1"/>
          <p:nvPr/>
        </p:nvSpPr>
        <p:spPr>
          <a:xfrm>
            <a:off x="548640" y="4050792"/>
            <a:ext cx="1828800" cy="822960"/>
          </a:xfrm>
          <a:prstGeom prst="rect">
            <a:avLst/>
          </a:prstGeom>
          <a:noFill/>
          <a:ln/>
        </p:spPr>
        <p:txBody>
          <a:bodyPr wrap="square" lIns="0" tIns="0" rIns="0" bIns="0" rtlCol="0" anchor="ctr"/>
          <a:lstStyle/>
          <a:p>
            <a:pPr indent="0" marL="0">
              <a:buNone/>
            </a:pPr>
            <a:r>
              <a:rPr lang="en-US" sz="2000" dirty="0">
                <a:solidFill>
                  <a:srgbClr val="FFFFFF"/>
                </a:solidFill>
                <a:latin typeface="Switzer Semibold" pitchFamily="34" charset="0"/>
                <a:ea typeface="Switzer Semibold" pitchFamily="34" charset="-122"/>
                <a:cs typeface="Switzer Semibold" pitchFamily="34" charset="-120"/>
              </a:rPr>
              <a:t>Consumer</a:t>
            </a:r>
            <a:endParaRPr lang="en-US" sz="2000" dirty="0"/>
          </a:p>
        </p:txBody>
      </p:sp>
      <p:sp>
        <p:nvSpPr>
          <p:cNvPr id="23" name="Text 21"/>
          <p:cNvSpPr txBox="1"/>
          <p:nvPr/>
        </p:nvSpPr>
        <p:spPr>
          <a:xfrm>
            <a:off x="2560320" y="4050792"/>
            <a:ext cx="2926080" cy="822960"/>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a research team, or an app</a:t>
            </a:r>
            <a:endParaRPr lang="en-US" sz="1800" dirty="0"/>
          </a:p>
        </p:txBody>
      </p:sp>
      <p:sp>
        <p:nvSpPr>
          <p:cNvPr id="24" name="Text 22"/>
          <p:cNvSpPr txBox="1"/>
          <p:nvPr/>
        </p:nvSpPr>
        <p:spPr>
          <a:xfrm>
            <a:off x="5669280" y="4050792"/>
            <a:ext cx="5788152" cy="82296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asks with a chosen agent; reads the answer and the cost</a:t>
            </a:r>
            <a:endParaRPr lang="en-US" sz="1800" dirty="0"/>
          </a:p>
        </p:txBody>
      </p:sp>
      <p:sp>
        <p:nvSpPr>
          <p:cNvPr id="25" name="Shape 23"/>
          <p:cNvSpPr/>
          <p:nvPr/>
        </p:nvSpPr>
        <p:spPr>
          <a:xfrm>
            <a:off x="548640" y="4910328"/>
            <a:ext cx="11091672" cy="9144"/>
          </a:xfrm>
          <a:prstGeom prst="rect">
            <a:avLst/>
          </a:prstGeom>
          <a:solidFill>
            <a:srgbClr val="45484C"/>
          </a:solidFill>
          <a:ln/>
        </p:spPr>
      </p:sp>
      <p:sp>
        <p:nvSpPr>
          <p:cNvPr id="26" name="Text 24"/>
          <p:cNvSpPr txBox="1"/>
          <p:nvPr/>
        </p:nvSpPr>
        <p:spPr>
          <a:xfrm>
            <a:off x="548640" y="4965192"/>
            <a:ext cx="1828800" cy="822960"/>
          </a:xfrm>
          <a:prstGeom prst="rect">
            <a:avLst/>
          </a:prstGeom>
          <a:noFill/>
          <a:ln/>
        </p:spPr>
        <p:txBody>
          <a:bodyPr wrap="square" lIns="0" tIns="0" rIns="0" bIns="0" rtlCol="0" anchor="ctr"/>
          <a:lstStyle/>
          <a:p>
            <a:pPr indent="0" marL="0">
              <a:buNone/>
            </a:pPr>
            <a:r>
              <a:rPr lang="en-US" sz="2000" dirty="0">
                <a:solidFill>
                  <a:srgbClr val="FFFFFF"/>
                </a:solidFill>
                <a:latin typeface="Switzer Semibold" pitchFamily="34" charset="0"/>
                <a:ea typeface="Switzer Semibold" pitchFamily="34" charset="-122"/>
                <a:cs typeface="Switzer Semibold" pitchFamily="34" charset="-120"/>
              </a:rPr>
              <a:t>Operator</a:t>
            </a:r>
            <a:endParaRPr lang="en-US" sz="2000" dirty="0"/>
          </a:p>
        </p:txBody>
      </p:sp>
      <p:sp>
        <p:nvSpPr>
          <p:cNvPr id="27" name="Text 25"/>
          <p:cNvSpPr txBox="1"/>
          <p:nvPr/>
        </p:nvSpPr>
        <p:spPr>
          <a:xfrm>
            <a:off x="2560320" y="4965192"/>
            <a:ext cx="2926080" cy="822960"/>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our team</a:t>
            </a:r>
            <a:endParaRPr lang="en-US" sz="1800" dirty="0"/>
          </a:p>
        </p:txBody>
      </p:sp>
      <p:sp>
        <p:nvSpPr>
          <p:cNvPr id="28" name="Text 26"/>
          <p:cNvSpPr txBox="1"/>
          <p:nvPr/>
        </p:nvSpPr>
        <p:spPr>
          <a:xfrm>
            <a:off x="5669280" y="4965192"/>
            <a:ext cx="5788152" cy="82296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reads the usage of every account and agent</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Overview  ·  Scope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Six use cases, on a public platform</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sp>
        <p:nvSpPr>
          <p:cNvPr id="10" name="Text 8"/>
          <p:cNvSpPr txBox="1"/>
          <p:nvPr/>
        </p:nvSpPr>
        <p:spPr>
          <a:xfrm>
            <a:off x="548640" y="1691640"/>
            <a:ext cx="5486400"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use cases</a:t>
            </a:r>
            <a:endParaRPr lang="en-US" sz="1400" dirty="0"/>
          </a:p>
        </p:txBody>
      </p:sp>
      <p:sp>
        <p:nvSpPr>
          <p:cNvPr id="11" name="Shape 9"/>
          <p:cNvSpPr/>
          <p:nvPr/>
        </p:nvSpPr>
        <p:spPr>
          <a:xfrm>
            <a:off x="548640" y="2057400"/>
            <a:ext cx="5577840" cy="9144"/>
          </a:xfrm>
          <a:prstGeom prst="rect">
            <a:avLst/>
          </a:prstGeom>
          <a:solidFill>
            <a:srgbClr val="45484C"/>
          </a:solidFill>
          <a:ln/>
        </p:spPr>
      </p:sp>
      <p:sp>
        <p:nvSpPr>
          <p:cNvPr id="12" name="Text 10"/>
          <p:cNvSpPr txBox="1"/>
          <p:nvPr/>
        </p:nvSpPr>
        <p:spPr>
          <a:xfrm>
            <a:off x="548640" y="2130552"/>
            <a:ext cx="822960" cy="457200"/>
          </a:xfrm>
          <a:prstGeom prst="rect">
            <a:avLst/>
          </a:prstGeom>
          <a:noFill/>
          <a:ln/>
        </p:spPr>
        <p:txBody>
          <a:bodyPr wrap="square" lIns="0" tIns="0" rIns="0" bIns="0" rtlCol="0" anchor="ctr"/>
          <a:lstStyle/>
          <a:p>
            <a:pPr indent="0" marL="0">
              <a:buNone/>
            </a:pPr>
            <a:r>
              <a:rPr lang="en-US" sz="1600" dirty="0">
                <a:solidFill>
                  <a:srgbClr val="9A9DA3"/>
                </a:solidFill>
                <a:latin typeface="JetBrains Mono" pitchFamily="34" charset="0"/>
                <a:ea typeface="JetBrains Mono" pitchFamily="34" charset="-122"/>
                <a:cs typeface="JetBrains Mono" pitchFamily="34" charset="-120"/>
              </a:rPr>
              <a:t>UC1</a:t>
            </a:r>
            <a:endParaRPr lang="en-US" sz="1600" dirty="0"/>
          </a:p>
        </p:txBody>
      </p:sp>
      <p:sp>
        <p:nvSpPr>
          <p:cNvPr id="13" name="Text 11"/>
          <p:cNvSpPr txBox="1"/>
          <p:nvPr/>
        </p:nvSpPr>
        <p:spPr>
          <a:xfrm>
            <a:off x="1371600" y="2130552"/>
            <a:ext cx="4754880" cy="45720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Publish an agent</a:t>
            </a:r>
            <a:endParaRPr lang="en-US" sz="1800" dirty="0"/>
          </a:p>
        </p:txBody>
      </p:sp>
      <p:sp>
        <p:nvSpPr>
          <p:cNvPr id="14" name="Shape 12"/>
          <p:cNvSpPr/>
          <p:nvPr/>
        </p:nvSpPr>
        <p:spPr>
          <a:xfrm>
            <a:off x="548640" y="2660904"/>
            <a:ext cx="5577840" cy="9144"/>
          </a:xfrm>
          <a:prstGeom prst="rect">
            <a:avLst/>
          </a:prstGeom>
          <a:solidFill>
            <a:srgbClr val="45484C"/>
          </a:solidFill>
          <a:ln/>
        </p:spPr>
      </p:sp>
      <p:sp>
        <p:nvSpPr>
          <p:cNvPr id="15" name="Text 13"/>
          <p:cNvSpPr txBox="1"/>
          <p:nvPr/>
        </p:nvSpPr>
        <p:spPr>
          <a:xfrm>
            <a:off x="548640" y="2734056"/>
            <a:ext cx="822960" cy="457200"/>
          </a:xfrm>
          <a:prstGeom prst="rect">
            <a:avLst/>
          </a:prstGeom>
          <a:noFill/>
          <a:ln/>
        </p:spPr>
        <p:txBody>
          <a:bodyPr wrap="square" lIns="0" tIns="0" rIns="0" bIns="0" rtlCol="0" anchor="ctr"/>
          <a:lstStyle/>
          <a:p>
            <a:pPr indent="0" marL="0">
              <a:buNone/>
            </a:pPr>
            <a:r>
              <a:rPr lang="en-US" sz="1600" dirty="0">
                <a:solidFill>
                  <a:srgbClr val="9A9DA3"/>
                </a:solidFill>
                <a:latin typeface="JetBrains Mono" pitchFamily="34" charset="0"/>
                <a:ea typeface="JetBrains Mono" pitchFamily="34" charset="-122"/>
                <a:cs typeface="JetBrains Mono" pitchFamily="34" charset="-120"/>
              </a:rPr>
              <a:t>UC2</a:t>
            </a:r>
            <a:endParaRPr lang="en-US" sz="1600" dirty="0"/>
          </a:p>
        </p:txBody>
      </p:sp>
      <p:sp>
        <p:nvSpPr>
          <p:cNvPr id="16" name="Text 14"/>
          <p:cNvSpPr txBox="1"/>
          <p:nvPr/>
        </p:nvSpPr>
        <p:spPr>
          <a:xfrm>
            <a:off x="1371600" y="2734056"/>
            <a:ext cx="4754880" cy="45720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Ask with a chosen agent; read the answer</a:t>
            </a:r>
            <a:endParaRPr lang="en-US" sz="1800" dirty="0"/>
          </a:p>
        </p:txBody>
      </p:sp>
      <p:sp>
        <p:nvSpPr>
          <p:cNvPr id="17" name="Shape 15"/>
          <p:cNvSpPr/>
          <p:nvPr/>
        </p:nvSpPr>
        <p:spPr>
          <a:xfrm>
            <a:off x="548640" y="3264408"/>
            <a:ext cx="5577840" cy="9144"/>
          </a:xfrm>
          <a:prstGeom prst="rect">
            <a:avLst/>
          </a:prstGeom>
          <a:solidFill>
            <a:srgbClr val="45484C"/>
          </a:solidFill>
          <a:ln/>
        </p:spPr>
      </p:sp>
      <p:sp>
        <p:nvSpPr>
          <p:cNvPr id="18" name="Text 16"/>
          <p:cNvSpPr txBox="1"/>
          <p:nvPr/>
        </p:nvSpPr>
        <p:spPr>
          <a:xfrm>
            <a:off x="548640" y="3337560"/>
            <a:ext cx="822960" cy="457200"/>
          </a:xfrm>
          <a:prstGeom prst="rect">
            <a:avLst/>
          </a:prstGeom>
          <a:noFill/>
          <a:ln/>
        </p:spPr>
        <p:txBody>
          <a:bodyPr wrap="square" lIns="0" tIns="0" rIns="0" bIns="0" rtlCol="0" anchor="ctr"/>
          <a:lstStyle/>
          <a:p>
            <a:pPr indent="0" marL="0">
              <a:buNone/>
            </a:pPr>
            <a:r>
              <a:rPr lang="en-US" sz="1600" dirty="0">
                <a:solidFill>
                  <a:srgbClr val="9A9DA3"/>
                </a:solidFill>
                <a:latin typeface="JetBrains Mono" pitchFamily="34" charset="0"/>
                <a:ea typeface="JetBrains Mono" pitchFamily="34" charset="-122"/>
                <a:cs typeface="JetBrains Mono" pitchFamily="34" charset="-120"/>
              </a:rPr>
              <a:t>UC3</a:t>
            </a:r>
            <a:endParaRPr lang="en-US" sz="1600" dirty="0"/>
          </a:p>
        </p:txBody>
      </p:sp>
      <p:sp>
        <p:nvSpPr>
          <p:cNvPr id="19" name="Text 17"/>
          <p:cNvSpPr txBox="1"/>
          <p:nvPr/>
        </p:nvSpPr>
        <p:spPr>
          <a:xfrm>
            <a:off x="1371600" y="3337560"/>
            <a:ext cx="4754880" cy="45720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API keys, scopes, a rate limit</a:t>
            </a:r>
            <a:endParaRPr lang="en-US" sz="1800" dirty="0"/>
          </a:p>
        </p:txBody>
      </p:sp>
      <p:sp>
        <p:nvSpPr>
          <p:cNvPr id="20" name="Shape 18"/>
          <p:cNvSpPr/>
          <p:nvPr/>
        </p:nvSpPr>
        <p:spPr>
          <a:xfrm>
            <a:off x="548640" y="3867912"/>
            <a:ext cx="5577840" cy="9144"/>
          </a:xfrm>
          <a:prstGeom prst="rect">
            <a:avLst/>
          </a:prstGeom>
          <a:solidFill>
            <a:srgbClr val="45484C"/>
          </a:solidFill>
          <a:ln/>
        </p:spPr>
      </p:sp>
      <p:sp>
        <p:nvSpPr>
          <p:cNvPr id="21" name="Text 19"/>
          <p:cNvSpPr txBox="1"/>
          <p:nvPr/>
        </p:nvSpPr>
        <p:spPr>
          <a:xfrm>
            <a:off x="548640" y="3941064"/>
            <a:ext cx="822960" cy="457200"/>
          </a:xfrm>
          <a:prstGeom prst="rect">
            <a:avLst/>
          </a:prstGeom>
          <a:noFill/>
          <a:ln/>
        </p:spPr>
        <p:txBody>
          <a:bodyPr wrap="square" lIns="0" tIns="0" rIns="0" bIns="0" rtlCol="0" anchor="ctr"/>
          <a:lstStyle/>
          <a:p>
            <a:pPr indent="0" marL="0">
              <a:buNone/>
            </a:pPr>
            <a:r>
              <a:rPr lang="en-US" sz="1600" dirty="0">
                <a:solidFill>
                  <a:srgbClr val="9A9DA3"/>
                </a:solidFill>
                <a:latin typeface="JetBrains Mono" pitchFamily="34" charset="0"/>
                <a:ea typeface="JetBrains Mono" pitchFamily="34" charset="-122"/>
                <a:cs typeface="JetBrains Mono" pitchFamily="34" charset="-120"/>
              </a:rPr>
              <a:t>UC4</a:t>
            </a:r>
            <a:endParaRPr lang="en-US" sz="1600" dirty="0"/>
          </a:p>
        </p:txBody>
      </p:sp>
      <p:sp>
        <p:nvSpPr>
          <p:cNvPr id="22" name="Text 20"/>
          <p:cNvSpPr txBox="1"/>
          <p:nvPr/>
        </p:nvSpPr>
        <p:spPr>
          <a:xfrm>
            <a:off x="1371600" y="3941064"/>
            <a:ext cx="4754880" cy="45720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Approve a step that passes the cap</a:t>
            </a:r>
            <a:endParaRPr lang="en-US" sz="1800" dirty="0"/>
          </a:p>
        </p:txBody>
      </p:sp>
      <p:sp>
        <p:nvSpPr>
          <p:cNvPr id="23" name="Shape 21"/>
          <p:cNvSpPr/>
          <p:nvPr/>
        </p:nvSpPr>
        <p:spPr>
          <a:xfrm>
            <a:off x="548640" y="4471416"/>
            <a:ext cx="5577840" cy="9144"/>
          </a:xfrm>
          <a:prstGeom prst="rect">
            <a:avLst/>
          </a:prstGeom>
          <a:solidFill>
            <a:srgbClr val="45484C"/>
          </a:solidFill>
          <a:ln/>
        </p:spPr>
      </p:sp>
      <p:sp>
        <p:nvSpPr>
          <p:cNvPr id="24" name="Text 22"/>
          <p:cNvSpPr txBox="1"/>
          <p:nvPr/>
        </p:nvSpPr>
        <p:spPr>
          <a:xfrm>
            <a:off x="548640" y="4544568"/>
            <a:ext cx="822960" cy="457200"/>
          </a:xfrm>
          <a:prstGeom prst="rect">
            <a:avLst/>
          </a:prstGeom>
          <a:noFill/>
          <a:ln/>
        </p:spPr>
        <p:txBody>
          <a:bodyPr wrap="square" lIns="0" tIns="0" rIns="0" bIns="0" rtlCol="0" anchor="ctr"/>
          <a:lstStyle/>
          <a:p>
            <a:pPr indent="0" marL="0">
              <a:buNone/>
            </a:pPr>
            <a:r>
              <a:rPr lang="en-US" sz="1600" dirty="0">
                <a:solidFill>
                  <a:srgbClr val="9A9DA3"/>
                </a:solidFill>
                <a:latin typeface="JetBrains Mono" pitchFamily="34" charset="0"/>
                <a:ea typeface="JetBrains Mono" pitchFamily="34" charset="-122"/>
                <a:cs typeface="JetBrains Mono" pitchFamily="34" charset="-120"/>
              </a:rPr>
              <a:t>UC5</a:t>
            </a:r>
            <a:endParaRPr lang="en-US" sz="1600" dirty="0"/>
          </a:p>
        </p:txBody>
      </p:sp>
      <p:sp>
        <p:nvSpPr>
          <p:cNvPr id="25" name="Text 23"/>
          <p:cNvSpPr txBox="1"/>
          <p:nvPr/>
        </p:nvSpPr>
        <p:spPr>
          <a:xfrm>
            <a:off x="1371600" y="4544568"/>
            <a:ext cx="4754880" cy="45720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Usage per account and per agent</a:t>
            </a:r>
            <a:endParaRPr lang="en-US" sz="1800" dirty="0"/>
          </a:p>
        </p:txBody>
      </p:sp>
      <p:sp>
        <p:nvSpPr>
          <p:cNvPr id="26" name="Shape 24"/>
          <p:cNvSpPr/>
          <p:nvPr/>
        </p:nvSpPr>
        <p:spPr>
          <a:xfrm>
            <a:off x="548640" y="5074920"/>
            <a:ext cx="5577840" cy="9144"/>
          </a:xfrm>
          <a:prstGeom prst="rect">
            <a:avLst/>
          </a:prstGeom>
          <a:solidFill>
            <a:srgbClr val="45484C"/>
          </a:solidFill>
          <a:ln/>
        </p:spPr>
      </p:sp>
      <p:sp>
        <p:nvSpPr>
          <p:cNvPr id="27" name="Text 25"/>
          <p:cNvSpPr txBox="1"/>
          <p:nvPr/>
        </p:nvSpPr>
        <p:spPr>
          <a:xfrm>
            <a:off x="548640" y="5148072"/>
            <a:ext cx="822960" cy="457200"/>
          </a:xfrm>
          <a:prstGeom prst="rect">
            <a:avLst/>
          </a:prstGeom>
          <a:noFill/>
          <a:ln/>
        </p:spPr>
        <p:txBody>
          <a:bodyPr wrap="square" lIns="0" tIns="0" rIns="0" bIns="0" rtlCol="0" anchor="ctr"/>
          <a:lstStyle/>
          <a:p>
            <a:pPr indent="0" marL="0">
              <a:buNone/>
            </a:pPr>
            <a:r>
              <a:rPr lang="en-US" sz="1600" dirty="0">
                <a:solidFill>
                  <a:srgbClr val="9A9DA3"/>
                </a:solidFill>
                <a:latin typeface="JetBrains Mono" pitchFamily="34" charset="0"/>
                <a:ea typeface="JetBrains Mono" pitchFamily="34" charset="-122"/>
                <a:cs typeface="JetBrains Mono" pitchFamily="34" charset="-120"/>
              </a:rPr>
              <a:t>UC6</a:t>
            </a:r>
            <a:endParaRPr lang="en-US" sz="1600" dirty="0"/>
          </a:p>
        </p:txBody>
      </p:sp>
      <p:sp>
        <p:nvSpPr>
          <p:cNvPr id="28" name="Text 26"/>
          <p:cNvSpPr txBox="1"/>
          <p:nvPr/>
        </p:nvSpPr>
        <p:spPr>
          <a:xfrm>
            <a:off x="1371600" y="5148072"/>
            <a:ext cx="4754880" cy="45720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Literature watch: a second app</a:t>
            </a:r>
            <a:endParaRPr lang="en-US" sz="1800" dirty="0"/>
          </a:p>
        </p:txBody>
      </p:sp>
      <p:sp>
        <p:nvSpPr>
          <p:cNvPr id="29" name="Text 27"/>
          <p:cNvSpPr txBox="1"/>
          <p:nvPr/>
        </p:nvSpPr>
        <p:spPr>
          <a:xfrm>
            <a:off x="6675120" y="1691640"/>
            <a:ext cx="4572000"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the platform around them</a:t>
            </a:r>
            <a:endParaRPr lang="en-US" sz="1400" dirty="0"/>
          </a:p>
        </p:txBody>
      </p:sp>
      <p:sp>
        <p:nvSpPr>
          <p:cNvPr id="30" name="Shape 28"/>
          <p:cNvSpPr/>
          <p:nvPr/>
        </p:nvSpPr>
        <p:spPr>
          <a:xfrm>
            <a:off x="6675120" y="2057400"/>
            <a:ext cx="4965192" cy="9144"/>
          </a:xfrm>
          <a:prstGeom prst="rect">
            <a:avLst/>
          </a:prstGeom>
          <a:solidFill>
            <a:srgbClr val="45484C"/>
          </a:solidFill>
          <a:ln/>
        </p:spPr>
      </p:sp>
      <p:sp>
        <p:nvSpPr>
          <p:cNvPr id="31" name="Text 29"/>
          <p:cNvSpPr txBox="1"/>
          <p:nvPr/>
        </p:nvSpPr>
        <p:spPr>
          <a:xfrm>
            <a:off x="6675120" y="2130552"/>
            <a:ext cx="4937760" cy="45720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Five services on k3s, on AWS</a:t>
            </a:r>
            <a:endParaRPr lang="en-US" sz="1800" dirty="0"/>
          </a:p>
        </p:txBody>
      </p:sp>
      <p:sp>
        <p:nvSpPr>
          <p:cNvPr id="32" name="Shape 30"/>
          <p:cNvSpPr/>
          <p:nvPr/>
        </p:nvSpPr>
        <p:spPr>
          <a:xfrm>
            <a:off x="6675120" y="2660904"/>
            <a:ext cx="4965192" cy="9144"/>
          </a:xfrm>
          <a:prstGeom prst="rect">
            <a:avLst/>
          </a:prstGeom>
          <a:solidFill>
            <a:srgbClr val="45484C"/>
          </a:solidFill>
          <a:ln/>
        </p:spPr>
      </p:sp>
      <p:sp>
        <p:nvSpPr>
          <p:cNvPr id="33" name="Text 31"/>
          <p:cNvSpPr txBox="1"/>
          <p:nvPr/>
        </p:nvSpPr>
        <p:spPr>
          <a:xfrm>
            <a:off x="6675120" y="2734056"/>
            <a:ext cx="4937760" cy="45720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Public HTTPS with Let's Encrypt</a:t>
            </a:r>
            <a:endParaRPr lang="en-US" sz="1800" dirty="0"/>
          </a:p>
        </p:txBody>
      </p:sp>
      <p:sp>
        <p:nvSpPr>
          <p:cNvPr id="34" name="Shape 32"/>
          <p:cNvSpPr/>
          <p:nvPr/>
        </p:nvSpPr>
        <p:spPr>
          <a:xfrm>
            <a:off x="6675120" y="3264408"/>
            <a:ext cx="4965192" cy="9144"/>
          </a:xfrm>
          <a:prstGeom prst="rect">
            <a:avLst/>
          </a:prstGeom>
          <a:solidFill>
            <a:srgbClr val="45484C"/>
          </a:solidFill>
          <a:ln/>
        </p:spPr>
      </p:sp>
      <p:sp>
        <p:nvSpPr>
          <p:cNvPr id="35" name="Text 33"/>
          <p:cNvSpPr txBox="1"/>
          <p:nvPr/>
        </p:nvSpPr>
        <p:spPr>
          <a:xfrm>
            <a:off x="6675120" y="3337560"/>
            <a:ext cx="4937760" cy="45720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Autoscaling: HPA and KEDA</a:t>
            </a:r>
            <a:endParaRPr lang="en-US" sz="1800" dirty="0"/>
          </a:p>
        </p:txBody>
      </p:sp>
      <p:sp>
        <p:nvSpPr>
          <p:cNvPr id="36" name="Shape 34"/>
          <p:cNvSpPr/>
          <p:nvPr/>
        </p:nvSpPr>
        <p:spPr>
          <a:xfrm>
            <a:off x="6675120" y="3867912"/>
            <a:ext cx="4965192" cy="9144"/>
          </a:xfrm>
          <a:prstGeom prst="rect">
            <a:avLst/>
          </a:prstGeom>
          <a:solidFill>
            <a:srgbClr val="45484C"/>
          </a:solidFill>
          <a:ln/>
        </p:spPr>
      </p:sp>
      <p:sp>
        <p:nvSpPr>
          <p:cNvPr id="37" name="Text 35"/>
          <p:cNvSpPr txBox="1"/>
          <p:nvPr/>
        </p:nvSpPr>
        <p:spPr>
          <a:xfrm>
            <a:off x="6675120" y="3941064"/>
            <a:ext cx="4937760" cy="45720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A versioned API, with OpenAPI</a:t>
            </a:r>
            <a:endParaRPr lang="en-US" sz="1800" dirty="0"/>
          </a:p>
        </p:txBody>
      </p:sp>
      <p:sp>
        <p:nvSpPr>
          <p:cNvPr id="38" name="Shape 36"/>
          <p:cNvSpPr/>
          <p:nvPr/>
        </p:nvSpPr>
        <p:spPr>
          <a:xfrm>
            <a:off x="6675120" y="4471416"/>
            <a:ext cx="4965192" cy="9144"/>
          </a:xfrm>
          <a:prstGeom prst="rect">
            <a:avLst/>
          </a:prstGeom>
          <a:solidFill>
            <a:srgbClr val="45484C"/>
          </a:solidFill>
          <a:ln/>
        </p:spPr>
      </p:sp>
      <p:sp>
        <p:nvSpPr>
          <p:cNvPr id="39" name="Text 37"/>
          <p:cNvSpPr txBox="1"/>
          <p:nvPr/>
        </p:nvSpPr>
        <p:spPr>
          <a:xfrm>
            <a:off x="6675120" y="4544568"/>
            <a:ext cx="4937760" cy="45720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A CI/CD pipeline with security scans</a:t>
            </a:r>
            <a:endParaRPr lang="en-US" sz="1800" dirty="0"/>
          </a:p>
        </p:txBody>
      </p:sp>
      <p:sp>
        <p:nvSpPr>
          <p:cNvPr id="40" name="Shape 38"/>
          <p:cNvSpPr/>
          <p:nvPr/>
        </p:nvSpPr>
        <p:spPr>
          <a:xfrm>
            <a:off x="6675120" y="5074920"/>
            <a:ext cx="4965192" cy="9144"/>
          </a:xfrm>
          <a:prstGeom prst="rect">
            <a:avLst/>
          </a:prstGeom>
          <a:solidFill>
            <a:srgbClr val="45484C"/>
          </a:solidFill>
          <a:ln/>
        </p:spPr>
      </p:sp>
      <p:sp>
        <p:nvSpPr>
          <p:cNvPr id="41" name="Text 39"/>
          <p:cNvSpPr txBox="1"/>
          <p:nvPr/>
        </p:nvSpPr>
        <p:spPr>
          <a:xfrm>
            <a:off x="6675120" y="5148072"/>
            <a:ext cx="4937760" cy="45720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A k6 load test</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Conduct  ·  Team</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Five people, one part each</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FFFFFF"/>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sp>
        <p:nvSpPr>
          <p:cNvPr id="10" name="Text 8"/>
          <p:cNvSpPr txBox="1"/>
          <p:nvPr/>
        </p:nvSpPr>
        <p:spPr>
          <a:xfrm>
            <a:off x="10424160" y="1554480"/>
            <a:ext cx="1188720" cy="274320"/>
          </a:xfrm>
          <a:prstGeom prst="rect">
            <a:avLst/>
          </a:prstGeom>
          <a:noFill/>
          <a:ln/>
        </p:spPr>
        <p:txBody>
          <a:bodyPr wrap="square" lIns="0" tIns="0" rIns="0" bIns="0" rtlCol="0" anchor="t"/>
          <a:lstStyle/>
          <a:p>
            <a:pPr algn="r" indent="0" marL="0">
              <a:buNone/>
            </a:pPr>
            <a:r>
              <a:rPr lang="en-US" sz="1400" dirty="0">
                <a:solidFill>
                  <a:srgbClr val="9A9DA3"/>
                </a:solidFill>
                <a:latin typeface="Switzer" pitchFamily="34" charset="0"/>
                <a:ea typeface="Switzer" pitchFamily="34" charset="-122"/>
                <a:cs typeface="Switzer" pitchFamily="34" charset="-120"/>
              </a:rPr>
              <a:t>hours</a:t>
            </a:r>
            <a:endParaRPr lang="en-US" sz="1400" dirty="0"/>
          </a:p>
        </p:txBody>
      </p:sp>
      <p:sp>
        <p:nvSpPr>
          <p:cNvPr id="11" name="Shape 9"/>
          <p:cNvSpPr/>
          <p:nvPr/>
        </p:nvSpPr>
        <p:spPr>
          <a:xfrm>
            <a:off x="548640" y="1810512"/>
            <a:ext cx="11091672" cy="9144"/>
          </a:xfrm>
          <a:prstGeom prst="rect">
            <a:avLst/>
          </a:prstGeom>
          <a:solidFill>
            <a:srgbClr val="45484C"/>
          </a:solidFill>
          <a:ln/>
        </p:spPr>
      </p:sp>
      <p:sp>
        <p:nvSpPr>
          <p:cNvPr id="12" name="Text 10"/>
          <p:cNvSpPr txBox="1"/>
          <p:nvPr/>
        </p:nvSpPr>
        <p:spPr>
          <a:xfrm>
            <a:off x="548640" y="1920240"/>
            <a:ext cx="2926080" cy="548640"/>
          </a:xfrm>
          <a:prstGeom prst="rect">
            <a:avLst/>
          </a:prstGeom>
          <a:noFill/>
          <a:ln/>
        </p:spPr>
        <p:txBody>
          <a:bodyPr wrap="square" lIns="0" tIns="0" rIns="0" bIns="0" rtlCol="0" anchor="ctr"/>
          <a:lstStyle/>
          <a:p>
            <a:pPr indent="0" marL="0">
              <a:buNone/>
            </a:pPr>
            <a:r>
              <a:rPr lang="en-US" sz="2200" dirty="0">
                <a:solidFill>
                  <a:srgbClr val="FFFFFF"/>
                </a:solidFill>
                <a:latin typeface="Switzer Semibold" pitchFamily="34" charset="0"/>
                <a:ea typeface="Switzer Semibold" pitchFamily="34" charset="-122"/>
                <a:cs typeface="Switzer Semibold" pitchFamily="34" charset="-120"/>
              </a:rPr>
              <a:t>Liu Ziyang</a:t>
            </a:r>
            <a:endParaRPr lang="en-US" sz="2200" dirty="0"/>
          </a:p>
        </p:txBody>
      </p:sp>
      <p:sp>
        <p:nvSpPr>
          <p:cNvPr id="13" name="Text 11"/>
          <p:cNvSpPr txBox="1"/>
          <p:nvPr/>
        </p:nvSpPr>
        <p:spPr>
          <a:xfrm>
            <a:off x="3566160" y="1920240"/>
            <a:ext cx="6675120" cy="548640"/>
          </a:xfrm>
          <a:prstGeom prst="rect">
            <a:avLst/>
          </a:prstGeom>
          <a:noFill/>
          <a:ln/>
        </p:spPr>
        <p:txBody>
          <a:bodyPr wrap="square" lIns="0" tIns="0" rIns="0" bIns="0" rtlCol="0" anchor="ctr"/>
          <a:lstStyle/>
          <a:p>
            <a:pPr indent="0" marL="0">
              <a:buNone/>
            </a:pPr>
            <a:r>
              <a:rPr lang="en-US" sz="2000" dirty="0">
                <a:solidFill>
                  <a:srgbClr val="9A9DA3"/>
                </a:solidFill>
                <a:latin typeface="Switzer" pitchFamily="34" charset="0"/>
                <a:ea typeface="Switzer" pitchFamily="34" charset="-122"/>
                <a:cs typeface="Switzer" pitchFamily="34" charset="-120"/>
              </a:rPr>
              <a:t>session service, the queue protocol, integration</a:t>
            </a:r>
            <a:endParaRPr lang="en-US" sz="2000" dirty="0"/>
          </a:p>
        </p:txBody>
      </p:sp>
      <p:sp>
        <p:nvSpPr>
          <p:cNvPr id="14" name="Text 12"/>
          <p:cNvSpPr txBox="1"/>
          <p:nvPr/>
        </p:nvSpPr>
        <p:spPr>
          <a:xfrm>
            <a:off x="10424160" y="1920240"/>
            <a:ext cx="1188720" cy="548640"/>
          </a:xfrm>
          <a:prstGeom prst="rect">
            <a:avLst/>
          </a:prstGeom>
          <a:noFill/>
          <a:ln/>
        </p:spPr>
        <p:txBody>
          <a:bodyPr wrap="square" lIns="0" tIns="0" rIns="0" bIns="0" rtlCol="0" anchor="ctr"/>
          <a:lstStyle/>
          <a:p>
            <a:pPr algn="r" indent="0" marL="0">
              <a:buNone/>
            </a:pPr>
            <a:r>
              <a:rPr lang="en-US" sz="2000" dirty="0">
                <a:solidFill>
                  <a:srgbClr val="7C8086"/>
                </a:solidFill>
                <a:latin typeface="Switzer" pitchFamily="34" charset="0"/>
                <a:ea typeface="Switzer" pitchFamily="34" charset="-122"/>
                <a:cs typeface="Switzer" pitchFamily="34" charset="-120"/>
              </a:rPr>
              <a:t>—</a:t>
            </a:r>
            <a:endParaRPr lang="en-US" sz="2000" dirty="0"/>
          </a:p>
        </p:txBody>
      </p:sp>
      <p:sp>
        <p:nvSpPr>
          <p:cNvPr id="15" name="Shape 13"/>
          <p:cNvSpPr/>
          <p:nvPr/>
        </p:nvSpPr>
        <p:spPr>
          <a:xfrm>
            <a:off x="548640" y="2651760"/>
            <a:ext cx="11091672" cy="9144"/>
          </a:xfrm>
          <a:prstGeom prst="rect">
            <a:avLst/>
          </a:prstGeom>
          <a:solidFill>
            <a:srgbClr val="45484C"/>
          </a:solidFill>
          <a:ln/>
        </p:spPr>
      </p:sp>
      <p:sp>
        <p:nvSpPr>
          <p:cNvPr id="16" name="Text 14"/>
          <p:cNvSpPr txBox="1"/>
          <p:nvPr/>
        </p:nvSpPr>
        <p:spPr>
          <a:xfrm>
            <a:off x="548640" y="2761488"/>
            <a:ext cx="2926080" cy="548640"/>
          </a:xfrm>
          <a:prstGeom prst="rect">
            <a:avLst/>
          </a:prstGeom>
          <a:noFill/>
          <a:ln/>
        </p:spPr>
        <p:txBody>
          <a:bodyPr wrap="square" lIns="0" tIns="0" rIns="0" bIns="0" rtlCol="0" anchor="ctr"/>
          <a:lstStyle/>
          <a:p>
            <a:pPr indent="0" marL="0">
              <a:buNone/>
            </a:pPr>
            <a:r>
              <a:rPr lang="en-US" sz="2200" dirty="0">
                <a:solidFill>
                  <a:srgbClr val="FFFFFF"/>
                </a:solidFill>
                <a:latin typeface="Switzer Semibold" pitchFamily="34" charset="0"/>
                <a:ea typeface="Switzer Semibold" pitchFamily="34" charset="-122"/>
                <a:cs typeface="Switzer Semibold" pitchFamily="34" charset="-120"/>
              </a:rPr>
              <a:t>Li Zhuoyang</a:t>
            </a:r>
            <a:endParaRPr lang="en-US" sz="2200" dirty="0"/>
          </a:p>
        </p:txBody>
      </p:sp>
      <p:sp>
        <p:nvSpPr>
          <p:cNvPr id="17" name="Text 15"/>
          <p:cNvSpPr txBox="1"/>
          <p:nvPr/>
        </p:nvSpPr>
        <p:spPr>
          <a:xfrm>
            <a:off x="3566160" y="2761488"/>
            <a:ext cx="6675120" cy="548640"/>
          </a:xfrm>
          <a:prstGeom prst="rect">
            <a:avLst/>
          </a:prstGeom>
          <a:noFill/>
          <a:ln/>
        </p:spPr>
        <p:txBody>
          <a:bodyPr wrap="square" lIns="0" tIns="0" rIns="0" bIns="0" rtlCol="0" anchor="ctr"/>
          <a:lstStyle/>
          <a:p>
            <a:pPr indent="0" marL="0">
              <a:buNone/>
            </a:pPr>
            <a:r>
              <a:rPr lang="en-US" sz="2000" dirty="0">
                <a:solidFill>
                  <a:srgbClr val="9A9DA3"/>
                </a:solidFill>
                <a:latin typeface="Switzer" pitchFamily="34" charset="0"/>
                <a:ea typeface="Switzer" pitchFamily="34" charset="-122"/>
                <a:cs typeface="Switzer" pitchFamily="34" charset="-120"/>
              </a:rPr>
              <a:t>workers</a:t>
            </a:r>
            <a:endParaRPr lang="en-US" sz="2000" dirty="0"/>
          </a:p>
        </p:txBody>
      </p:sp>
      <p:sp>
        <p:nvSpPr>
          <p:cNvPr id="18" name="Text 16"/>
          <p:cNvSpPr txBox="1"/>
          <p:nvPr/>
        </p:nvSpPr>
        <p:spPr>
          <a:xfrm>
            <a:off x="10424160" y="2761488"/>
            <a:ext cx="1188720" cy="548640"/>
          </a:xfrm>
          <a:prstGeom prst="rect">
            <a:avLst/>
          </a:prstGeom>
          <a:noFill/>
          <a:ln/>
        </p:spPr>
        <p:txBody>
          <a:bodyPr wrap="square" lIns="0" tIns="0" rIns="0" bIns="0" rtlCol="0" anchor="ctr"/>
          <a:lstStyle/>
          <a:p>
            <a:pPr algn="r" indent="0" marL="0">
              <a:buNone/>
            </a:pPr>
            <a:r>
              <a:rPr lang="en-US" sz="2000" dirty="0">
                <a:solidFill>
                  <a:srgbClr val="7C8086"/>
                </a:solidFill>
                <a:latin typeface="Switzer" pitchFamily="34" charset="0"/>
                <a:ea typeface="Switzer" pitchFamily="34" charset="-122"/>
                <a:cs typeface="Switzer" pitchFamily="34" charset="-120"/>
              </a:rPr>
              <a:t>—</a:t>
            </a:r>
            <a:endParaRPr lang="en-US" sz="2000" dirty="0"/>
          </a:p>
        </p:txBody>
      </p:sp>
      <p:sp>
        <p:nvSpPr>
          <p:cNvPr id="19" name="Shape 17"/>
          <p:cNvSpPr/>
          <p:nvPr/>
        </p:nvSpPr>
        <p:spPr>
          <a:xfrm>
            <a:off x="548640" y="3493008"/>
            <a:ext cx="11091672" cy="9144"/>
          </a:xfrm>
          <a:prstGeom prst="rect">
            <a:avLst/>
          </a:prstGeom>
          <a:solidFill>
            <a:srgbClr val="45484C"/>
          </a:solidFill>
          <a:ln/>
        </p:spPr>
      </p:sp>
      <p:sp>
        <p:nvSpPr>
          <p:cNvPr id="20" name="Text 18"/>
          <p:cNvSpPr txBox="1"/>
          <p:nvPr/>
        </p:nvSpPr>
        <p:spPr>
          <a:xfrm>
            <a:off x="548640" y="3602736"/>
            <a:ext cx="2926080" cy="548640"/>
          </a:xfrm>
          <a:prstGeom prst="rect">
            <a:avLst/>
          </a:prstGeom>
          <a:noFill/>
          <a:ln/>
        </p:spPr>
        <p:txBody>
          <a:bodyPr wrap="square" lIns="0" tIns="0" rIns="0" bIns="0" rtlCol="0" anchor="ctr"/>
          <a:lstStyle/>
          <a:p>
            <a:pPr indent="0" marL="0">
              <a:buNone/>
            </a:pPr>
            <a:r>
              <a:rPr lang="en-US" sz="2200" dirty="0">
                <a:solidFill>
                  <a:srgbClr val="FFFFFF"/>
                </a:solidFill>
                <a:latin typeface="Switzer Semibold" pitchFamily="34" charset="0"/>
                <a:ea typeface="Switzer Semibold" pitchFamily="34" charset="-122"/>
                <a:cs typeface="Switzer Semibold" pitchFamily="34" charset="-120"/>
              </a:rPr>
              <a:t>Lu Yi</a:t>
            </a:r>
            <a:endParaRPr lang="en-US" sz="2200" dirty="0"/>
          </a:p>
        </p:txBody>
      </p:sp>
      <p:sp>
        <p:nvSpPr>
          <p:cNvPr id="21" name="Text 19"/>
          <p:cNvSpPr txBox="1"/>
          <p:nvPr/>
        </p:nvSpPr>
        <p:spPr>
          <a:xfrm>
            <a:off x="3566160" y="3602736"/>
            <a:ext cx="6675120" cy="548640"/>
          </a:xfrm>
          <a:prstGeom prst="rect">
            <a:avLst/>
          </a:prstGeom>
          <a:noFill/>
          <a:ln/>
        </p:spPr>
        <p:txBody>
          <a:bodyPr wrap="square" lIns="0" tIns="0" rIns="0" bIns="0" rtlCol="0" anchor="ctr"/>
          <a:lstStyle/>
          <a:p>
            <a:pPr indent="0" marL="0">
              <a:buNone/>
            </a:pPr>
            <a:r>
              <a:rPr lang="en-US" sz="2000" dirty="0">
                <a:solidFill>
                  <a:srgbClr val="9A9DA3"/>
                </a:solidFill>
                <a:latin typeface="Switzer" pitchFamily="34" charset="0"/>
                <a:ea typeface="Switzer" pitchFamily="34" charset="-122"/>
                <a:cs typeface="Switzer" pitchFamily="34" charset="-120"/>
              </a:rPr>
              <a:t>sign-in, API keys, gateway, HTTPS</a:t>
            </a:r>
            <a:endParaRPr lang="en-US" sz="2000" dirty="0"/>
          </a:p>
        </p:txBody>
      </p:sp>
      <p:sp>
        <p:nvSpPr>
          <p:cNvPr id="22" name="Text 20"/>
          <p:cNvSpPr txBox="1"/>
          <p:nvPr/>
        </p:nvSpPr>
        <p:spPr>
          <a:xfrm>
            <a:off x="10424160" y="3602736"/>
            <a:ext cx="1188720" cy="548640"/>
          </a:xfrm>
          <a:prstGeom prst="rect">
            <a:avLst/>
          </a:prstGeom>
          <a:noFill/>
          <a:ln/>
        </p:spPr>
        <p:txBody>
          <a:bodyPr wrap="square" lIns="0" tIns="0" rIns="0" bIns="0" rtlCol="0" anchor="ctr"/>
          <a:lstStyle/>
          <a:p>
            <a:pPr algn="r" indent="0" marL="0">
              <a:buNone/>
            </a:pPr>
            <a:r>
              <a:rPr lang="en-US" sz="2000" dirty="0">
                <a:solidFill>
                  <a:srgbClr val="7C8086"/>
                </a:solidFill>
                <a:latin typeface="Switzer" pitchFamily="34" charset="0"/>
                <a:ea typeface="Switzer" pitchFamily="34" charset="-122"/>
                <a:cs typeface="Switzer" pitchFamily="34" charset="-120"/>
              </a:rPr>
              <a:t>—</a:t>
            </a:r>
            <a:endParaRPr lang="en-US" sz="2000" dirty="0"/>
          </a:p>
        </p:txBody>
      </p:sp>
      <p:sp>
        <p:nvSpPr>
          <p:cNvPr id="23" name="Shape 21"/>
          <p:cNvSpPr/>
          <p:nvPr/>
        </p:nvSpPr>
        <p:spPr>
          <a:xfrm>
            <a:off x="548640" y="4334256"/>
            <a:ext cx="11091672" cy="9144"/>
          </a:xfrm>
          <a:prstGeom prst="rect">
            <a:avLst/>
          </a:prstGeom>
          <a:solidFill>
            <a:srgbClr val="45484C"/>
          </a:solidFill>
          <a:ln/>
        </p:spPr>
      </p:sp>
      <p:sp>
        <p:nvSpPr>
          <p:cNvPr id="24" name="Text 22"/>
          <p:cNvSpPr txBox="1"/>
          <p:nvPr/>
        </p:nvSpPr>
        <p:spPr>
          <a:xfrm>
            <a:off x="548640" y="4443984"/>
            <a:ext cx="2926080" cy="548640"/>
          </a:xfrm>
          <a:prstGeom prst="rect">
            <a:avLst/>
          </a:prstGeom>
          <a:noFill/>
          <a:ln/>
        </p:spPr>
        <p:txBody>
          <a:bodyPr wrap="square" lIns="0" tIns="0" rIns="0" bIns="0" rtlCol="0" anchor="ctr"/>
          <a:lstStyle/>
          <a:p>
            <a:pPr indent="0" marL="0">
              <a:buNone/>
            </a:pPr>
            <a:r>
              <a:rPr lang="en-US" sz="2200" dirty="0">
                <a:solidFill>
                  <a:srgbClr val="FFFFFF"/>
                </a:solidFill>
                <a:latin typeface="Switzer Semibold" pitchFamily="34" charset="0"/>
                <a:ea typeface="Switzer Semibold" pitchFamily="34" charset="-122"/>
                <a:cs typeface="Switzer Semibold" pitchFamily="34" charset="-120"/>
              </a:rPr>
              <a:t>Peng Xujian</a:t>
            </a:r>
            <a:endParaRPr lang="en-US" sz="2200" dirty="0"/>
          </a:p>
        </p:txBody>
      </p:sp>
      <p:sp>
        <p:nvSpPr>
          <p:cNvPr id="25" name="Text 23"/>
          <p:cNvSpPr txBox="1"/>
          <p:nvPr/>
        </p:nvSpPr>
        <p:spPr>
          <a:xfrm>
            <a:off x="3566160" y="4443984"/>
            <a:ext cx="6675120" cy="548640"/>
          </a:xfrm>
          <a:prstGeom prst="rect">
            <a:avLst/>
          </a:prstGeom>
          <a:noFill/>
          <a:ln/>
        </p:spPr>
        <p:txBody>
          <a:bodyPr wrap="square" lIns="0" tIns="0" rIns="0" bIns="0" rtlCol="0" anchor="ctr"/>
          <a:lstStyle/>
          <a:p>
            <a:pPr indent="0" marL="0">
              <a:buNone/>
            </a:pPr>
            <a:r>
              <a:rPr lang="en-US" sz="2000" dirty="0">
                <a:solidFill>
                  <a:srgbClr val="9A9DA3"/>
                </a:solidFill>
                <a:latin typeface="Switzer" pitchFamily="34" charset="0"/>
                <a:ea typeface="Switzer" pitchFamily="34" charset="-122"/>
                <a:cs typeface="Switzer" pitchFamily="34" charset="-120"/>
              </a:rPr>
              <a:t>projects, agent registry, literature watch app, load test</a:t>
            </a:r>
            <a:endParaRPr lang="en-US" sz="2000" dirty="0"/>
          </a:p>
        </p:txBody>
      </p:sp>
      <p:sp>
        <p:nvSpPr>
          <p:cNvPr id="26" name="Text 24"/>
          <p:cNvSpPr txBox="1"/>
          <p:nvPr/>
        </p:nvSpPr>
        <p:spPr>
          <a:xfrm>
            <a:off x="10424160" y="4443984"/>
            <a:ext cx="1188720" cy="548640"/>
          </a:xfrm>
          <a:prstGeom prst="rect">
            <a:avLst/>
          </a:prstGeom>
          <a:noFill/>
          <a:ln/>
        </p:spPr>
        <p:txBody>
          <a:bodyPr wrap="square" lIns="0" tIns="0" rIns="0" bIns="0" rtlCol="0" anchor="ctr"/>
          <a:lstStyle/>
          <a:p>
            <a:pPr algn="r" indent="0" marL="0">
              <a:buNone/>
            </a:pPr>
            <a:r>
              <a:rPr lang="en-US" sz="2000" dirty="0">
                <a:solidFill>
                  <a:srgbClr val="7C8086"/>
                </a:solidFill>
                <a:latin typeface="Switzer" pitchFamily="34" charset="0"/>
                <a:ea typeface="Switzer" pitchFamily="34" charset="-122"/>
                <a:cs typeface="Switzer" pitchFamily="34" charset="-120"/>
              </a:rPr>
              <a:t>—</a:t>
            </a:r>
            <a:endParaRPr lang="en-US" sz="2000" dirty="0"/>
          </a:p>
        </p:txBody>
      </p:sp>
      <p:sp>
        <p:nvSpPr>
          <p:cNvPr id="27" name="Shape 25"/>
          <p:cNvSpPr/>
          <p:nvPr/>
        </p:nvSpPr>
        <p:spPr>
          <a:xfrm>
            <a:off x="548640" y="5175504"/>
            <a:ext cx="11091672" cy="9144"/>
          </a:xfrm>
          <a:prstGeom prst="rect">
            <a:avLst/>
          </a:prstGeom>
          <a:solidFill>
            <a:srgbClr val="45484C"/>
          </a:solidFill>
          <a:ln/>
        </p:spPr>
      </p:sp>
      <p:sp>
        <p:nvSpPr>
          <p:cNvPr id="28" name="Text 26"/>
          <p:cNvSpPr txBox="1"/>
          <p:nvPr/>
        </p:nvSpPr>
        <p:spPr>
          <a:xfrm>
            <a:off x="548640" y="5285232"/>
            <a:ext cx="2926080" cy="548640"/>
          </a:xfrm>
          <a:prstGeom prst="rect">
            <a:avLst/>
          </a:prstGeom>
          <a:noFill/>
          <a:ln/>
        </p:spPr>
        <p:txBody>
          <a:bodyPr wrap="square" lIns="0" tIns="0" rIns="0" bIns="0" rtlCol="0" anchor="ctr"/>
          <a:lstStyle/>
          <a:p>
            <a:pPr indent="0" marL="0">
              <a:buNone/>
            </a:pPr>
            <a:r>
              <a:rPr lang="en-US" sz="2200" dirty="0">
                <a:solidFill>
                  <a:srgbClr val="FFFFFF"/>
                </a:solidFill>
                <a:latin typeface="Switzer Semibold" pitchFamily="34" charset="0"/>
                <a:ea typeface="Switzer Semibold" pitchFamily="34" charset="-122"/>
                <a:cs typeface="Switzer Semibold" pitchFamily="34" charset="-120"/>
              </a:rPr>
              <a:t>He Rong</a:t>
            </a:r>
            <a:endParaRPr lang="en-US" sz="2200" dirty="0"/>
          </a:p>
        </p:txBody>
      </p:sp>
      <p:sp>
        <p:nvSpPr>
          <p:cNvPr id="29" name="Text 27"/>
          <p:cNvSpPr txBox="1"/>
          <p:nvPr/>
        </p:nvSpPr>
        <p:spPr>
          <a:xfrm>
            <a:off x="3566160" y="5285232"/>
            <a:ext cx="6675120" cy="548640"/>
          </a:xfrm>
          <a:prstGeom prst="rect">
            <a:avLst/>
          </a:prstGeom>
          <a:noFill/>
          <a:ln/>
        </p:spPr>
        <p:txBody>
          <a:bodyPr wrap="square" lIns="0" tIns="0" rIns="0" bIns="0" rtlCol="0" anchor="ctr"/>
          <a:lstStyle/>
          <a:p>
            <a:pPr indent="0" marL="0">
              <a:buNone/>
            </a:pPr>
            <a:r>
              <a:rPr lang="en-US" sz="2000" dirty="0">
                <a:solidFill>
                  <a:srgbClr val="9A9DA3"/>
                </a:solidFill>
                <a:latin typeface="Switzer" pitchFamily="34" charset="0"/>
                <a:ea typeface="Switzer" pitchFamily="34" charset="-122"/>
                <a:cs typeface="Switzer" pitchFamily="34" charset="-120"/>
              </a:rPr>
              <a:t>billing, Kubernetes, the pipeline</a:t>
            </a:r>
            <a:endParaRPr lang="en-US" sz="2000" dirty="0"/>
          </a:p>
        </p:txBody>
      </p:sp>
      <p:sp>
        <p:nvSpPr>
          <p:cNvPr id="30" name="Text 28"/>
          <p:cNvSpPr txBox="1"/>
          <p:nvPr/>
        </p:nvSpPr>
        <p:spPr>
          <a:xfrm>
            <a:off x="10424160" y="5285232"/>
            <a:ext cx="1188720" cy="548640"/>
          </a:xfrm>
          <a:prstGeom prst="rect">
            <a:avLst/>
          </a:prstGeom>
          <a:noFill/>
          <a:ln/>
        </p:spPr>
        <p:txBody>
          <a:bodyPr wrap="square" lIns="0" tIns="0" rIns="0" bIns="0" rtlCol="0" anchor="ctr"/>
          <a:lstStyle/>
          <a:p>
            <a:pPr algn="r" indent="0" marL="0">
              <a:buNone/>
            </a:pPr>
            <a:r>
              <a:rPr lang="en-US" sz="2000" dirty="0">
                <a:solidFill>
                  <a:srgbClr val="7C8086"/>
                </a:solidFill>
                <a:latin typeface="Switzer" pitchFamily="34" charset="0"/>
                <a:ea typeface="Switzer" pitchFamily="34" charset="-122"/>
                <a:cs typeface="Switzer" pitchFamily="34" charset="-120"/>
              </a:rPr>
              <a:t>—</a:t>
            </a: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Conduct  ·  Status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Where we are, and what is open</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FFFFFF"/>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sp>
        <p:nvSpPr>
          <p:cNvPr id="10" name="Text 8"/>
          <p:cNvSpPr txBox="1"/>
          <p:nvPr/>
        </p:nvSpPr>
        <p:spPr>
          <a:xfrm>
            <a:off x="548640" y="1783080"/>
            <a:ext cx="1188720" cy="457200"/>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6 Oct</a:t>
            </a:r>
            <a:endParaRPr lang="en-US" sz="1800" dirty="0"/>
          </a:p>
        </p:txBody>
      </p:sp>
      <p:sp>
        <p:nvSpPr>
          <p:cNvPr id="11" name="Text 9"/>
          <p:cNvSpPr txBox="1"/>
          <p:nvPr/>
        </p:nvSpPr>
        <p:spPr>
          <a:xfrm>
            <a:off x="1828800" y="1783080"/>
            <a:ext cx="4754880" cy="45720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Proposal approved: scalable microservices</a:t>
            </a:r>
            <a:endParaRPr lang="en-US" sz="1800" dirty="0"/>
          </a:p>
        </p:txBody>
      </p:sp>
      <p:sp>
        <p:nvSpPr>
          <p:cNvPr id="12" name="Text 10"/>
          <p:cNvSpPr txBox="1"/>
          <p:nvPr/>
        </p:nvSpPr>
        <p:spPr>
          <a:xfrm>
            <a:off x="548640" y="2331720"/>
            <a:ext cx="1188720" cy="457200"/>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20 Oct</a:t>
            </a:r>
            <a:endParaRPr lang="en-US" sz="1800" dirty="0"/>
          </a:p>
        </p:txBody>
      </p:sp>
      <p:sp>
        <p:nvSpPr>
          <p:cNvPr id="13" name="Text 11"/>
          <p:cNvSpPr txBox="1"/>
          <p:nvPr/>
        </p:nvSpPr>
        <p:spPr>
          <a:xfrm>
            <a:off x="1828800" y="2331720"/>
            <a:ext cx="4754880" cy="45720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Five services, Helm, KEDA, public HTTPS</a:t>
            </a:r>
            <a:endParaRPr lang="en-US" sz="1800" dirty="0"/>
          </a:p>
        </p:txBody>
      </p:sp>
      <p:sp>
        <p:nvSpPr>
          <p:cNvPr id="14" name="Text 12"/>
          <p:cNvSpPr txBox="1"/>
          <p:nvPr/>
        </p:nvSpPr>
        <p:spPr>
          <a:xfrm>
            <a:off x="548640" y="2880360"/>
            <a:ext cx="1188720" cy="457200"/>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20 Oct</a:t>
            </a:r>
            <a:endParaRPr lang="en-US" sz="1800" dirty="0"/>
          </a:p>
        </p:txBody>
      </p:sp>
      <p:sp>
        <p:nvSpPr>
          <p:cNvPr id="15" name="Text 13"/>
          <p:cNvSpPr txBox="1"/>
          <p:nvPr/>
        </p:nvSpPr>
        <p:spPr>
          <a:xfrm>
            <a:off x="1828800" y="2880360"/>
            <a:ext cx="4754880" cy="45720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API keys, agent registry, literature watch app</a:t>
            </a:r>
            <a:endParaRPr lang="en-US" sz="1800" dirty="0"/>
          </a:p>
        </p:txBody>
      </p:sp>
      <p:sp>
        <p:nvSpPr>
          <p:cNvPr id="16" name="Text 14"/>
          <p:cNvSpPr txBox="1"/>
          <p:nvPr/>
        </p:nvSpPr>
        <p:spPr>
          <a:xfrm>
            <a:off x="548640" y="3429000"/>
            <a:ext cx="1188720" cy="457200"/>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20 Oct</a:t>
            </a:r>
            <a:endParaRPr lang="en-US" sz="1800" dirty="0"/>
          </a:p>
        </p:txBody>
      </p:sp>
      <p:sp>
        <p:nvSpPr>
          <p:cNvPr id="17" name="Text 15"/>
          <p:cNvSpPr txBox="1"/>
          <p:nvPr/>
        </p:nvSpPr>
        <p:spPr>
          <a:xfrm>
            <a:off x="1828800" y="3429000"/>
            <a:ext cx="4754880" cy="45720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Pipeline: SCA, SAST, image scan, DAST, k6</a:t>
            </a:r>
            <a:endParaRPr lang="en-US" sz="1800" dirty="0"/>
          </a:p>
        </p:txBody>
      </p:sp>
      <p:sp>
        <p:nvSpPr>
          <p:cNvPr id="18" name="Text 16"/>
          <p:cNvSpPr txBox="1"/>
          <p:nvPr/>
        </p:nvSpPr>
        <p:spPr>
          <a:xfrm>
            <a:off x="548640" y="3977640"/>
            <a:ext cx="1188720" cy="457200"/>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21 Oct</a:t>
            </a:r>
            <a:endParaRPr lang="en-US" sz="1800" dirty="0"/>
          </a:p>
        </p:txBody>
      </p:sp>
      <p:sp>
        <p:nvSpPr>
          <p:cNvPr id="19" name="Text 17"/>
          <p:cNvSpPr txBox="1"/>
          <p:nvPr/>
        </p:nvSpPr>
        <p:spPr>
          <a:xfrm>
            <a:off x="1828800" y="3977640"/>
            <a:ext cx="4754880" cy="45720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Real model on the server: gpt-4.1-nano</a:t>
            </a:r>
            <a:endParaRPr lang="en-US" sz="1800" dirty="0"/>
          </a:p>
        </p:txBody>
      </p:sp>
      <p:sp>
        <p:nvSpPr>
          <p:cNvPr id="20" name="Text 18"/>
          <p:cNvSpPr txBox="1"/>
          <p:nvPr/>
        </p:nvSpPr>
        <p:spPr>
          <a:xfrm>
            <a:off x="7086600" y="1463040"/>
            <a:ext cx="3657600"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open</a:t>
            </a:r>
            <a:endParaRPr lang="en-US" sz="1400" dirty="0"/>
          </a:p>
        </p:txBody>
      </p:sp>
      <p:sp>
        <p:nvSpPr>
          <p:cNvPr id="21" name="Shape 19"/>
          <p:cNvSpPr/>
          <p:nvPr/>
        </p:nvSpPr>
        <p:spPr>
          <a:xfrm>
            <a:off x="7086600" y="1783080"/>
            <a:ext cx="4553712" cy="777240"/>
          </a:xfrm>
          <a:prstGeom prst="rect">
            <a:avLst/>
          </a:prstGeom>
          <a:solidFill>
            <a:srgbClr val="1A1B1E"/>
          </a:solidFill>
          <a:ln/>
        </p:spPr>
      </p:sp>
      <p:sp>
        <p:nvSpPr>
          <p:cNvPr id="22" name="Text 20"/>
          <p:cNvSpPr txBox="1"/>
          <p:nvPr/>
        </p:nvSpPr>
        <p:spPr>
          <a:xfrm>
            <a:off x="7269480" y="1856232"/>
            <a:ext cx="4206240" cy="347472"/>
          </a:xfrm>
          <a:prstGeom prst="rect">
            <a:avLst/>
          </a:prstGeom>
          <a:noFill/>
          <a:ln/>
        </p:spPr>
        <p:txBody>
          <a:bodyPr wrap="square" lIns="0" tIns="0" rIns="0" bIns="0" rtlCol="0" anchor="t"/>
          <a:lstStyle/>
          <a:p>
            <a:pPr indent="0" marL="0">
              <a:buNone/>
            </a:pPr>
            <a:r>
              <a:rPr lang="en-US" sz="1700" dirty="0">
                <a:solidFill>
                  <a:srgbClr val="FFFFFF"/>
                </a:solidFill>
                <a:latin typeface="Switzer Semibold" pitchFamily="34" charset="0"/>
                <a:ea typeface="Switzer Semibold" pitchFamily="34" charset="-122"/>
                <a:cs typeface="Switzer Semibold" pitchFamily="34" charset="-120"/>
              </a:rPr>
              <a:t>One copy of the session service</a:t>
            </a:r>
            <a:endParaRPr lang="en-US" sz="1700" dirty="0"/>
          </a:p>
        </p:txBody>
      </p:sp>
      <p:sp>
        <p:nvSpPr>
          <p:cNvPr id="23" name="Text 21"/>
          <p:cNvSpPr txBox="1"/>
          <p:nvPr/>
        </p:nvSpPr>
        <p:spPr>
          <a:xfrm>
            <a:off x="7269480" y="2194560"/>
            <a:ext cx="4206240" cy="310896"/>
          </a:xfrm>
          <a:prstGeom prst="rect">
            <a:avLst/>
          </a:prstGeom>
          <a:noFill/>
          <a:ln/>
        </p:spPr>
        <p:txBody>
          <a:bodyPr wrap="square" lIns="0" tIns="0" rIns="0" bIns="0" rtlCol="0" anchor="t"/>
          <a:lstStyle/>
          <a:p>
            <a:pPr indent="0" marL="0">
              <a:buNone/>
            </a:pPr>
            <a:r>
              <a:rPr lang="en-US" sz="1500" dirty="0">
                <a:solidFill>
                  <a:srgbClr val="9A9DA3"/>
                </a:solidFill>
                <a:latin typeface="Switzer" pitchFamily="34" charset="0"/>
                <a:ea typeface="Switzer" pitchFamily="34" charset="-122"/>
                <a:cs typeface="Switzer" pitchFamily="34" charset="-120"/>
              </a:rPr>
              <a:t>next: live work moves to the database</a:t>
            </a:r>
            <a:endParaRPr lang="en-US" sz="1500" dirty="0"/>
          </a:p>
        </p:txBody>
      </p:sp>
      <p:sp>
        <p:nvSpPr>
          <p:cNvPr id="24" name="Shape 22"/>
          <p:cNvSpPr/>
          <p:nvPr/>
        </p:nvSpPr>
        <p:spPr>
          <a:xfrm>
            <a:off x="7086600" y="2697480"/>
            <a:ext cx="4553712" cy="777240"/>
          </a:xfrm>
          <a:prstGeom prst="rect">
            <a:avLst/>
          </a:prstGeom>
          <a:solidFill>
            <a:srgbClr val="1A1B1E"/>
          </a:solidFill>
          <a:ln/>
        </p:spPr>
      </p:sp>
      <p:sp>
        <p:nvSpPr>
          <p:cNvPr id="25" name="Text 23"/>
          <p:cNvSpPr txBox="1"/>
          <p:nvPr/>
        </p:nvSpPr>
        <p:spPr>
          <a:xfrm>
            <a:off x="7269480" y="2770632"/>
            <a:ext cx="4206240" cy="347472"/>
          </a:xfrm>
          <a:prstGeom prst="rect">
            <a:avLst/>
          </a:prstGeom>
          <a:noFill/>
          <a:ln/>
        </p:spPr>
        <p:txBody>
          <a:bodyPr wrap="square" lIns="0" tIns="0" rIns="0" bIns="0" rtlCol="0" anchor="t"/>
          <a:lstStyle/>
          <a:p>
            <a:pPr indent="0" marL="0">
              <a:buNone/>
            </a:pPr>
            <a:r>
              <a:rPr lang="en-US" sz="1700" dirty="0">
                <a:solidFill>
                  <a:srgbClr val="FFFFFF"/>
                </a:solidFill>
                <a:latin typeface="Switzer Semibold" pitchFamily="34" charset="0"/>
                <a:ea typeface="Switzer Semibold" pitchFamily="34" charset="-122"/>
                <a:cs typeface="Switzer Semibold" pitchFamily="34" charset="-120"/>
              </a:rPr>
              <a:t>One database shared by all services</a:t>
            </a:r>
            <a:endParaRPr lang="en-US" sz="1700" dirty="0"/>
          </a:p>
        </p:txBody>
      </p:sp>
      <p:sp>
        <p:nvSpPr>
          <p:cNvPr id="26" name="Text 24"/>
          <p:cNvSpPr txBox="1"/>
          <p:nvPr/>
        </p:nvSpPr>
        <p:spPr>
          <a:xfrm>
            <a:off x="7269480" y="3108960"/>
            <a:ext cx="4206240" cy="310896"/>
          </a:xfrm>
          <a:prstGeom prst="rect">
            <a:avLst/>
          </a:prstGeom>
          <a:noFill/>
          <a:ln/>
        </p:spPr>
        <p:txBody>
          <a:bodyPr wrap="square" lIns="0" tIns="0" rIns="0" bIns="0" rtlCol="0" anchor="t"/>
          <a:lstStyle/>
          <a:p>
            <a:pPr indent="0" marL="0">
              <a:buNone/>
            </a:pPr>
            <a:r>
              <a:rPr lang="en-US" sz="1500" dirty="0">
                <a:solidFill>
                  <a:srgbClr val="9A9DA3"/>
                </a:solidFill>
                <a:latin typeface="Switzer" pitchFamily="34" charset="0"/>
                <a:ea typeface="Switzer" pitchFamily="34" charset="-122"/>
                <a:cs typeface="Switzer" pitchFamily="34" charset="-120"/>
              </a:rPr>
              <a:t>next: a database per service</a:t>
            </a:r>
            <a:endParaRPr lang="en-US" sz="1500" dirty="0"/>
          </a:p>
        </p:txBody>
      </p:sp>
      <p:sp>
        <p:nvSpPr>
          <p:cNvPr id="27" name="Shape 25"/>
          <p:cNvSpPr/>
          <p:nvPr/>
        </p:nvSpPr>
        <p:spPr>
          <a:xfrm>
            <a:off x="7086600" y="3611880"/>
            <a:ext cx="4553712" cy="777240"/>
          </a:xfrm>
          <a:prstGeom prst="rect">
            <a:avLst/>
          </a:prstGeom>
          <a:solidFill>
            <a:srgbClr val="1A1B1E"/>
          </a:solidFill>
          <a:ln/>
        </p:spPr>
      </p:sp>
      <p:sp>
        <p:nvSpPr>
          <p:cNvPr id="28" name="Text 26"/>
          <p:cNvSpPr txBox="1"/>
          <p:nvPr/>
        </p:nvSpPr>
        <p:spPr>
          <a:xfrm>
            <a:off x="7269480" y="3685032"/>
            <a:ext cx="4206240" cy="347472"/>
          </a:xfrm>
          <a:prstGeom prst="rect">
            <a:avLst/>
          </a:prstGeom>
          <a:noFill/>
          <a:ln/>
        </p:spPr>
        <p:txBody>
          <a:bodyPr wrap="square" lIns="0" tIns="0" rIns="0" bIns="0" rtlCol="0" anchor="t"/>
          <a:lstStyle/>
          <a:p>
            <a:pPr indent="0" marL="0">
              <a:buNone/>
            </a:pPr>
            <a:r>
              <a:rPr lang="en-US" sz="1700" dirty="0">
                <a:solidFill>
                  <a:srgbClr val="FFFFFF"/>
                </a:solidFill>
                <a:latin typeface="Switzer Semibold" pitchFamily="34" charset="0"/>
                <a:ea typeface="Switzer Semibold" pitchFamily="34" charset="-122"/>
                <a:cs typeface="Switzer Semibold" pitchFamily="34" charset="-120"/>
              </a:rPr>
              <a:t>A killed worker's jobs run twice</a:t>
            </a:r>
            <a:endParaRPr lang="en-US" sz="1700" dirty="0"/>
          </a:p>
        </p:txBody>
      </p:sp>
      <p:sp>
        <p:nvSpPr>
          <p:cNvPr id="29" name="Text 27"/>
          <p:cNvSpPr txBox="1"/>
          <p:nvPr/>
        </p:nvSpPr>
        <p:spPr>
          <a:xfrm>
            <a:off x="7269480" y="4023360"/>
            <a:ext cx="4206240" cy="310896"/>
          </a:xfrm>
          <a:prstGeom prst="rect">
            <a:avLst/>
          </a:prstGeom>
          <a:noFill/>
          <a:ln/>
        </p:spPr>
        <p:txBody>
          <a:bodyPr wrap="square" lIns="0" tIns="0" rIns="0" bIns="0" rtlCol="0" anchor="t"/>
          <a:lstStyle/>
          <a:p>
            <a:pPr indent="0" marL="0">
              <a:buNone/>
            </a:pPr>
            <a:r>
              <a:rPr lang="en-US" sz="1500" dirty="0">
                <a:solidFill>
                  <a:srgbClr val="9A9DA3"/>
                </a:solidFill>
                <a:latin typeface="Switzer" pitchFamily="34" charset="0"/>
                <a:ea typeface="Switzer" pitchFamily="34" charset="-122"/>
                <a:cs typeface="Switzer" pitchFamily="34" charset="-120"/>
              </a:rPr>
              <a:t>next: jobs that are safe to repeat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Logical  ·  Key decisions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Six choices shape the services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sp>
        <p:nvSpPr>
          <p:cNvPr id="10" name="Text 8"/>
          <p:cNvSpPr txBox="1"/>
          <p:nvPr/>
        </p:nvSpPr>
        <p:spPr>
          <a:xfrm>
            <a:off x="548640" y="1691640"/>
            <a:ext cx="5852160"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we chose</a:t>
            </a:r>
            <a:endParaRPr lang="en-US" sz="1400" dirty="0"/>
          </a:p>
        </p:txBody>
      </p:sp>
      <p:sp>
        <p:nvSpPr>
          <p:cNvPr id="11" name="Text 9"/>
          <p:cNvSpPr txBox="1"/>
          <p:nvPr/>
        </p:nvSpPr>
        <p:spPr>
          <a:xfrm>
            <a:off x="6583680" y="1691640"/>
            <a:ext cx="4873752"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instead of</a:t>
            </a:r>
            <a:endParaRPr lang="en-US" sz="1400" dirty="0"/>
          </a:p>
        </p:txBody>
      </p:sp>
      <p:sp>
        <p:nvSpPr>
          <p:cNvPr id="12" name="Shape 10"/>
          <p:cNvSpPr/>
          <p:nvPr/>
        </p:nvSpPr>
        <p:spPr>
          <a:xfrm>
            <a:off x="548640" y="2075688"/>
            <a:ext cx="11091672" cy="9144"/>
          </a:xfrm>
          <a:prstGeom prst="rect">
            <a:avLst/>
          </a:prstGeom>
          <a:solidFill>
            <a:srgbClr val="45484C"/>
          </a:solidFill>
          <a:ln/>
        </p:spPr>
      </p:sp>
      <p:sp>
        <p:nvSpPr>
          <p:cNvPr id="13" name="Text 11"/>
          <p:cNvSpPr txBox="1"/>
          <p:nvPr/>
        </p:nvSpPr>
        <p:spPr>
          <a:xfrm>
            <a:off x="548640" y="2130552"/>
            <a:ext cx="5852160" cy="621792"/>
          </a:xfrm>
          <a:prstGeom prst="rect">
            <a:avLst/>
          </a:prstGeom>
          <a:noFill/>
          <a:ln/>
        </p:spPr>
        <p:txBody>
          <a:bodyPr wrap="square" lIns="0" tIns="0" rIns="0" bIns="0" rtlCol="0" anchor="ctr"/>
          <a:lstStyle/>
          <a:p>
            <a:pPr indent="0" marL="0">
              <a:buNone/>
            </a:pPr>
            <a:r>
              <a:rPr lang="en-US" sz="1800" dirty="0">
                <a:solidFill>
                  <a:srgbClr val="FFFFFF"/>
                </a:solidFill>
                <a:latin typeface="Switzer Semibold" pitchFamily="34" charset="0"/>
                <a:ea typeface="Switzer Semibold" pitchFamily="34" charset="-122"/>
                <a:cs typeface="Switzer Semibold" pitchFamily="34" charset="-120"/>
              </a:rPr>
              <a:t>Five services from the existing slices</a:t>
            </a:r>
            <a:endParaRPr lang="en-US" sz="1800" dirty="0"/>
          </a:p>
        </p:txBody>
      </p:sp>
      <p:sp>
        <p:nvSpPr>
          <p:cNvPr id="14" name="Text 12"/>
          <p:cNvSpPr txBox="1"/>
          <p:nvPr/>
        </p:nvSpPr>
        <p:spPr>
          <a:xfrm>
            <a:off x="6583680" y="2130552"/>
            <a:ext cx="4873752" cy="621792"/>
          </a:xfrm>
          <a:prstGeom prst="rect">
            <a:avLst/>
          </a:prstGeom>
          <a:noFill/>
          <a:ln/>
        </p:spPr>
        <p:txBody>
          <a:bodyPr wrap="square" lIns="0" tIns="0" rIns="0" bIns="0" rtlCol="0" anchor="ctr"/>
          <a:lstStyle/>
          <a:p>
            <a:pPr indent="0" marL="0">
              <a:buNone/>
            </a:pPr>
            <a:r>
              <a:rPr lang="en-US" sz="1700" dirty="0">
                <a:solidFill>
                  <a:srgbClr val="9A9DA3"/>
                </a:solidFill>
                <a:latin typeface="Switzer" pitchFamily="34" charset="0"/>
                <a:ea typeface="Switzer" pitchFamily="34" charset="-122"/>
                <a:cs typeface="Switzer" pitchFamily="34" charset="-120"/>
              </a:rPr>
              <a:t>eight new services</a:t>
            </a:r>
            <a:endParaRPr lang="en-US" sz="1700" dirty="0"/>
          </a:p>
        </p:txBody>
      </p:sp>
      <p:sp>
        <p:nvSpPr>
          <p:cNvPr id="15" name="Shape 13"/>
          <p:cNvSpPr/>
          <p:nvPr/>
        </p:nvSpPr>
        <p:spPr>
          <a:xfrm>
            <a:off x="548640" y="2788920"/>
            <a:ext cx="11091672" cy="9144"/>
          </a:xfrm>
          <a:prstGeom prst="rect">
            <a:avLst/>
          </a:prstGeom>
          <a:solidFill>
            <a:srgbClr val="45484C"/>
          </a:solidFill>
          <a:ln/>
        </p:spPr>
      </p:sp>
      <p:sp>
        <p:nvSpPr>
          <p:cNvPr id="16" name="Text 14"/>
          <p:cNvSpPr txBox="1"/>
          <p:nvPr/>
        </p:nvSpPr>
        <p:spPr>
          <a:xfrm>
            <a:off x="548640" y="2843784"/>
            <a:ext cx="5852160" cy="621792"/>
          </a:xfrm>
          <a:prstGeom prst="rect">
            <a:avLst/>
          </a:prstGeom>
          <a:noFill/>
          <a:ln/>
        </p:spPr>
        <p:txBody>
          <a:bodyPr wrap="square" lIns="0" tIns="0" rIns="0" bIns="0" rtlCol="0" anchor="ctr"/>
          <a:lstStyle/>
          <a:p>
            <a:pPr indent="0" marL="0">
              <a:buNone/>
            </a:pPr>
            <a:r>
              <a:rPr lang="en-US" sz="1800" dirty="0">
                <a:solidFill>
                  <a:srgbClr val="FFFFFF"/>
                </a:solidFill>
                <a:latin typeface="Switzer Semibold" pitchFamily="34" charset="0"/>
                <a:ea typeface="Switzer Semibold" pitchFamily="34" charset="-122"/>
                <a:cs typeface="Switzer Semibold" pitchFamily="34" charset="-120"/>
              </a:rPr>
              <a:t>A turn goes to a worker on a durable queue</a:t>
            </a:r>
            <a:endParaRPr lang="en-US" sz="1800" dirty="0"/>
          </a:p>
        </p:txBody>
      </p:sp>
      <p:sp>
        <p:nvSpPr>
          <p:cNvPr id="17" name="Text 15"/>
          <p:cNvSpPr txBox="1"/>
          <p:nvPr/>
        </p:nvSpPr>
        <p:spPr>
          <a:xfrm>
            <a:off x="6583680" y="2843784"/>
            <a:ext cx="4873752" cy="621792"/>
          </a:xfrm>
          <a:prstGeom prst="rect">
            <a:avLst/>
          </a:prstGeom>
          <a:noFill/>
          <a:ln/>
        </p:spPr>
        <p:txBody>
          <a:bodyPr wrap="square" lIns="0" tIns="0" rIns="0" bIns="0" rtlCol="0" anchor="ctr"/>
          <a:lstStyle/>
          <a:p>
            <a:pPr indent="0" marL="0">
              <a:buNone/>
            </a:pPr>
            <a:r>
              <a:rPr lang="en-US" sz="1700" dirty="0">
                <a:solidFill>
                  <a:srgbClr val="9A9DA3"/>
                </a:solidFill>
                <a:latin typeface="Switzer" pitchFamily="34" charset="0"/>
                <a:ea typeface="Switzer" pitchFamily="34" charset="-122"/>
                <a:cs typeface="Switzer" pitchFamily="34" charset="-120"/>
              </a:rPr>
              <a:t>a direct HTTP call</a:t>
            </a:r>
            <a:endParaRPr lang="en-US" sz="1700" dirty="0"/>
          </a:p>
        </p:txBody>
      </p:sp>
      <p:sp>
        <p:nvSpPr>
          <p:cNvPr id="18" name="Shape 16"/>
          <p:cNvSpPr/>
          <p:nvPr/>
        </p:nvSpPr>
        <p:spPr>
          <a:xfrm>
            <a:off x="548640" y="3502152"/>
            <a:ext cx="11091672" cy="9144"/>
          </a:xfrm>
          <a:prstGeom prst="rect">
            <a:avLst/>
          </a:prstGeom>
          <a:solidFill>
            <a:srgbClr val="45484C"/>
          </a:solidFill>
          <a:ln/>
        </p:spPr>
      </p:sp>
      <p:sp>
        <p:nvSpPr>
          <p:cNvPr id="19" name="Text 17"/>
          <p:cNvSpPr txBox="1"/>
          <p:nvPr/>
        </p:nvSpPr>
        <p:spPr>
          <a:xfrm>
            <a:off x="548640" y="3557016"/>
            <a:ext cx="5852160" cy="621792"/>
          </a:xfrm>
          <a:prstGeom prst="rect">
            <a:avLst/>
          </a:prstGeom>
          <a:noFill/>
          <a:ln/>
        </p:spPr>
        <p:txBody>
          <a:bodyPr wrap="square" lIns="0" tIns="0" rIns="0" bIns="0" rtlCol="0" anchor="ctr"/>
          <a:lstStyle/>
          <a:p>
            <a:pPr indent="0" marL="0">
              <a:buNone/>
            </a:pPr>
            <a:r>
              <a:rPr lang="en-US" sz="1800" dirty="0">
                <a:solidFill>
                  <a:srgbClr val="FFFFFF"/>
                </a:solidFill>
                <a:latin typeface="Switzer Semibold" pitchFamily="34" charset="0"/>
                <a:ea typeface="Switzer Semibold" pitchFamily="34" charset="-122"/>
                <a:cs typeface="Switzer Semibold" pitchFamily="34" charset="-120"/>
              </a:rPr>
              <a:t>A queue for each level of the tree</a:t>
            </a:r>
            <a:endParaRPr lang="en-US" sz="1800" dirty="0"/>
          </a:p>
        </p:txBody>
      </p:sp>
      <p:sp>
        <p:nvSpPr>
          <p:cNvPr id="20" name="Text 18"/>
          <p:cNvSpPr txBox="1"/>
          <p:nvPr/>
        </p:nvSpPr>
        <p:spPr>
          <a:xfrm>
            <a:off x="6583680" y="3557016"/>
            <a:ext cx="4873752" cy="621792"/>
          </a:xfrm>
          <a:prstGeom prst="rect">
            <a:avLst/>
          </a:prstGeom>
          <a:noFill/>
          <a:ln/>
        </p:spPr>
        <p:txBody>
          <a:bodyPr wrap="square" lIns="0" tIns="0" rIns="0" bIns="0" rtlCol="0" anchor="ctr"/>
          <a:lstStyle/>
          <a:p>
            <a:pPr indent="0" marL="0">
              <a:buNone/>
            </a:pPr>
            <a:r>
              <a:rPr lang="en-US" sz="1700" dirty="0">
                <a:solidFill>
                  <a:srgbClr val="9A9DA3"/>
                </a:solidFill>
                <a:latin typeface="Switzer" pitchFamily="34" charset="0"/>
                <a:ea typeface="Switzer" pitchFamily="34" charset="-122"/>
                <a:cs typeface="Switzer" pitchFamily="34" charset="-120"/>
              </a:rPr>
              <a:t>one queue</a:t>
            </a:r>
            <a:endParaRPr lang="en-US" sz="1700" dirty="0"/>
          </a:p>
        </p:txBody>
      </p:sp>
      <p:sp>
        <p:nvSpPr>
          <p:cNvPr id="21" name="Shape 19"/>
          <p:cNvSpPr/>
          <p:nvPr/>
        </p:nvSpPr>
        <p:spPr>
          <a:xfrm>
            <a:off x="548640" y="4215384"/>
            <a:ext cx="11091672" cy="9144"/>
          </a:xfrm>
          <a:prstGeom prst="rect">
            <a:avLst/>
          </a:prstGeom>
          <a:solidFill>
            <a:srgbClr val="45484C"/>
          </a:solidFill>
          <a:ln/>
        </p:spPr>
      </p:sp>
      <p:sp>
        <p:nvSpPr>
          <p:cNvPr id="22" name="Text 20"/>
          <p:cNvSpPr txBox="1"/>
          <p:nvPr/>
        </p:nvSpPr>
        <p:spPr>
          <a:xfrm>
            <a:off x="548640" y="4270248"/>
            <a:ext cx="5852160" cy="621792"/>
          </a:xfrm>
          <a:prstGeom prst="rect">
            <a:avLst/>
          </a:prstGeom>
          <a:noFill/>
          <a:ln/>
        </p:spPr>
        <p:txBody>
          <a:bodyPr wrap="square" lIns="0" tIns="0" rIns="0" bIns="0" rtlCol="0" anchor="ctr"/>
          <a:lstStyle/>
          <a:p>
            <a:pPr indent="0" marL="0">
              <a:buNone/>
            </a:pPr>
            <a:r>
              <a:rPr lang="en-US" sz="1800" dirty="0">
                <a:solidFill>
                  <a:srgbClr val="FFFFFF"/>
                </a:solidFill>
                <a:latin typeface="Switzer Semibold" pitchFamily="34" charset="0"/>
                <a:ea typeface="Switzer Semibold" pitchFamily="34" charset="-122"/>
                <a:cs typeface="Switzer Semibold" pitchFamily="34" charset="-120"/>
              </a:rPr>
              <a:t>Only session writes the trace</a:t>
            </a:r>
            <a:endParaRPr lang="en-US" sz="1800" dirty="0"/>
          </a:p>
        </p:txBody>
      </p:sp>
      <p:sp>
        <p:nvSpPr>
          <p:cNvPr id="23" name="Text 21"/>
          <p:cNvSpPr txBox="1"/>
          <p:nvPr/>
        </p:nvSpPr>
        <p:spPr>
          <a:xfrm>
            <a:off x="6583680" y="4270248"/>
            <a:ext cx="4873752" cy="621792"/>
          </a:xfrm>
          <a:prstGeom prst="rect">
            <a:avLst/>
          </a:prstGeom>
          <a:noFill/>
          <a:ln/>
        </p:spPr>
        <p:txBody>
          <a:bodyPr wrap="square" lIns="0" tIns="0" rIns="0" bIns="0" rtlCol="0" anchor="ctr"/>
          <a:lstStyle/>
          <a:p>
            <a:pPr indent="0" marL="0">
              <a:buNone/>
            </a:pPr>
            <a:r>
              <a:rPr lang="en-US" sz="1700" dirty="0">
                <a:solidFill>
                  <a:srgbClr val="9A9DA3"/>
                </a:solidFill>
                <a:latin typeface="Switzer" pitchFamily="34" charset="0"/>
                <a:ea typeface="Switzer" pitchFamily="34" charset="-122"/>
                <a:cs typeface="Switzer" pitchFamily="34" charset="-120"/>
              </a:rPr>
              <a:t>workers write to the database</a:t>
            </a:r>
            <a:endParaRPr lang="en-US" sz="1700" dirty="0"/>
          </a:p>
        </p:txBody>
      </p:sp>
      <p:sp>
        <p:nvSpPr>
          <p:cNvPr id="24" name="Shape 22"/>
          <p:cNvSpPr/>
          <p:nvPr/>
        </p:nvSpPr>
        <p:spPr>
          <a:xfrm>
            <a:off x="548640" y="4928616"/>
            <a:ext cx="11091672" cy="9144"/>
          </a:xfrm>
          <a:prstGeom prst="rect">
            <a:avLst/>
          </a:prstGeom>
          <a:solidFill>
            <a:srgbClr val="45484C"/>
          </a:solidFill>
          <a:ln/>
        </p:spPr>
      </p:sp>
      <p:sp>
        <p:nvSpPr>
          <p:cNvPr id="25" name="Text 23"/>
          <p:cNvSpPr txBox="1"/>
          <p:nvPr/>
        </p:nvSpPr>
        <p:spPr>
          <a:xfrm>
            <a:off x="548640" y="4983480"/>
            <a:ext cx="5852160" cy="621792"/>
          </a:xfrm>
          <a:prstGeom prst="rect">
            <a:avLst/>
          </a:prstGeom>
          <a:noFill/>
          <a:ln/>
        </p:spPr>
        <p:txBody>
          <a:bodyPr wrap="square" lIns="0" tIns="0" rIns="0" bIns="0" rtlCol="0" anchor="ctr"/>
          <a:lstStyle/>
          <a:p>
            <a:pPr indent="0" marL="0">
              <a:buNone/>
            </a:pPr>
            <a:r>
              <a:rPr lang="en-US" sz="1800" dirty="0">
                <a:solidFill>
                  <a:srgbClr val="FFFFFF"/>
                </a:solidFill>
                <a:latin typeface="Switzer Semibold" pitchFamily="34" charset="0"/>
                <a:ea typeface="Switzer Semibold" pitchFamily="34" charset="-122"/>
                <a:cs typeface="Switzer Semibold" pitchFamily="34" charset="-120"/>
              </a:rPr>
              <a:t>One shared database</a:t>
            </a:r>
            <a:endParaRPr lang="en-US" sz="1800" dirty="0"/>
          </a:p>
        </p:txBody>
      </p:sp>
      <p:sp>
        <p:nvSpPr>
          <p:cNvPr id="26" name="Text 24"/>
          <p:cNvSpPr txBox="1"/>
          <p:nvPr/>
        </p:nvSpPr>
        <p:spPr>
          <a:xfrm>
            <a:off x="6583680" y="4983480"/>
            <a:ext cx="4873752" cy="621792"/>
          </a:xfrm>
          <a:prstGeom prst="rect">
            <a:avLst/>
          </a:prstGeom>
          <a:noFill/>
          <a:ln/>
        </p:spPr>
        <p:txBody>
          <a:bodyPr wrap="square" lIns="0" tIns="0" rIns="0" bIns="0" rtlCol="0" anchor="ctr"/>
          <a:lstStyle/>
          <a:p>
            <a:pPr indent="0" marL="0">
              <a:buNone/>
            </a:pPr>
            <a:r>
              <a:rPr lang="en-US" sz="1700" dirty="0">
                <a:solidFill>
                  <a:srgbClr val="9A9DA3"/>
                </a:solidFill>
                <a:latin typeface="Switzer" pitchFamily="34" charset="0"/>
                <a:ea typeface="Switzer" pitchFamily="34" charset="-122"/>
                <a:cs typeface="Switzer" pitchFamily="34" charset="-120"/>
              </a:rPr>
              <a:t>a database per service</a:t>
            </a:r>
            <a:endParaRPr lang="en-US" sz="1700" dirty="0"/>
          </a:p>
        </p:txBody>
      </p:sp>
      <p:sp>
        <p:nvSpPr>
          <p:cNvPr id="27" name="Shape 25"/>
          <p:cNvSpPr/>
          <p:nvPr/>
        </p:nvSpPr>
        <p:spPr>
          <a:xfrm>
            <a:off x="548640" y="5641848"/>
            <a:ext cx="11091672" cy="9144"/>
          </a:xfrm>
          <a:prstGeom prst="rect">
            <a:avLst/>
          </a:prstGeom>
          <a:solidFill>
            <a:srgbClr val="45484C"/>
          </a:solidFill>
          <a:ln/>
        </p:spPr>
      </p:sp>
      <p:sp>
        <p:nvSpPr>
          <p:cNvPr id="28" name="Text 26"/>
          <p:cNvSpPr txBox="1"/>
          <p:nvPr/>
        </p:nvSpPr>
        <p:spPr>
          <a:xfrm>
            <a:off x="548640" y="5696712"/>
            <a:ext cx="5852160" cy="621792"/>
          </a:xfrm>
          <a:prstGeom prst="rect">
            <a:avLst/>
          </a:prstGeom>
          <a:noFill/>
          <a:ln/>
        </p:spPr>
        <p:txBody>
          <a:bodyPr wrap="square" lIns="0" tIns="0" rIns="0" bIns="0" rtlCol="0" anchor="ctr"/>
          <a:lstStyle/>
          <a:p>
            <a:pPr indent="0" marL="0">
              <a:buNone/>
            </a:pPr>
            <a:r>
              <a:rPr lang="en-US" sz="1800" dirty="0">
                <a:solidFill>
                  <a:srgbClr val="FFFFFF"/>
                </a:solidFill>
                <a:latin typeface="Switzer Semibold" pitchFamily="34" charset="0"/>
                <a:ea typeface="Switzer Semibold" pitchFamily="34" charset="-122"/>
                <a:cs typeface="Switzer Semibold" pitchFamily="34" charset="-120"/>
              </a:rPr>
              <a:t>A versioned API with scoped keys</a:t>
            </a:r>
            <a:endParaRPr lang="en-US" sz="1800" dirty="0"/>
          </a:p>
        </p:txBody>
      </p:sp>
      <p:sp>
        <p:nvSpPr>
          <p:cNvPr id="29" name="Text 27"/>
          <p:cNvSpPr txBox="1"/>
          <p:nvPr/>
        </p:nvSpPr>
        <p:spPr>
          <a:xfrm>
            <a:off x="6583680" y="5696712"/>
            <a:ext cx="4873752" cy="621792"/>
          </a:xfrm>
          <a:prstGeom prst="rect">
            <a:avLst/>
          </a:prstGeom>
          <a:noFill/>
          <a:ln/>
        </p:spPr>
        <p:txBody>
          <a:bodyPr wrap="square" lIns="0" tIns="0" rIns="0" bIns="0" rtlCol="0" anchor="ctr"/>
          <a:lstStyle/>
          <a:p>
            <a:pPr indent="0" marL="0">
              <a:buNone/>
            </a:pPr>
            <a:r>
              <a:rPr lang="en-US" sz="1700" dirty="0">
                <a:solidFill>
                  <a:srgbClr val="9A9DA3"/>
                </a:solidFill>
                <a:latin typeface="Switzer" pitchFamily="34" charset="0"/>
                <a:ea typeface="Switzer" pitchFamily="34" charset="-122"/>
                <a:cs typeface="Switzer" pitchFamily="34" charset="-120"/>
              </a:rPr>
              <a:t>the web cookie for apps too</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Logical  ·  Domain-driven design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How we found the contexts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sp>
        <p:nvSpPr>
          <p:cNvPr id="10" name="Text 8"/>
          <p:cNvSpPr txBox="1"/>
          <p:nvPr/>
        </p:nvSpPr>
        <p:spPr>
          <a:xfrm>
            <a:off x="548640" y="1600200"/>
            <a:ext cx="11064240" cy="320040"/>
          </a:xfrm>
          <a:prstGeom prst="rect">
            <a:avLst/>
          </a:prstGeom>
          <a:noFill/>
          <a:ln/>
        </p:spPr>
        <p:txBody>
          <a:bodyPr wrap="square" lIns="0" tIns="0" rIns="0" bIns="0" rtlCol="0" anchor="t"/>
          <a:lstStyle/>
          <a:p>
            <a:pPr indent="0" marL="0">
              <a:buNone/>
            </a:pPr>
            <a:r>
              <a:rPr lang="en-US" sz="1500" dirty="0">
                <a:solidFill>
                  <a:srgbClr val="9A9DA3"/>
                </a:solidFill>
                <a:latin typeface="Switzer" pitchFamily="34" charset="0"/>
                <a:ea typeface="Switzer" pitchFamily="34" charset="-122"/>
                <a:cs typeface="Switzer" pitchFamily="34" charset="-120"/>
              </a:rPr>
              <a:t>list what users do   →   group the words they use   →   find what one transaction keeps consistent</a:t>
            </a:r>
            <a:endParaRPr lang="en-US" sz="1500" dirty="0"/>
          </a:p>
        </p:txBody>
      </p:sp>
      <p:sp>
        <p:nvSpPr>
          <p:cNvPr id="11" name="Text 9"/>
          <p:cNvSpPr txBox="1"/>
          <p:nvPr/>
        </p:nvSpPr>
        <p:spPr>
          <a:xfrm>
            <a:off x="548640" y="2057400"/>
            <a:ext cx="3108960"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what users do</a:t>
            </a:r>
            <a:endParaRPr lang="en-US" sz="1400" dirty="0"/>
          </a:p>
        </p:txBody>
      </p:sp>
      <p:sp>
        <p:nvSpPr>
          <p:cNvPr id="12" name="Text 10"/>
          <p:cNvSpPr txBox="1"/>
          <p:nvPr/>
        </p:nvSpPr>
        <p:spPr>
          <a:xfrm>
            <a:off x="3840480" y="2057400"/>
            <a:ext cx="2926080"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the words they use</a:t>
            </a:r>
            <a:endParaRPr lang="en-US" sz="1400" dirty="0"/>
          </a:p>
        </p:txBody>
      </p:sp>
      <p:sp>
        <p:nvSpPr>
          <p:cNvPr id="13" name="Text 11"/>
          <p:cNvSpPr txBox="1"/>
          <p:nvPr/>
        </p:nvSpPr>
        <p:spPr>
          <a:xfrm>
            <a:off x="6949440" y="2057400"/>
            <a:ext cx="1737360"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context</a:t>
            </a:r>
            <a:endParaRPr lang="en-US" sz="1400" dirty="0"/>
          </a:p>
        </p:txBody>
      </p:sp>
      <p:sp>
        <p:nvSpPr>
          <p:cNvPr id="14" name="Text 12"/>
          <p:cNvSpPr txBox="1"/>
          <p:nvPr/>
        </p:nvSpPr>
        <p:spPr>
          <a:xfrm>
            <a:off x="8869680" y="2057400"/>
            <a:ext cx="2587752"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aggregate</a:t>
            </a:r>
            <a:endParaRPr lang="en-US" sz="1400" dirty="0"/>
          </a:p>
        </p:txBody>
      </p:sp>
      <p:sp>
        <p:nvSpPr>
          <p:cNvPr id="15" name="Shape 13"/>
          <p:cNvSpPr/>
          <p:nvPr/>
        </p:nvSpPr>
        <p:spPr>
          <a:xfrm>
            <a:off x="548640" y="2441448"/>
            <a:ext cx="11091672" cy="9144"/>
          </a:xfrm>
          <a:prstGeom prst="rect">
            <a:avLst/>
          </a:prstGeom>
          <a:solidFill>
            <a:srgbClr val="45484C"/>
          </a:solidFill>
          <a:ln/>
        </p:spPr>
      </p:sp>
      <p:sp>
        <p:nvSpPr>
          <p:cNvPr id="16" name="Text 14"/>
          <p:cNvSpPr txBox="1"/>
          <p:nvPr/>
        </p:nvSpPr>
        <p:spPr>
          <a:xfrm>
            <a:off x="548640" y="2496312"/>
            <a:ext cx="3108960" cy="640080"/>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sign up, make API keys</a:t>
            </a:r>
            <a:endParaRPr lang="en-US" sz="1600" dirty="0"/>
          </a:p>
        </p:txBody>
      </p:sp>
      <p:sp>
        <p:nvSpPr>
          <p:cNvPr id="17" name="Text 15"/>
          <p:cNvSpPr txBox="1"/>
          <p:nvPr/>
        </p:nvSpPr>
        <p:spPr>
          <a:xfrm>
            <a:off x="3840480" y="2496312"/>
            <a:ext cx="2926080" cy="640080"/>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account, key, scope</a:t>
            </a:r>
            <a:endParaRPr lang="en-US" sz="1600" dirty="0"/>
          </a:p>
        </p:txBody>
      </p:sp>
      <p:sp>
        <p:nvSpPr>
          <p:cNvPr id="18" name="Text 16"/>
          <p:cNvSpPr txBox="1"/>
          <p:nvPr/>
        </p:nvSpPr>
        <p:spPr>
          <a:xfrm>
            <a:off x="6949440" y="2496312"/>
            <a:ext cx="1737360" cy="640080"/>
          </a:xfrm>
          <a:prstGeom prst="rect">
            <a:avLst/>
          </a:prstGeom>
          <a:noFill/>
          <a:ln/>
        </p:spPr>
        <p:txBody>
          <a:bodyPr wrap="square" lIns="0" tIns="0" rIns="0" bIns="0" rtlCol="0" anchor="ctr"/>
          <a:lstStyle/>
          <a:p>
            <a:pPr indent="0" marL="0">
              <a:buNone/>
            </a:pPr>
            <a:r>
              <a:rPr lang="en-US" sz="1800" dirty="0">
                <a:solidFill>
                  <a:srgbClr val="FFFFFF"/>
                </a:solidFill>
                <a:latin typeface="Switzer Semibold" pitchFamily="34" charset="0"/>
                <a:ea typeface="Switzer Semibold" pitchFamily="34" charset="-122"/>
                <a:cs typeface="Switzer Semibold" pitchFamily="34" charset="-120"/>
              </a:rPr>
              <a:t>Identity</a:t>
            </a:r>
            <a:endParaRPr lang="en-US" sz="1800" dirty="0"/>
          </a:p>
        </p:txBody>
      </p:sp>
      <p:sp>
        <p:nvSpPr>
          <p:cNvPr id="19" name="Text 17"/>
          <p:cNvSpPr txBox="1"/>
          <p:nvPr/>
        </p:nvSpPr>
        <p:spPr>
          <a:xfrm>
            <a:off x="8869680" y="2496312"/>
            <a:ext cx="2587752" cy="640080"/>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Account, ApiKey</a:t>
            </a:r>
            <a:endParaRPr lang="en-US" sz="1600" dirty="0"/>
          </a:p>
        </p:txBody>
      </p:sp>
      <p:sp>
        <p:nvSpPr>
          <p:cNvPr id="20" name="Shape 18"/>
          <p:cNvSpPr/>
          <p:nvPr/>
        </p:nvSpPr>
        <p:spPr>
          <a:xfrm>
            <a:off x="548640" y="3172968"/>
            <a:ext cx="11091672" cy="9144"/>
          </a:xfrm>
          <a:prstGeom prst="rect">
            <a:avLst/>
          </a:prstGeom>
          <a:solidFill>
            <a:srgbClr val="45484C"/>
          </a:solidFill>
          <a:ln/>
        </p:spPr>
      </p:sp>
      <p:sp>
        <p:nvSpPr>
          <p:cNvPr id="21" name="Text 19"/>
          <p:cNvSpPr txBox="1"/>
          <p:nvPr/>
        </p:nvSpPr>
        <p:spPr>
          <a:xfrm>
            <a:off x="548640" y="3227832"/>
            <a:ext cx="3108960" cy="640080"/>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publish an agent, ask a question</a:t>
            </a:r>
            <a:endParaRPr lang="en-US" sz="1600" dirty="0"/>
          </a:p>
        </p:txBody>
      </p:sp>
      <p:sp>
        <p:nvSpPr>
          <p:cNvPr id="22" name="Text 20"/>
          <p:cNvSpPr txBox="1"/>
          <p:nvPr/>
        </p:nvSpPr>
        <p:spPr>
          <a:xfrm>
            <a:off x="3840480" y="3227832"/>
            <a:ext cx="2926080" cy="640080"/>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agent, project, finding</a:t>
            </a:r>
            <a:endParaRPr lang="en-US" sz="1600" dirty="0"/>
          </a:p>
        </p:txBody>
      </p:sp>
      <p:sp>
        <p:nvSpPr>
          <p:cNvPr id="23" name="Text 21"/>
          <p:cNvSpPr txBox="1"/>
          <p:nvPr/>
        </p:nvSpPr>
        <p:spPr>
          <a:xfrm>
            <a:off x="6949440" y="3227832"/>
            <a:ext cx="1737360" cy="640080"/>
          </a:xfrm>
          <a:prstGeom prst="rect">
            <a:avLst/>
          </a:prstGeom>
          <a:noFill/>
          <a:ln/>
        </p:spPr>
        <p:txBody>
          <a:bodyPr wrap="square" lIns="0" tIns="0" rIns="0" bIns="0" rtlCol="0" anchor="ctr"/>
          <a:lstStyle/>
          <a:p>
            <a:pPr indent="0" marL="0">
              <a:buNone/>
            </a:pPr>
            <a:r>
              <a:rPr lang="en-US" sz="1800" dirty="0">
                <a:solidFill>
                  <a:srgbClr val="FFFFFF"/>
                </a:solidFill>
                <a:latin typeface="Switzer Semibold" pitchFamily="34" charset="0"/>
                <a:ea typeface="Switzer Semibold" pitchFamily="34" charset="-122"/>
                <a:cs typeface="Switzer Semibold" pitchFamily="34" charset="-120"/>
              </a:rPr>
              <a:t>Projects</a:t>
            </a:r>
            <a:endParaRPr lang="en-US" sz="1800" dirty="0"/>
          </a:p>
        </p:txBody>
      </p:sp>
      <p:sp>
        <p:nvSpPr>
          <p:cNvPr id="24" name="Text 22"/>
          <p:cNvSpPr txBox="1"/>
          <p:nvPr/>
        </p:nvSpPr>
        <p:spPr>
          <a:xfrm>
            <a:off x="8869680" y="3227832"/>
            <a:ext cx="2587752" cy="640080"/>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Agent, Project</a:t>
            </a:r>
            <a:endParaRPr lang="en-US" sz="1600" dirty="0"/>
          </a:p>
        </p:txBody>
      </p:sp>
      <p:sp>
        <p:nvSpPr>
          <p:cNvPr id="25" name="Shape 23"/>
          <p:cNvSpPr/>
          <p:nvPr/>
        </p:nvSpPr>
        <p:spPr>
          <a:xfrm>
            <a:off x="548640" y="3904488"/>
            <a:ext cx="11091672" cy="9144"/>
          </a:xfrm>
          <a:prstGeom prst="rect">
            <a:avLst/>
          </a:prstGeom>
          <a:solidFill>
            <a:srgbClr val="45484C"/>
          </a:solidFill>
          <a:ln/>
        </p:spPr>
      </p:sp>
      <p:sp>
        <p:nvSpPr>
          <p:cNvPr id="26" name="Text 24"/>
          <p:cNvSpPr txBox="1"/>
          <p:nvPr/>
        </p:nvSpPr>
        <p:spPr>
          <a:xfrm>
            <a:off x="548640" y="3959352"/>
            <a:ext cx="3108960" cy="640080"/>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watch the run, steer it</a:t>
            </a:r>
            <a:endParaRPr lang="en-US" sz="1600" dirty="0"/>
          </a:p>
        </p:txBody>
      </p:sp>
      <p:sp>
        <p:nvSpPr>
          <p:cNvPr id="27" name="Text 25"/>
          <p:cNvSpPr txBox="1"/>
          <p:nvPr/>
        </p:nvSpPr>
        <p:spPr>
          <a:xfrm>
            <a:off x="3840480" y="3959352"/>
            <a:ext cx="2926080" cy="640080"/>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session, task, step</a:t>
            </a:r>
            <a:endParaRPr lang="en-US" sz="1600" dirty="0"/>
          </a:p>
        </p:txBody>
      </p:sp>
      <p:sp>
        <p:nvSpPr>
          <p:cNvPr id="28" name="Text 26"/>
          <p:cNvSpPr txBox="1"/>
          <p:nvPr/>
        </p:nvSpPr>
        <p:spPr>
          <a:xfrm>
            <a:off x="6949440" y="3959352"/>
            <a:ext cx="1737360" cy="640080"/>
          </a:xfrm>
          <a:prstGeom prst="rect">
            <a:avLst/>
          </a:prstGeom>
          <a:noFill/>
          <a:ln/>
        </p:spPr>
        <p:txBody>
          <a:bodyPr wrap="square" lIns="0" tIns="0" rIns="0" bIns="0" rtlCol="0" anchor="ctr"/>
          <a:lstStyle/>
          <a:p>
            <a:pPr indent="0" marL="0">
              <a:buNone/>
            </a:pPr>
            <a:r>
              <a:rPr lang="en-US" sz="1800" dirty="0">
                <a:solidFill>
                  <a:srgbClr val="FFFFFF"/>
                </a:solidFill>
                <a:latin typeface="Switzer Semibold" pitchFamily="34" charset="0"/>
                <a:ea typeface="Switzer Semibold" pitchFamily="34" charset="-122"/>
                <a:cs typeface="Switzer Semibold" pitchFamily="34" charset="-120"/>
              </a:rPr>
              <a:t>Session</a:t>
            </a:r>
            <a:endParaRPr lang="en-US" sz="1800" dirty="0"/>
          </a:p>
        </p:txBody>
      </p:sp>
      <p:sp>
        <p:nvSpPr>
          <p:cNvPr id="29" name="Text 27"/>
          <p:cNvSpPr txBox="1"/>
          <p:nvPr/>
        </p:nvSpPr>
        <p:spPr>
          <a:xfrm>
            <a:off x="8869680" y="3959352"/>
            <a:ext cx="2587752" cy="640080"/>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Session and its task tree</a:t>
            </a:r>
            <a:endParaRPr lang="en-US" sz="1600" dirty="0"/>
          </a:p>
        </p:txBody>
      </p:sp>
      <p:sp>
        <p:nvSpPr>
          <p:cNvPr id="30" name="Shape 28"/>
          <p:cNvSpPr/>
          <p:nvPr/>
        </p:nvSpPr>
        <p:spPr>
          <a:xfrm>
            <a:off x="548640" y="4636008"/>
            <a:ext cx="11091672" cy="9144"/>
          </a:xfrm>
          <a:prstGeom prst="rect">
            <a:avLst/>
          </a:prstGeom>
          <a:solidFill>
            <a:srgbClr val="45484C"/>
          </a:solidFill>
          <a:ln/>
        </p:spPr>
      </p:sp>
      <p:sp>
        <p:nvSpPr>
          <p:cNvPr id="31" name="Text 29"/>
          <p:cNvSpPr txBox="1"/>
          <p:nvPr/>
        </p:nvSpPr>
        <p:spPr>
          <a:xfrm>
            <a:off x="548640" y="4690872"/>
            <a:ext cx="3108960" cy="640080"/>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run the agents</a:t>
            </a:r>
            <a:endParaRPr lang="en-US" sz="1600" dirty="0"/>
          </a:p>
        </p:txBody>
      </p:sp>
      <p:sp>
        <p:nvSpPr>
          <p:cNvPr id="32" name="Text 30"/>
          <p:cNvSpPr txBox="1"/>
          <p:nvPr/>
        </p:nvSpPr>
        <p:spPr>
          <a:xfrm>
            <a:off x="3840480" y="4690872"/>
            <a:ext cx="2926080" cy="640080"/>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reader, tool, sandbox</a:t>
            </a:r>
            <a:endParaRPr lang="en-US" sz="1600" dirty="0"/>
          </a:p>
        </p:txBody>
      </p:sp>
      <p:sp>
        <p:nvSpPr>
          <p:cNvPr id="33" name="Text 31"/>
          <p:cNvSpPr txBox="1"/>
          <p:nvPr/>
        </p:nvSpPr>
        <p:spPr>
          <a:xfrm>
            <a:off x="6949440" y="4690872"/>
            <a:ext cx="1737360" cy="640080"/>
          </a:xfrm>
          <a:prstGeom prst="rect">
            <a:avLst/>
          </a:prstGeom>
          <a:noFill/>
          <a:ln/>
        </p:spPr>
        <p:txBody>
          <a:bodyPr wrap="square" lIns="0" tIns="0" rIns="0" bIns="0" rtlCol="0" anchor="ctr"/>
          <a:lstStyle/>
          <a:p>
            <a:pPr indent="0" marL="0">
              <a:buNone/>
            </a:pPr>
            <a:r>
              <a:rPr lang="en-US" sz="1800" dirty="0">
                <a:solidFill>
                  <a:srgbClr val="FFFFFF"/>
                </a:solidFill>
                <a:latin typeface="Switzer Semibold" pitchFamily="34" charset="0"/>
                <a:ea typeface="Switzer Semibold" pitchFamily="34" charset="-122"/>
                <a:cs typeface="Switzer Semibold" pitchFamily="34" charset="-120"/>
              </a:rPr>
              <a:t>Execution</a:t>
            </a:r>
            <a:endParaRPr lang="en-US" sz="1800" dirty="0"/>
          </a:p>
        </p:txBody>
      </p:sp>
      <p:sp>
        <p:nvSpPr>
          <p:cNvPr id="34" name="Text 32"/>
          <p:cNvSpPr txBox="1"/>
          <p:nvPr/>
        </p:nvSpPr>
        <p:spPr>
          <a:xfrm>
            <a:off x="8869680" y="4690872"/>
            <a:ext cx="2587752" cy="640080"/>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none: it keeps no state</a:t>
            </a:r>
            <a:endParaRPr lang="en-US" sz="1600" dirty="0"/>
          </a:p>
        </p:txBody>
      </p:sp>
      <p:sp>
        <p:nvSpPr>
          <p:cNvPr id="35" name="Shape 33"/>
          <p:cNvSpPr/>
          <p:nvPr/>
        </p:nvSpPr>
        <p:spPr>
          <a:xfrm>
            <a:off x="548640" y="5367528"/>
            <a:ext cx="11091672" cy="9144"/>
          </a:xfrm>
          <a:prstGeom prst="rect">
            <a:avLst/>
          </a:prstGeom>
          <a:solidFill>
            <a:srgbClr val="45484C"/>
          </a:solidFill>
          <a:ln/>
        </p:spPr>
      </p:sp>
      <p:sp>
        <p:nvSpPr>
          <p:cNvPr id="36" name="Text 34"/>
          <p:cNvSpPr txBox="1"/>
          <p:nvPr/>
        </p:nvSpPr>
        <p:spPr>
          <a:xfrm>
            <a:off x="548640" y="5422392"/>
            <a:ext cx="3108960" cy="640080"/>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set a cap, approve a step</a:t>
            </a:r>
            <a:endParaRPr lang="en-US" sz="1600" dirty="0"/>
          </a:p>
        </p:txBody>
      </p:sp>
      <p:sp>
        <p:nvSpPr>
          <p:cNvPr id="37" name="Text 35"/>
          <p:cNvSpPr txBox="1"/>
          <p:nvPr/>
        </p:nvSpPr>
        <p:spPr>
          <a:xfrm>
            <a:off x="3840480" y="5422392"/>
            <a:ext cx="2926080" cy="640080"/>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cap, spend, ledger, approval</a:t>
            </a:r>
            <a:endParaRPr lang="en-US" sz="1600" dirty="0"/>
          </a:p>
        </p:txBody>
      </p:sp>
      <p:sp>
        <p:nvSpPr>
          <p:cNvPr id="38" name="Text 36"/>
          <p:cNvSpPr txBox="1"/>
          <p:nvPr/>
        </p:nvSpPr>
        <p:spPr>
          <a:xfrm>
            <a:off x="6949440" y="5422392"/>
            <a:ext cx="1737360" cy="640080"/>
          </a:xfrm>
          <a:prstGeom prst="rect">
            <a:avLst/>
          </a:prstGeom>
          <a:noFill/>
          <a:ln/>
        </p:spPr>
        <p:txBody>
          <a:bodyPr wrap="square" lIns="0" tIns="0" rIns="0" bIns="0" rtlCol="0" anchor="ctr"/>
          <a:lstStyle/>
          <a:p>
            <a:pPr indent="0" marL="0">
              <a:buNone/>
            </a:pPr>
            <a:r>
              <a:rPr lang="en-US" sz="1800" dirty="0">
                <a:solidFill>
                  <a:srgbClr val="FFFFFF"/>
                </a:solidFill>
                <a:latin typeface="Switzer Semibold" pitchFamily="34" charset="0"/>
                <a:ea typeface="Switzer Semibold" pitchFamily="34" charset="-122"/>
                <a:cs typeface="Switzer Semibold" pitchFamily="34" charset="-120"/>
              </a:rPr>
              <a:t>Billing</a:t>
            </a:r>
            <a:endParaRPr lang="en-US" sz="1800" dirty="0"/>
          </a:p>
        </p:txBody>
      </p:sp>
      <p:sp>
        <p:nvSpPr>
          <p:cNvPr id="39" name="Text 37"/>
          <p:cNvSpPr txBox="1"/>
          <p:nvPr/>
        </p:nvSpPr>
        <p:spPr>
          <a:xfrm>
            <a:off x="8869680" y="5422392"/>
            <a:ext cx="2587752" cy="640080"/>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Wallet, Approval</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Logical  ·  Domain-driven design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Five bounded contexts, joined by events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context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Logical  ·  Platform</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Producers, consumers, one platform</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platform.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Logical  ·  Services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Five services, one queue of work</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service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Logical  ·  A design decision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One queue for each level of the tree</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depth.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Logical  ·  Platform API</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What an API key may do</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key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Physical  ·  Key decisions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Six choices shape the deployment</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sp>
        <p:nvSpPr>
          <p:cNvPr id="10" name="Text 8"/>
          <p:cNvSpPr txBox="1"/>
          <p:nvPr/>
        </p:nvSpPr>
        <p:spPr>
          <a:xfrm>
            <a:off x="548640" y="1691640"/>
            <a:ext cx="5852160"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we chose</a:t>
            </a:r>
            <a:endParaRPr lang="en-US" sz="1400" dirty="0"/>
          </a:p>
        </p:txBody>
      </p:sp>
      <p:sp>
        <p:nvSpPr>
          <p:cNvPr id="11" name="Text 9"/>
          <p:cNvSpPr txBox="1"/>
          <p:nvPr/>
        </p:nvSpPr>
        <p:spPr>
          <a:xfrm>
            <a:off x="6583680" y="1691640"/>
            <a:ext cx="4873752"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instead of</a:t>
            </a:r>
            <a:endParaRPr lang="en-US" sz="1400" dirty="0"/>
          </a:p>
        </p:txBody>
      </p:sp>
      <p:sp>
        <p:nvSpPr>
          <p:cNvPr id="12" name="Shape 10"/>
          <p:cNvSpPr/>
          <p:nvPr/>
        </p:nvSpPr>
        <p:spPr>
          <a:xfrm>
            <a:off x="548640" y="2075688"/>
            <a:ext cx="11091672" cy="9144"/>
          </a:xfrm>
          <a:prstGeom prst="rect">
            <a:avLst/>
          </a:prstGeom>
          <a:solidFill>
            <a:srgbClr val="45484C"/>
          </a:solidFill>
          <a:ln/>
        </p:spPr>
      </p:sp>
      <p:sp>
        <p:nvSpPr>
          <p:cNvPr id="13" name="Text 11"/>
          <p:cNvSpPr txBox="1"/>
          <p:nvPr/>
        </p:nvSpPr>
        <p:spPr>
          <a:xfrm>
            <a:off x="548640" y="2130552"/>
            <a:ext cx="5852160" cy="621792"/>
          </a:xfrm>
          <a:prstGeom prst="rect">
            <a:avLst/>
          </a:prstGeom>
          <a:noFill/>
          <a:ln/>
        </p:spPr>
        <p:txBody>
          <a:bodyPr wrap="square" lIns="0" tIns="0" rIns="0" bIns="0" rtlCol="0" anchor="ctr"/>
          <a:lstStyle/>
          <a:p>
            <a:pPr indent="0" marL="0">
              <a:buNone/>
            </a:pPr>
            <a:r>
              <a:rPr lang="en-US" sz="1800" dirty="0">
                <a:solidFill>
                  <a:srgbClr val="FFFFFF"/>
                </a:solidFill>
                <a:latin typeface="Switzer Semibold" pitchFamily="34" charset="0"/>
                <a:ea typeface="Switzer Semibold" pitchFamily="34" charset="-122"/>
                <a:cs typeface="Switzer Semibold" pitchFamily="34" charset="-120"/>
              </a:rPr>
              <a:t>k3s on one EC2 t3.medium</a:t>
            </a:r>
            <a:endParaRPr lang="en-US" sz="1800" dirty="0"/>
          </a:p>
        </p:txBody>
      </p:sp>
      <p:sp>
        <p:nvSpPr>
          <p:cNvPr id="14" name="Text 12"/>
          <p:cNvSpPr txBox="1"/>
          <p:nvPr/>
        </p:nvSpPr>
        <p:spPr>
          <a:xfrm>
            <a:off x="6583680" y="2130552"/>
            <a:ext cx="4873752" cy="621792"/>
          </a:xfrm>
          <a:prstGeom prst="rect">
            <a:avLst/>
          </a:prstGeom>
          <a:noFill/>
          <a:ln/>
        </p:spPr>
        <p:txBody>
          <a:bodyPr wrap="square" lIns="0" tIns="0" rIns="0" bIns="0" rtlCol="0" anchor="ctr"/>
          <a:lstStyle/>
          <a:p>
            <a:pPr indent="0" marL="0">
              <a:buNone/>
            </a:pPr>
            <a:r>
              <a:rPr lang="en-US" sz="1700" dirty="0">
                <a:solidFill>
                  <a:srgbClr val="9A9DA3"/>
                </a:solidFill>
                <a:latin typeface="Switzer" pitchFamily="34" charset="0"/>
                <a:ea typeface="Switzer" pitchFamily="34" charset="-122"/>
                <a:cs typeface="Switzer" pitchFamily="34" charset="-120"/>
              </a:rPr>
              <a:t>EKS</a:t>
            </a:r>
            <a:endParaRPr lang="en-US" sz="1700" dirty="0"/>
          </a:p>
        </p:txBody>
      </p:sp>
      <p:sp>
        <p:nvSpPr>
          <p:cNvPr id="15" name="Shape 13"/>
          <p:cNvSpPr/>
          <p:nvPr/>
        </p:nvSpPr>
        <p:spPr>
          <a:xfrm>
            <a:off x="548640" y="2788920"/>
            <a:ext cx="11091672" cy="9144"/>
          </a:xfrm>
          <a:prstGeom prst="rect">
            <a:avLst/>
          </a:prstGeom>
          <a:solidFill>
            <a:srgbClr val="45484C"/>
          </a:solidFill>
          <a:ln/>
        </p:spPr>
      </p:sp>
      <p:sp>
        <p:nvSpPr>
          <p:cNvPr id="16" name="Text 14"/>
          <p:cNvSpPr txBox="1"/>
          <p:nvPr/>
        </p:nvSpPr>
        <p:spPr>
          <a:xfrm>
            <a:off x="548640" y="2843784"/>
            <a:ext cx="5852160" cy="621792"/>
          </a:xfrm>
          <a:prstGeom prst="rect">
            <a:avLst/>
          </a:prstGeom>
          <a:noFill/>
          <a:ln/>
        </p:spPr>
        <p:txBody>
          <a:bodyPr wrap="square" lIns="0" tIns="0" rIns="0" bIns="0" rtlCol="0" anchor="ctr"/>
          <a:lstStyle/>
          <a:p>
            <a:pPr indent="0" marL="0">
              <a:buNone/>
            </a:pPr>
            <a:r>
              <a:rPr lang="en-US" sz="1800" dirty="0">
                <a:solidFill>
                  <a:srgbClr val="FFFFFF"/>
                </a:solidFill>
                <a:latin typeface="Switzer Semibold" pitchFamily="34" charset="0"/>
                <a:ea typeface="Switzer Semibold" pitchFamily="34" charset="-122"/>
                <a:cs typeface="Switzer Semibold" pitchFamily="34" charset="-120"/>
              </a:rPr>
              <a:t>Traefik Ingress as the gateway</a:t>
            </a:r>
            <a:endParaRPr lang="en-US" sz="1800" dirty="0"/>
          </a:p>
        </p:txBody>
      </p:sp>
      <p:sp>
        <p:nvSpPr>
          <p:cNvPr id="17" name="Text 15"/>
          <p:cNvSpPr txBox="1"/>
          <p:nvPr/>
        </p:nvSpPr>
        <p:spPr>
          <a:xfrm>
            <a:off x="6583680" y="2843784"/>
            <a:ext cx="4873752" cy="621792"/>
          </a:xfrm>
          <a:prstGeom prst="rect">
            <a:avLst/>
          </a:prstGeom>
          <a:noFill/>
          <a:ln/>
        </p:spPr>
        <p:txBody>
          <a:bodyPr wrap="square" lIns="0" tIns="0" rIns="0" bIns="0" rtlCol="0" anchor="ctr"/>
          <a:lstStyle/>
          <a:p>
            <a:pPr indent="0" marL="0">
              <a:buNone/>
            </a:pPr>
            <a:r>
              <a:rPr lang="en-US" sz="1700" dirty="0">
                <a:solidFill>
                  <a:srgbClr val="9A9DA3"/>
                </a:solidFill>
                <a:latin typeface="Switzer" pitchFamily="34" charset="0"/>
                <a:ea typeface="Switzer" pitchFamily="34" charset="-122"/>
                <a:cs typeface="Switzer" pitchFamily="34" charset="-120"/>
              </a:rPr>
              <a:t>a gateway service</a:t>
            </a:r>
            <a:endParaRPr lang="en-US" sz="1700" dirty="0"/>
          </a:p>
        </p:txBody>
      </p:sp>
      <p:sp>
        <p:nvSpPr>
          <p:cNvPr id="18" name="Shape 16"/>
          <p:cNvSpPr/>
          <p:nvPr/>
        </p:nvSpPr>
        <p:spPr>
          <a:xfrm>
            <a:off x="548640" y="3502152"/>
            <a:ext cx="11091672" cy="9144"/>
          </a:xfrm>
          <a:prstGeom prst="rect">
            <a:avLst/>
          </a:prstGeom>
          <a:solidFill>
            <a:srgbClr val="45484C"/>
          </a:solidFill>
          <a:ln/>
        </p:spPr>
      </p:sp>
      <p:sp>
        <p:nvSpPr>
          <p:cNvPr id="19" name="Text 17"/>
          <p:cNvSpPr txBox="1"/>
          <p:nvPr/>
        </p:nvSpPr>
        <p:spPr>
          <a:xfrm>
            <a:off x="548640" y="3557016"/>
            <a:ext cx="5852160" cy="621792"/>
          </a:xfrm>
          <a:prstGeom prst="rect">
            <a:avLst/>
          </a:prstGeom>
          <a:noFill/>
          <a:ln/>
        </p:spPr>
        <p:txBody>
          <a:bodyPr wrap="square" lIns="0" tIns="0" rIns="0" bIns="0" rtlCol="0" anchor="ctr"/>
          <a:lstStyle/>
          <a:p>
            <a:pPr indent="0" marL="0">
              <a:buNone/>
            </a:pPr>
            <a:r>
              <a:rPr lang="en-US" sz="1800" dirty="0">
                <a:solidFill>
                  <a:srgbClr val="FFFFFF"/>
                </a:solidFill>
                <a:latin typeface="Switzer Semibold" pitchFamily="34" charset="0"/>
                <a:ea typeface="Switzer Semibold" pitchFamily="34" charset="-122"/>
                <a:cs typeface="Switzer Semibold" pitchFamily="34" charset="-120"/>
              </a:rPr>
              <a:t>HPA on CPU; KEDA on queue length</a:t>
            </a:r>
            <a:endParaRPr lang="en-US" sz="1800" dirty="0"/>
          </a:p>
        </p:txBody>
      </p:sp>
      <p:sp>
        <p:nvSpPr>
          <p:cNvPr id="20" name="Text 18"/>
          <p:cNvSpPr txBox="1"/>
          <p:nvPr/>
        </p:nvSpPr>
        <p:spPr>
          <a:xfrm>
            <a:off x="6583680" y="3557016"/>
            <a:ext cx="4873752" cy="621792"/>
          </a:xfrm>
          <a:prstGeom prst="rect">
            <a:avLst/>
          </a:prstGeom>
          <a:noFill/>
          <a:ln/>
        </p:spPr>
        <p:txBody>
          <a:bodyPr wrap="square" lIns="0" tIns="0" rIns="0" bIns="0" rtlCol="0" anchor="ctr"/>
          <a:lstStyle/>
          <a:p>
            <a:pPr indent="0" marL="0">
              <a:buNone/>
            </a:pPr>
            <a:r>
              <a:rPr lang="en-US" sz="1700" dirty="0">
                <a:solidFill>
                  <a:srgbClr val="9A9DA3"/>
                </a:solidFill>
                <a:latin typeface="Switzer" pitchFamily="34" charset="0"/>
                <a:ea typeface="Switzer" pitchFamily="34" charset="-122"/>
                <a:cs typeface="Switzer" pitchFamily="34" charset="-120"/>
              </a:rPr>
              <a:t>CPU for every service</a:t>
            </a:r>
            <a:endParaRPr lang="en-US" sz="1700" dirty="0"/>
          </a:p>
        </p:txBody>
      </p:sp>
      <p:sp>
        <p:nvSpPr>
          <p:cNvPr id="21" name="Shape 19"/>
          <p:cNvSpPr/>
          <p:nvPr/>
        </p:nvSpPr>
        <p:spPr>
          <a:xfrm>
            <a:off x="548640" y="4215384"/>
            <a:ext cx="11091672" cy="9144"/>
          </a:xfrm>
          <a:prstGeom prst="rect">
            <a:avLst/>
          </a:prstGeom>
          <a:solidFill>
            <a:srgbClr val="45484C"/>
          </a:solidFill>
          <a:ln/>
        </p:spPr>
      </p:sp>
      <p:sp>
        <p:nvSpPr>
          <p:cNvPr id="22" name="Text 20"/>
          <p:cNvSpPr txBox="1"/>
          <p:nvPr/>
        </p:nvSpPr>
        <p:spPr>
          <a:xfrm>
            <a:off x="548640" y="4270248"/>
            <a:ext cx="5852160" cy="621792"/>
          </a:xfrm>
          <a:prstGeom prst="rect">
            <a:avLst/>
          </a:prstGeom>
          <a:noFill/>
          <a:ln/>
        </p:spPr>
        <p:txBody>
          <a:bodyPr wrap="square" lIns="0" tIns="0" rIns="0" bIns="0" rtlCol="0" anchor="ctr"/>
          <a:lstStyle/>
          <a:p>
            <a:pPr indent="0" marL="0">
              <a:buNone/>
            </a:pPr>
            <a:r>
              <a:rPr lang="en-US" sz="1800" dirty="0">
                <a:solidFill>
                  <a:srgbClr val="FFFFFF"/>
                </a:solidFill>
                <a:latin typeface="Switzer Semibold" pitchFamily="34" charset="0"/>
                <a:ea typeface="Switzer Semibold" pitchFamily="34" charset="-122"/>
                <a:cs typeface="Switzer Semibold" pitchFamily="34" charset="-120"/>
              </a:rPr>
              <a:t>No image registry: copy over SSH</a:t>
            </a:r>
            <a:endParaRPr lang="en-US" sz="1800" dirty="0"/>
          </a:p>
        </p:txBody>
      </p:sp>
      <p:sp>
        <p:nvSpPr>
          <p:cNvPr id="23" name="Text 21"/>
          <p:cNvSpPr txBox="1"/>
          <p:nvPr/>
        </p:nvSpPr>
        <p:spPr>
          <a:xfrm>
            <a:off x="6583680" y="4270248"/>
            <a:ext cx="4873752" cy="621792"/>
          </a:xfrm>
          <a:prstGeom prst="rect">
            <a:avLst/>
          </a:prstGeom>
          <a:noFill/>
          <a:ln/>
        </p:spPr>
        <p:txBody>
          <a:bodyPr wrap="square" lIns="0" tIns="0" rIns="0" bIns="0" rtlCol="0" anchor="ctr"/>
          <a:lstStyle/>
          <a:p>
            <a:pPr indent="0" marL="0">
              <a:buNone/>
            </a:pPr>
            <a:r>
              <a:rPr lang="en-US" sz="1700" dirty="0">
                <a:solidFill>
                  <a:srgbClr val="9A9DA3"/>
                </a:solidFill>
                <a:latin typeface="Switzer" pitchFamily="34" charset="0"/>
                <a:ea typeface="Switzer" pitchFamily="34" charset="-122"/>
                <a:cs typeface="Switzer" pitchFamily="34" charset="-120"/>
              </a:rPr>
              <a:t>GHCR or ECR</a:t>
            </a:r>
            <a:endParaRPr lang="en-US" sz="1700" dirty="0"/>
          </a:p>
        </p:txBody>
      </p:sp>
      <p:sp>
        <p:nvSpPr>
          <p:cNvPr id="24" name="Shape 22"/>
          <p:cNvSpPr/>
          <p:nvPr/>
        </p:nvSpPr>
        <p:spPr>
          <a:xfrm>
            <a:off x="548640" y="4928616"/>
            <a:ext cx="11091672" cy="9144"/>
          </a:xfrm>
          <a:prstGeom prst="rect">
            <a:avLst/>
          </a:prstGeom>
          <a:solidFill>
            <a:srgbClr val="45484C"/>
          </a:solidFill>
          <a:ln/>
        </p:spPr>
      </p:sp>
      <p:sp>
        <p:nvSpPr>
          <p:cNvPr id="25" name="Text 23"/>
          <p:cNvSpPr txBox="1"/>
          <p:nvPr/>
        </p:nvSpPr>
        <p:spPr>
          <a:xfrm>
            <a:off x="548640" y="4983480"/>
            <a:ext cx="5852160" cy="621792"/>
          </a:xfrm>
          <a:prstGeom prst="rect">
            <a:avLst/>
          </a:prstGeom>
          <a:noFill/>
          <a:ln/>
        </p:spPr>
        <p:txBody>
          <a:bodyPr wrap="square" lIns="0" tIns="0" rIns="0" bIns="0" rtlCol="0" anchor="ctr"/>
          <a:lstStyle/>
          <a:p>
            <a:pPr indent="0" marL="0">
              <a:buNone/>
            </a:pPr>
            <a:r>
              <a:rPr lang="en-US" sz="1800" dirty="0">
                <a:solidFill>
                  <a:srgbClr val="FFFFFF"/>
                </a:solidFill>
                <a:latin typeface="Switzer Semibold" pitchFamily="34" charset="0"/>
                <a:ea typeface="Switzer Semibold" pitchFamily="34" charset="-122"/>
                <a:cs typeface="Switzer Semibold" pitchFamily="34" charset="-120"/>
              </a:rPr>
              <a:t>Secrets made inside the cluster</a:t>
            </a:r>
            <a:endParaRPr lang="en-US" sz="1800" dirty="0"/>
          </a:p>
        </p:txBody>
      </p:sp>
      <p:sp>
        <p:nvSpPr>
          <p:cNvPr id="26" name="Text 24"/>
          <p:cNvSpPr txBox="1"/>
          <p:nvPr/>
        </p:nvSpPr>
        <p:spPr>
          <a:xfrm>
            <a:off x="6583680" y="4983480"/>
            <a:ext cx="4873752" cy="621792"/>
          </a:xfrm>
          <a:prstGeom prst="rect">
            <a:avLst/>
          </a:prstGeom>
          <a:noFill/>
          <a:ln/>
        </p:spPr>
        <p:txBody>
          <a:bodyPr wrap="square" lIns="0" tIns="0" rIns="0" bIns="0" rtlCol="0" anchor="ctr"/>
          <a:lstStyle/>
          <a:p>
            <a:pPr indent="0" marL="0">
              <a:buNone/>
            </a:pPr>
            <a:r>
              <a:rPr lang="en-US" sz="1700" dirty="0">
                <a:solidFill>
                  <a:srgbClr val="9A9DA3"/>
                </a:solidFill>
                <a:latin typeface="Switzer" pitchFamily="34" charset="0"/>
                <a:ea typeface="Switzer" pitchFamily="34" charset="-122"/>
                <a:cs typeface="Switzer" pitchFamily="34" charset="-120"/>
              </a:rPr>
              <a:t>secrets kept in GitHub</a:t>
            </a:r>
            <a:endParaRPr lang="en-US" sz="1700" dirty="0"/>
          </a:p>
        </p:txBody>
      </p:sp>
      <p:sp>
        <p:nvSpPr>
          <p:cNvPr id="27" name="Shape 25"/>
          <p:cNvSpPr/>
          <p:nvPr/>
        </p:nvSpPr>
        <p:spPr>
          <a:xfrm>
            <a:off x="548640" y="5641848"/>
            <a:ext cx="11091672" cy="9144"/>
          </a:xfrm>
          <a:prstGeom prst="rect">
            <a:avLst/>
          </a:prstGeom>
          <a:solidFill>
            <a:srgbClr val="45484C"/>
          </a:solidFill>
          <a:ln/>
        </p:spPr>
      </p:sp>
      <p:sp>
        <p:nvSpPr>
          <p:cNvPr id="28" name="Text 26"/>
          <p:cNvSpPr txBox="1"/>
          <p:nvPr/>
        </p:nvSpPr>
        <p:spPr>
          <a:xfrm>
            <a:off x="548640" y="5696712"/>
            <a:ext cx="5852160" cy="621792"/>
          </a:xfrm>
          <a:prstGeom prst="rect">
            <a:avLst/>
          </a:prstGeom>
          <a:noFill/>
          <a:ln/>
        </p:spPr>
        <p:txBody>
          <a:bodyPr wrap="square" lIns="0" tIns="0" rIns="0" bIns="0" rtlCol="0" anchor="ctr"/>
          <a:lstStyle/>
          <a:p>
            <a:pPr indent="0" marL="0">
              <a:buNone/>
            </a:pPr>
            <a:r>
              <a:rPr lang="en-US" sz="1800" dirty="0">
                <a:solidFill>
                  <a:srgbClr val="FFFFFF"/>
                </a:solidFill>
                <a:latin typeface="Switzer Semibold" pitchFamily="34" charset="0"/>
                <a:ea typeface="Switzer Semibold" pitchFamily="34" charset="-122"/>
                <a:cs typeface="Switzer Semibold" pitchFamily="34" charset="-120"/>
              </a:rPr>
              <a:t>sslip.io and Let's Encrypt</a:t>
            </a:r>
            <a:endParaRPr lang="en-US" sz="1800" dirty="0"/>
          </a:p>
        </p:txBody>
      </p:sp>
      <p:sp>
        <p:nvSpPr>
          <p:cNvPr id="29" name="Text 27"/>
          <p:cNvSpPr txBox="1"/>
          <p:nvPr/>
        </p:nvSpPr>
        <p:spPr>
          <a:xfrm>
            <a:off x="6583680" y="5696712"/>
            <a:ext cx="4873752" cy="621792"/>
          </a:xfrm>
          <a:prstGeom prst="rect">
            <a:avLst/>
          </a:prstGeom>
          <a:noFill/>
          <a:ln/>
        </p:spPr>
        <p:txBody>
          <a:bodyPr wrap="square" lIns="0" tIns="0" rIns="0" bIns="0" rtlCol="0" anchor="ctr"/>
          <a:lstStyle/>
          <a:p>
            <a:pPr indent="0" marL="0">
              <a:buNone/>
            </a:pPr>
            <a:r>
              <a:rPr lang="en-US" sz="1700" dirty="0">
                <a:solidFill>
                  <a:srgbClr val="9A9DA3"/>
                </a:solidFill>
                <a:latin typeface="Switzer" pitchFamily="34" charset="0"/>
                <a:ea typeface="Switzer" pitchFamily="34" charset="-122"/>
                <a:cs typeface="Switzer" pitchFamily="34" charset="-120"/>
              </a:rPr>
              <a:t>a bought domain</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Physical  ·  Hosting and network</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One public server on AWS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hosting.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Physical  ·  Persistence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What is stored where</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persistenc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Physical  ·  Schema</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The main tables, by context</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sp>
        <p:nvSpPr>
          <p:cNvPr id="10" name="Shape 8"/>
          <p:cNvSpPr/>
          <p:nvPr/>
        </p:nvSpPr>
        <p:spPr>
          <a:xfrm>
            <a:off x="548640" y="1691640"/>
            <a:ext cx="2414016" cy="4023360"/>
          </a:xfrm>
          <a:prstGeom prst="rect">
            <a:avLst/>
          </a:prstGeom>
          <a:ln w="12700">
            <a:solidFill>
              <a:srgbClr val="45484C"/>
            </a:solidFill>
            <a:prstDash val="solid"/>
          </a:ln>
        </p:spPr>
      </p:sp>
      <p:sp>
        <p:nvSpPr>
          <p:cNvPr id="11" name="Text 9"/>
          <p:cNvSpPr txBox="1"/>
          <p:nvPr/>
        </p:nvSpPr>
        <p:spPr>
          <a:xfrm>
            <a:off x="685800" y="1783080"/>
            <a:ext cx="2139696" cy="365760"/>
          </a:xfrm>
          <a:prstGeom prst="rect">
            <a:avLst/>
          </a:prstGeom>
          <a:noFill/>
          <a:ln/>
        </p:spPr>
        <p:txBody>
          <a:bodyPr wrap="square" lIns="0" tIns="0" rIns="0" bIns="0" rtlCol="0" anchor="t"/>
          <a:lstStyle/>
          <a:p>
            <a:pPr indent="0" marL="0">
              <a:buNone/>
            </a:pPr>
            <a:r>
              <a:rPr lang="en-US" sz="1800" dirty="0">
                <a:solidFill>
                  <a:srgbClr val="FFFFFF"/>
                </a:solidFill>
                <a:latin typeface="Switzer Semibold" pitchFamily="34" charset="0"/>
                <a:ea typeface="Switzer Semibold" pitchFamily="34" charset="-122"/>
                <a:cs typeface="Switzer Semibold" pitchFamily="34" charset="-120"/>
              </a:rPr>
              <a:t>Identity</a:t>
            </a:r>
            <a:endParaRPr lang="en-US" sz="1800" dirty="0"/>
          </a:p>
        </p:txBody>
      </p:sp>
      <p:sp>
        <p:nvSpPr>
          <p:cNvPr id="12" name="Text 10"/>
          <p:cNvSpPr txBox="1"/>
          <p:nvPr/>
        </p:nvSpPr>
        <p:spPr>
          <a:xfrm>
            <a:off x="685800" y="2240280"/>
            <a:ext cx="2231136" cy="274320"/>
          </a:xfrm>
          <a:prstGeom prst="rect">
            <a:avLst/>
          </a:prstGeom>
          <a:noFill/>
          <a:ln/>
        </p:spPr>
        <p:txBody>
          <a:bodyPr wrap="square" lIns="0" tIns="0" rIns="0" bIns="0" rtlCol="0" anchor="t"/>
          <a:lstStyle/>
          <a:p>
            <a:pPr indent="0" marL="0">
              <a:buNone/>
            </a:pPr>
            <a:r>
              <a:rPr lang="en-US" sz="1400" dirty="0">
                <a:solidFill>
                  <a:srgbClr val="FFFFFF"/>
                </a:solidFill>
                <a:latin typeface="JetBrains Mono" pitchFamily="34" charset="0"/>
                <a:ea typeface="JetBrains Mono" pitchFamily="34" charset="-122"/>
                <a:cs typeface="JetBrains Mono" pitchFamily="34" charset="-120"/>
              </a:rPr>
              <a:t>accounts</a:t>
            </a:r>
            <a:endParaRPr lang="en-US" sz="1400" dirty="0"/>
          </a:p>
        </p:txBody>
      </p:sp>
      <p:sp>
        <p:nvSpPr>
          <p:cNvPr id="13" name="Text 11"/>
          <p:cNvSpPr txBox="1"/>
          <p:nvPr/>
        </p:nvSpPr>
        <p:spPr>
          <a:xfrm>
            <a:off x="685800" y="2505456"/>
            <a:ext cx="2231136" cy="512064"/>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id, email, role</a:t>
            </a:r>
            <a:endParaRPr lang="en-US" sz="1400" dirty="0"/>
          </a:p>
        </p:txBody>
      </p:sp>
      <p:sp>
        <p:nvSpPr>
          <p:cNvPr id="14" name="Text 12"/>
          <p:cNvSpPr txBox="1"/>
          <p:nvPr/>
        </p:nvSpPr>
        <p:spPr>
          <a:xfrm>
            <a:off x="685800" y="3099816"/>
            <a:ext cx="2231136" cy="274320"/>
          </a:xfrm>
          <a:prstGeom prst="rect">
            <a:avLst/>
          </a:prstGeom>
          <a:noFill/>
          <a:ln/>
        </p:spPr>
        <p:txBody>
          <a:bodyPr wrap="square" lIns="0" tIns="0" rIns="0" bIns="0" rtlCol="0" anchor="t"/>
          <a:lstStyle/>
          <a:p>
            <a:pPr indent="0" marL="0">
              <a:buNone/>
            </a:pPr>
            <a:r>
              <a:rPr lang="en-US" sz="1400" dirty="0">
                <a:solidFill>
                  <a:srgbClr val="FFFFFF"/>
                </a:solidFill>
                <a:latin typeface="JetBrains Mono" pitchFamily="34" charset="0"/>
                <a:ea typeface="JetBrains Mono" pitchFamily="34" charset="-122"/>
                <a:cs typeface="JetBrains Mono" pitchFamily="34" charset="-120"/>
              </a:rPr>
              <a:t>platform_api_keys</a:t>
            </a:r>
            <a:endParaRPr lang="en-US" sz="1400" dirty="0"/>
          </a:p>
        </p:txBody>
      </p:sp>
      <p:sp>
        <p:nvSpPr>
          <p:cNvPr id="15" name="Text 13"/>
          <p:cNvSpPr txBox="1"/>
          <p:nvPr/>
        </p:nvSpPr>
        <p:spPr>
          <a:xfrm>
            <a:off x="685800" y="3364992"/>
            <a:ext cx="2231136" cy="512064"/>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prefix, key_hash,</a:t>
            </a:r>
            <a:endParaRPr lang="en-US" sz="1400" dirty="0"/>
          </a:p>
          <a:p>
            <a:pPr indent="0" marL="0">
              <a:buNone/>
            </a:pPr>
            <a:r>
              <a:rPr lang="en-US" sz="1400" dirty="0">
                <a:solidFill>
                  <a:srgbClr val="9A9DA3"/>
                </a:solidFill>
                <a:latin typeface="Switzer" pitchFamily="34" charset="0"/>
                <a:ea typeface="Switzer" pitchFamily="34" charset="-122"/>
                <a:cs typeface="Switzer" pitchFamily="34" charset="-120"/>
              </a:rPr>
              <a:t>scopes, revoked_at</a:t>
            </a:r>
            <a:endParaRPr lang="en-US" sz="1400" dirty="0"/>
          </a:p>
        </p:txBody>
      </p:sp>
      <p:sp>
        <p:nvSpPr>
          <p:cNvPr id="16" name="Text 14"/>
          <p:cNvSpPr txBox="1"/>
          <p:nvPr/>
        </p:nvSpPr>
        <p:spPr>
          <a:xfrm>
            <a:off x="685800" y="3959352"/>
            <a:ext cx="2231136" cy="274320"/>
          </a:xfrm>
          <a:prstGeom prst="rect">
            <a:avLst/>
          </a:prstGeom>
          <a:noFill/>
          <a:ln/>
        </p:spPr>
        <p:txBody>
          <a:bodyPr wrap="square" lIns="0" tIns="0" rIns="0" bIns="0" rtlCol="0" anchor="t"/>
          <a:lstStyle/>
          <a:p>
            <a:pPr indent="0" marL="0">
              <a:buNone/>
            </a:pPr>
            <a:r>
              <a:rPr lang="en-US" sz="1400" dirty="0">
                <a:solidFill>
                  <a:srgbClr val="FFFFFF"/>
                </a:solidFill>
                <a:latin typeface="JetBrains Mono" pitchFamily="34" charset="0"/>
                <a:ea typeface="JetBrains Mono" pitchFamily="34" charset="-122"/>
                <a:cs typeface="JetBrains Mono" pitchFamily="34" charset="-120"/>
              </a:rPr>
              <a:t>credentials</a:t>
            </a:r>
            <a:endParaRPr lang="en-US" sz="1400" dirty="0"/>
          </a:p>
        </p:txBody>
      </p:sp>
      <p:sp>
        <p:nvSpPr>
          <p:cNvPr id="17" name="Text 15"/>
          <p:cNvSpPr txBox="1"/>
          <p:nvPr/>
        </p:nvSpPr>
        <p:spPr>
          <a:xfrm>
            <a:off x="685800" y="4224528"/>
            <a:ext cx="2231136" cy="512064"/>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account_id, hash</a:t>
            </a:r>
            <a:endParaRPr lang="en-US" sz="1400" dirty="0"/>
          </a:p>
        </p:txBody>
      </p:sp>
      <p:sp>
        <p:nvSpPr>
          <p:cNvPr id="18" name="Text 16"/>
          <p:cNvSpPr txBox="1"/>
          <p:nvPr/>
        </p:nvSpPr>
        <p:spPr>
          <a:xfrm>
            <a:off x="685800" y="4818888"/>
            <a:ext cx="2231136" cy="274320"/>
          </a:xfrm>
          <a:prstGeom prst="rect">
            <a:avLst/>
          </a:prstGeom>
          <a:noFill/>
          <a:ln/>
        </p:spPr>
        <p:txBody>
          <a:bodyPr wrap="square" lIns="0" tIns="0" rIns="0" bIns="0" rtlCol="0" anchor="t"/>
          <a:lstStyle/>
          <a:p>
            <a:pPr indent="0" marL="0">
              <a:buNone/>
            </a:pPr>
            <a:r>
              <a:rPr lang="en-US" sz="1400" dirty="0">
                <a:solidFill>
                  <a:srgbClr val="FFFFFF"/>
                </a:solidFill>
                <a:latin typeface="JetBrains Mono" pitchFamily="34" charset="0"/>
                <a:ea typeface="JetBrains Mono" pitchFamily="34" charset="-122"/>
                <a:cs typeface="JetBrains Mono" pitchFamily="34" charset="-120"/>
              </a:rPr>
              <a:t>auth_sessions</a:t>
            </a:r>
            <a:endParaRPr lang="en-US" sz="1400" dirty="0"/>
          </a:p>
        </p:txBody>
      </p:sp>
      <p:sp>
        <p:nvSpPr>
          <p:cNvPr id="19" name="Text 17"/>
          <p:cNvSpPr txBox="1"/>
          <p:nvPr/>
        </p:nvSpPr>
        <p:spPr>
          <a:xfrm>
            <a:off x="685800" y="5084064"/>
            <a:ext cx="2231136" cy="512064"/>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account_id, token</a:t>
            </a:r>
            <a:endParaRPr lang="en-US" sz="1400" dirty="0"/>
          </a:p>
        </p:txBody>
      </p:sp>
      <p:sp>
        <p:nvSpPr>
          <p:cNvPr id="20" name="Shape 18"/>
          <p:cNvSpPr/>
          <p:nvPr/>
        </p:nvSpPr>
        <p:spPr>
          <a:xfrm>
            <a:off x="3163824" y="1691640"/>
            <a:ext cx="2962656" cy="4023360"/>
          </a:xfrm>
          <a:prstGeom prst="rect">
            <a:avLst/>
          </a:prstGeom>
          <a:ln w="12700">
            <a:solidFill>
              <a:srgbClr val="45484C"/>
            </a:solidFill>
            <a:prstDash val="solid"/>
          </a:ln>
        </p:spPr>
      </p:sp>
      <p:sp>
        <p:nvSpPr>
          <p:cNvPr id="21" name="Text 19"/>
          <p:cNvSpPr txBox="1"/>
          <p:nvPr/>
        </p:nvSpPr>
        <p:spPr>
          <a:xfrm>
            <a:off x="3300984" y="1783080"/>
            <a:ext cx="2688336" cy="365760"/>
          </a:xfrm>
          <a:prstGeom prst="rect">
            <a:avLst/>
          </a:prstGeom>
          <a:noFill/>
          <a:ln/>
        </p:spPr>
        <p:txBody>
          <a:bodyPr wrap="square" lIns="0" tIns="0" rIns="0" bIns="0" rtlCol="0" anchor="t"/>
          <a:lstStyle/>
          <a:p>
            <a:pPr indent="0" marL="0">
              <a:buNone/>
            </a:pPr>
            <a:r>
              <a:rPr lang="en-US" sz="1800" dirty="0">
                <a:solidFill>
                  <a:srgbClr val="FFFFFF"/>
                </a:solidFill>
                <a:latin typeface="Switzer Semibold" pitchFamily="34" charset="0"/>
                <a:ea typeface="Switzer Semibold" pitchFamily="34" charset="-122"/>
                <a:cs typeface="Switzer Semibold" pitchFamily="34" charset="-120"/>
              </a:rPr>
              <a:t>Projects</a:t>
            </a:r>
            <a:endParaRPr lang="en-US" sz="1800" dirty="0"/>
          </a:p>
        </p:txBody>
      </p:sp>
      <p:sp>
        <p:nvSpPr>
          <p:cNvPr id="22" name="Text 20"/>
          <p:cNvSpPr txBox="1"/>
          <p:nvPr/>
        </p:nvSpPr>
        <p:spPr>
          <a:xfrm>
            <a:off x="3300984" y="2240280"/>
            <a:ext cx="2779776" cy="274320"/>
          </a:xfrm>
          <a:prstGeom prst="rect">
            <a:avLst/>
          </a:prstGeom>
          <a:noFill/>
          <a:ln/>
        </p:spPr>
        <p:txBody>
          <a:bodyPr wrap="square" lIns="0" tIns="0" rIns="0" bIns="0" rtlCol="0" anchor="t"/>
          <a:lstStyle/>
          <a:p>
            <a:pPr indent="0" marL="0">
              <a:buNone/>
            </a:pPr>
            <a:r>
              <a:rPr lang="en-US" sz="1400" dirty="0">
                <a:solidFill>
                  <a:srgbClr val="FFFFFF"/>
                </a:solidFill>
                <a:latin typeface="JetBrains Mono" pitchFamily="34" charset="0"/>
                <a:ea typeface="JetBrains Mono" pitchFamily="34" charset="-122"/>
                <a:cs typeface="JetBrains Mono" pitchFamily="34" charset="-120"/>
              </a:rPr>
              <a:t>projects</a:t>
            </a:r>
            <a:endParaRPr lang="en-US" sz="1400" dirty="0"/>
          </a:p>
        </p:txBody>
      </p:sp>
      <p:sp>
        <p:nvSpPr>
          <p:cNvPr id="23" name="Text 21"/>
          <p:cNvSpPr txBox="1"/>
          <p:nvPr/>
        </p:nvSpPr>
        <p:spPr>
          <a:xfrm>
            <a:off x="3300984" y="2505456"/>
            <a:ext cx="2779776" cy="512064"/>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account_id, title, mode</a:t>
            </a:r>
            <a:endParaRPr lang="en-US" sz="1400" dirty="0"/>
          </a:p>
        </p:txBody>
      </p:sp>
      <p:sp>
        <p:nvSpPr>
          <p:cNvPr id="24" name="Text 22"/>
          <p:cNvSpPr txBox="1"/>
          <p:nvPr/>
        </p:nvSpPr>
        <p:spPr>
          <a:xfrm>
            <a:off x="3300984" y="3099816"/>
            <a:ext cx="2779776" cy="274320"/>
          </a:xfrm>
          <a:prstGeom prst="rect">
            <a:avLst/>
          </a:prstGeom>
          <a:noFill/>
          <a:ln/>
        </p:spPr>
        <p:txBody>
          <a:bodyPr wrap="square" lIns="0" tIns="0" rIns="0" bIns="0" rtlCol="0" anchor="t"/>
          <a:lstStyle/>
          <a:p>
            <a:pPr indent="0" marL="0">
              <a:buNone/>
            </a:pPr>
            <a:r>
              <a:rPr lang="en-US" sz="1400" dirty="0">
                <a:solidFill>
                  <a:srgbClr val="FFFFFF"/>
                </a:solidFill>
                <a:latin typeface="JetBrains Mono" pitchFamily="34" charset="0"/>
                <a:ea typeface="JetBrains Mono" pitchFamily="34" charset="-122"/>
                <a:cs typeface="JetBrains Mono" pitchFamily="34" charset="-120"/>
              </a:rPr>
              <a:t>findings</a:t>
            </a:r>
            <a:endParaRPr lang="en-US" sz="1400" dirty="0"/>
          </a:p>
        </p:txBody>
      </p:sp>
      <p:sp>
        <p:nvSpPr>
          <p:cNvPr id="25" name="Text 23"/>
          <p:cNvSpPr txBox="1"/>
          <p:nvPr/>
        </p:nvSpPr>
        <p:spPr>
          <a:xfrm>
            <a:off x="3300984" y="3364992"/>
            <a:ext cx="2779776" cy="512064"/>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session_id, title, text</a:t>
            </a:r>
            <a:endParaRPr lang="en-US" sz="1400" dirty="0"/>
          </a:p>
        </p:txBody>
      </p:sp>
      <p:sp>
        <p:nvSpPr>
          <p:cNvPr id="26" name="Text 24"/>
          <p:cNvSpPr txBox="1"/>
          <p:nvPr/>
        </p:nvSpPr>
        <p:spPr>
          <a:xfrm>
            <a:off x="3300984" y="3959352"/>
            <a:ext cx="2779776" cy="274320"/>
          </a:xfrm>
          <a:prstGeom prst="rect">
            <a:avLst/>
          </a:prstGeom>
          <a:noFill/>
          <a:ln/>
        </p:spPr>
        <p:txBody>
          <a:bodyPr wrap="square" lIns="0" tIns="0" rIns="0" bIns="0" rtlCol="0" anchor="t"/>
          <a:lstStyle/>
          <a:p>
            <a:pPr indent="0" marL="0">
              <a:buNone/>
            </a:pPr>
            <a:r>
              <a:rPr lang="en-US" sz="1400" dirty="0">
                <a:solidFill>
                  <a:srgbClr val="FFFFFF"/>
                </a:solidFill>
                <a:latin typeface="JetBrains Mono" pitchFamily="34" charset="0"/>
                <a:ea typeface="JetBrains Mono" pitchFamily="34" charset="-122"/>
                <a:cs typeface="JetBrains Mono" pitchFamily="34" charset="-120"/>
              </a:rPr>
              <a:t>platform_agents</a:t>
            </a:r>
            <a:endParaRPr lang="en-US" sz="1400" dirty="0"/>
          </a:p>
        </p:txBody>
      </p:sp>
      <p:sp>
        <p:nvSpPr>
          <p:cNvPr id="27" name="Text 25"/>
          <p:cNvSpPr txBox="1"/>
          <p:nvPr/>
        </p:nvSpPr>
        <p:spPr>
          <a:xfrm>
            <a:off x="3300984" y="4224528"/>
            <a:ext cx="2779776" cy="512064"/>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slug, instructions,</a:t>
            </a:r>
            <a:endParaRPr lang="en-US" sz="1400" dirty="0"/>
          </a:p>
          <a:p>
            <a:pPr indent="0" marL="0">
              <a:buNone/>
            </a:pPr>
            <a:r>
              <a:rPr lang="en-US" sz="1400" dirty="0">
                <a:solidFill>
                  <a:srgbClr val="9A9DA3"/>
                </a:solidFill>
                <a:latin typeface="Switzer" pitchFamily="34" charset="0"/>
                <a:ea typeface="Switzer" pitchFamily="34" charset="-122"/>
                <a:cs typeface="Switzer" pitchFamily="34" charset="-120"/>
              </a:rPr>
              <a:t>withdrawn_at</a:t>
            </a:r>
            <a:endParaRPr lang="en-US" sz="1400" dirty="0"/>
          </a:p>
        </p:txBody>
      </p:sp>
      <p:sp>
        <p:nvSpPr>
          <p:cNvPr id="28" name="Text 26"/>
          <p:cNvSpPr txBox="1"/>
          <p:nvPr/>
        </p:nvSpPr>
        <p:spPr>
          <a:xfrm>
            <a:off x="3300984" y="4818888"/>
            <a:ext cx="2779776" cy="274320"/>
          </a:xfrm>
          <a:prstGeom prst="rect">
            <a:avLst/>
          </a:prstGeom>
          <a:noFill/>
          <a:ln/>
        </p:spPr>
        <p:txBody>
          <a:bodyPr wrap="square" lIns="0" tIns="0" rIns="0" bIns="0" rtlCol="0" anchor="t"/>
          <a:lstStyle/>
          <a:p>
            <a:pPr indent="0" marL="0">
              <a:buNone/>
            </a:pPr>
            <a:r>
              <a:rPr lang="en-US" sz="1400" dirty="0">
                <a:solidFill>
                  <a:srgbClr val="FFFFFF"/>
                </a:solidFill>
                <a:latin typeface="JetBrains Mono" pitchFamily="34" charset="0"/>
                <a:ea typeface="JetBrains Mono" pitchFamily="34" charset="-122"/>
                <a:cs typeface="JetBrains Mono" pitchFamily="34" charset="-120"/>
              </a:rPr>
              <a:t>platform_question_intents</a:t>
            </a:r>
            <a:endParaRPr lang="en-US" sz="1400" dirty="0"/>
          </a:p>
        </p:txBody>
      </p:sp>
      <p:sp>
        <p:nvSpPr>
          <p:cNvPr id="29" name="Text 27"/>
          <p:cNvSpPr txBox="1"/>
          <p:nvPr/>
        </p:nvSpPr>
        <p:spPr>
          <a:xfrm>
            <a:off x="3300984" y="5084064"/>
            <a:ext cx="2779776" cy="512064"/>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agent_id, session_id</a:t>
            </a:r>
            <a:endParaRPr lang="en-US" sz="1400" dirty="0"/>
          </a:p>
        </p:txBody>
      </p:sp>
      <p:sp>
        <p:nvSpPr>
          <p:cNvPr id="30" name="Shape 28"/>
          <p:cNvSpPr/>
          <p:nvPr/>
        </p:nvSpPr>
        <p:spPr>
          <a:xfrm>
            <a:off x="6327648" y="1691640"/>
            <a:ext cx="2505456" cy="4023360"/>
          </a:xfrm>
          <a:prstGeom prst="rect">
            <a:avLst/>
          </a:prstGeom>
          <a:ln w="12700">
            <a:solidFill>
              <a:srgbClr val="45484C"/>
            </a:solidFill>
            <a:prstDash val="solid"/>
          </a:ln>
        </p:spPr>
      </p:sp>
      <p:sp>
        <p:nvSpPr>
          <p:cNvPr id="31" name="Text 29"/>
          <p:cNvSpPr txBox="1"/>
          <p:nvPr/>
        </p:nvSpPr>
        <p:spPr>
          <a:xfrm>
            <a:off x="6464808" y="1783080"/>
            <a:ext cx="2231136" cy="365760"/>
          </a:xfrm>
          <a:prstGeom prst="rect">
            <a:avLst/>
          </a:prstGeom>
          <a:noFill/>
          <a:ln/>
        </p:spPr>
        <p:txBody>
          <a:bodyPr wrap="square" lIns="0" tIns="0" rIns="0" bIns="0" rtlCol="0" anchor="t"/>
          <a:lstStyle/>
          <a:p>
            <a:pPr indent="0" marL="0">
              <a:buNone/>
            </a:pPr>
            <a:r>
              <a:rPr lang="en-US" sz="1800" dirty="0">
                <a:solidFill>
                  <a:srgbClr val="FFFFFF"/>
                </a:solidFill>
                <a:latin typeface="Switzer Semibold" pitchFamily="34" charset="0"/>
                <a:ea typeface="Switzer Semibold" pitchFamily="34" charset="-122"/>
                <a:cs typeface="Switzer Semibold" pitchFamily="34" charset="-120"/>
              </a:rPr>
              <a:t>Session</a:t>
            </a:r>
            <a:endParaRPr lang="en-US" sz="1800" dirty="0"/>
          </a:p>
        </p:txBody>
      </p:sp>
      <p:sp>
        <p:nvSpPr>
          <p:cNvPr id="32" name="Text 30"/>
          <p:cNvSpPr txBox="1"/>
          <p:nvPr/>
        </p:nvSpPr>
        <p:spPr>
          <a:xfrm>
            <a:off x="6464808" y="2240280"/>
            <a:ext cx="2322576" cy="274320"/>
          </a:xfrm>
          <a:prstGeom prst="rect">
            <a:avLst/>
          </a:prstGeom>
          <a:noFill/>
          <a:ln/>
        </p:spPr>
        <p:txBody>
          <a:bodyPr wrap="square" lIns="0" tIns="0" rIns="0" bIns="0" rtlCol="0" anchor="t"/>
          <a:lstStyle/>
          <a:p>
            <a:pPr indent="0" marL="0">
              <a:buNone/>
            </a:pPr>
            <a:r>
              <a:rPr lang="en-US" sz="1400" dirty="0">
                <a:solidFill>
                  <a:srgbClr val="FFFFFF"/>
                </a:solidFill>
                <a:latin typeface="JetBrains Mono" pitchFamily="34" charset="0"/>
                <a:ea typeface="JetBrains Mono" pitchFamily="34" charset="-122"/>
                <a:cs typeface="JetBrains Mono" pitchFamily="34" charset="-120"/>
              </a:rPr>
              <a:t>sessions</a:t>
            </a:r>
            <a:endParaRPr lang="en-US" sz="1400" dirty="0"/>
          </a:p>
        </p:txBody>
      </p:sp>
      <p:sp>
        <p:nvSpPr>
          <p:cNvPr id="33" name="Text 31"/>
          <p:cNvSpPr txBox="1"/>
          <p:nvPr/>
        </p:nvSpPr>
        <p:spPr>
          <a:xfrm>
            <a:off x="6464808" y="2505456"/>
            <a:ext cx="2322576" cy="512064"/>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project_id, account_id</a:t>
            </a:r>
            <a:endParaRPr lang="en-US" sz="1400" dirty="0"/>
          </a:p>
        </p:txBody>
      </p:sp>
      <p:sp>
        <p:nvSpPr>
          <p:cNvPr id="34" name="Text 32"/>
          <p:cNvSpPr txBox="1"/>
          <p:nvPr/>
        </p:nvSpPr>
        <p:spPr>
          <a:xfrm>
            <a:off x="6464808" y="3099816"/>
            <a:ext cx="2322576" cy="274320"/>
          </a:xfrm>
          <a:prstGeom prst="rect">
            <a:avLst/>
          </a:prstGeom>
          <a:noFill/>
          <a:ln/>
        </p:spPr>
        <p:txBody>
          <a:bodyPr wrap="square" lIns="0" tIns="0" rIns="0" bIns="0" rtlCol="0" anchor="t"/>
          <a:lstStyle/>
          <a:p>
            <a:pPr indent="0" marL="0">
              <a:buNone/>
            </a:pPr>
            <a:r>
              <a:rPr lang="en-US" sz="1400" dirty="0">
                <a:solidFill>
                  <a:srgbClr val="FFFFFF"/>
                </a:solidFill>
                <a:latin typeface="JetBrains Mono" pitchFamily="34" charset="0"/>
                <a:ea typeface="JetBrains Mono" pitchFamily="34" charset="-122"/>
                <a:cs typeface="JetBrains Mono" pitchFamily="34" charset="-120"/>
              </a:rPr>
              <a:t>tasks</a:t>
            </a:r>
            <a:endParaRPr lang="en-US" sz="1400" dirty="0"/>
          </a:p>
        </p:txBody>
      </p:sp>
      <p:sp>
        <p:nvSpPr>
          <p:cNvPr id="35" name="Text 33"/>
          <p:cNvSpPr txBox="1"/>
          <p:nvPr/>
        </p:nvSpPr>
        <p:spPr>
          <a:xfrm>
            <a:off x="6464808" y="3364992"/>
            <a:ext cx="2322576" cy="512064"/>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parent_id, depth,</a:t>
            </a:r>
            <a:endParaRPr lang="en-US" sz="1400" dirty="0"/>
          </a:p>
          <a:p>
            <a:pPr indent="0" marL="0">
              <a:buNone/>
            </a:pPr>
            <a:r>
              <a:rPr lang="en-US" sz="1400" dirty="0">
                <a:solidFill>
                  <a:srgbClr val="9A9DA3"/>
                </a:solidFill>
                <a:latin typeface="Switzer" pitchFamily="34" charset="0"/>
                <a:ea typeface="Switzer" pitchFamily="34" charset="-122"/>
                <a:cs typeface="Switzer" pitchFamily="34" charset="-120"/>
              </a:rPr>
              <a:t>status, own_cost</a:t>
            </a:r>
            <a:endParaRPr lang="en-US" sz="1400" dirty="0"/>
          </a:p>
        </p:txBody>
      </p:sp>
      <p:sp>
        <p:nvSpPr>
          <p:cNvPr id="36" name="Text 34"/>
          <p:cNvSpPr txBox="1"/>
          <p:nvPr/>
        </p:nvSpPr>
        <p:spPr>
          <a:xfrm>
            <a:off x="6464808" y="3959352"/>
            <a:ext cx="2322576" cy="274320"/>
          </a:xfrm>
          <a:prstGeom prst="rect">
            <a:avLst/>
          </a:prstGeom>
          <a:noFill/>
          <a:ln/>
        </p:spPr>
        <p:txBody>
          <a:bodyPr wrap="square" lIns="0" tIns="0" rIns="0" bIns="0" rtlCol="0" anchor="t"/>
          <a:lstStyle/>
          <a:p>
            <a:pPr indent="0" marL="0">
              <a:buNone/>
            </a:pPr>
            <a:r>
              <a:rPr lang="en-US" sz="1400" dirty="0">
                <a:solidFill>
                  <a:srgbClr val="FFFFFF"/>
                </a:solidFill>
                <a:latin typeface="JetBrains Mono" pitchFamily="34" charset="0"/>
                <a:ea typeface="JetBrains Mono" pitchFamily="34" charset="-122"/>
                <a:cs typeface="JetBrains Mono" pitchFamily="34" charset="-120"/>
              </a:rPr>
              <a:t>steps</a:t>
            </a:r>
            <a:endParaRPr lang="en-US" sz="1400" dirty="0"/>
          </a:p>
        </p:txBody>
      </p:sp>
      <p:sp>
        <p:nvSpPr>
          <p:cNvPr id="37" name="Text 35"/>
          <p:cNvSpPr txBox="1"/>
          <p:nvPr/>
        </p:nvSpPr>
        <p:spPr>
          <a:xfrm>
            <a:off x="6464808" y="4224528"/>
            <a:ext cx="2322576" cy="512064"/>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task_id, kind, text</a:t>
            </a:r>
            <a:endParaRPr lang="en-US" sz="1400" dirty="0"/>
          </a:p>
        </p:txBody>
      </p:sp>
      <p:sp>
        <p:nvSpPr>
          <p:cNvPr id="38" name="Shape 36"/>
          <p:cNvSpPr/>
          <p:nvPr/>
        </p:nvSpPr>
        <p:spPr>
          <a:xfrm>
            <a:off x="9034272" y="1691640"/>
            <a:ext cx="2505456" cy="4023360"/>
          </a:xfrm>
          <a:prstGeom prst="rect">
            <a:avLst/>
          </a:prstGeom>
          <a:ln w="12700">
            <a:solidFill>
              <a:srgbClr val="45484C"/>
            </a:solidFill>
            <a:prstDash val="solid"/>
          </a:ln>
        </p:spPr>
      </p:sp>
      <p:sp>
        <p:nvSpPr>
          <p:cNvPr id="39" name="Text 37"/>
          <p:cNvSpPr txBox="1"/>
          <p:nvPr/>
        </p:nvSpPr>
        <p:spPr>
          <a:xfrm>
            <a:off x="9171432" y="1783080"/>
            <a:ext cx="2231136" cy="365760"/>
          </a:xfrm>
          <a:prstGeom prst="rect">
            <a:avLst/>
          </a:prstGeom>
          <a:noFill/>
          <a:ln/>
        </p:spPr>
        <p:txBody>
          <a:bodyPr wrap="square" lIns="0" tIns="0" rIns="0" bIns="0" rtlCol="0" anchor="t"/>
          <a:lstStyle/>
          <a:p>
            <a:pPr indent="0" marL="0">
              <a:buNone/>
            </a:pPr>
            <a:r>
              <a:rPr lang="en-US" sz="1800" dirty="0">
                <a:solidFill>
                  <a:srgbClr val="FFFFFF"/>
                </a:solidFill>
                <a:latin typeface="Switzer Semibold" pitchFamily="34" charset="0"/>
                <a:ea typeface="Switzer Semibold" pitchFamily="34" charset="-122"/>
                <a:cs typeface="Switzer Semibold" pitchFamily="34" charset="-120"/>
              </a:rPr>
              <a:t>Billing</a:t>
            </a:r>
            <a:endParaRPr lang="en-US" sz="1800" dirty="0"/>
          </a:p>
        </p:txBody>
      </p:sp>
      <p:sp>
        <p:nvSpPr>
          <p:cNvPr id="40" name="Text 38"/>
          <p:cNvSpPr txBox="1"/>
          <p:nvPr/>
        </p:nvSpPr>
        <p:spPr>
          <a:xfrm>
            <a:off x="9171432" y="2240280"/>
            <a:ext cx="2322576" cy="274320"/>
          </a:xfrm>
          <a:prstGeom prst="rect">
            <a:avLst/>
          </a:prstGeom>
          <a:noFill/>
          <a:ln/>
        </p:spPr>
        <p:txBody>
          <a:bodyPr wrap="square" lIns="0" tIns="0" rIns="0" bIns="0" rtlCol="0" anchor="t"/>
          <a:lstStyle/>
          <a:p>
            <a:pPr indent="0" marL="0">
              <a:buNone/>
            </a:pPr>
            <a:r>
              <a:rPr lang="en-US" sz="1400" dirty="0">
                <a:solidFill>
                  <a:srgbClr val="FFFFFF"/>
                </a:solidFill>
                <a:latin typeface="JetBrains Mono" pitchFamily="34" charset="0"/>
                <a:ea typeface="JetBrains Mono" pitchFamily="34" charset="-122"/>
                <a:cs typeface="JetBrains Mono" pitchFamily="34" charset="-120"/>
              </a:rPr>
              <a:t>billing_wallets</a:t>
            </a:r>
            <a:endParaRPr lang="en-US" sz="1400" dirty="0"/>
          </a:p>
        </p:txBody>
      </p:sp>
      <p:sp>
        <p:nvSpPr>
          <p:cNvPr id="41" name="Text 39"/>
          <p:cNvSpPr txBox="1"/>
          <p:nvPr/>
        </p:nvSpPr>
        <p:spPr>
          <a:xfrm>
            <a:off x="9171432" y="2505456"/>
            <a:ext cx="2322576" cy="512064"/>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account_id, cap</a:t>
            </a:r>
            <a:endParaRPr lang="en-US" sz="1400" dirty="0"/>
          </a:p>
        </p:txBody>
      </p:sp>
      <p:sp>
        <p:nvSpPr>
          <p:cNvPr id="42" name="Text 40"/>
          <p:cNvSpPr txBox="1"/>
          <p:nvPr/>
        </p:nvSpPr>
        <p:spPr>
          <a:xfrm>
            <a:off x="9171432" y="3099816"/>
            <a:ext cx="2322576" cy="274320"/>
          </a:xfrm>
          <a:prstGeom prst="rect">
            <a:avLst/>
          </a:prstGeom>
          <a:noFill/>
          <a:ln/>
        </p:spPr>
        <p:txBody>
          <a:bodyPr wrap="square" lIns="0" tIns="0" rIns="0" bIns="0" rtlCol="0" anchor="t"/>
          <a:lstStyle/>
          <a:p>
            <a:pPr indent="0" marL="0">
              <a:buNone/>
            </a:pPr>
            <a:r>
              <a:rPr lang="en-US" sz="1400" dirty="0">
                <a:solidFill>
                  <a:srgbClr val="FFFFFF"/>
                </a:solidFill>
                <a:latin typeface="JetBrains Mono" pitchFamily="34" charset="0"/>
                <a:ea typeface="JetBrains Mono" pitchFamily="34" charset="-122"/>
                <a:cs typeface="JetBrains Mono" pitchFamily="34" charset="-120"/>
              </a:rPr>
              <a:t>ledger_entries</a:t>
            </a:r>
            <a:endParaRPr lang="en-US" sz="1400" dirty="0"/>
          </a:p>
        </p:txBody>
      </p:sp>
      <p:sp>
        <p:nvSpPr>
          <p:cNvPr id="43" name="Text 41"/>
          <p:cNvSpPr txBox="1"/>
          <p:nvPr/>
        </p:nvSpPr>
        <p:spPr>
          <a:xfrm>
            <a:off x="9171432" y="3364992"/>
            <a:ext cx="2322576" cy="512064"/>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task_id, amount</a:t>
            </a:r>
            <a:endParaRPr lang="en-US" sz="1400" dirty="0"/>
          </a:p>
        </p:txBody>
      </p:sp>
      <p:sp>
        <p:nvSpPr>
          <p:cNvPr id="44" name="Text 42"/>
          <p:cNvSpPr txBox="1"/>
          <p:nvPr/>
        </p:nvSpPr>
        <p:spPr>
          <a:xfrm>
            <a:off x="9171432" y="3959352"/>
            <a:ext cx="2322576" cy="274320"/>
          </a:xfrm>
          <a:prstGeom prst="rect">
            <a:avLst/>
          </a:prstGeom>
          <a:noFill/>
          <a:ln/>
        </p:spPr>
        <p:txBody>
          <a:bodyPr wrap="square" lIns="0" tIns="0" rIns="0" bIns="0" rtlCol="0" anchor="t"/>
          <a:lstStyle/>
          <a:p>
            <a:pPr indent="0" marL="0">
              <a:buNone/>
            </a:pPr>
            <a:r>
              <a:rPr lang="en-US" sz="1400" dirty="0">
                <a:solidFill>
                  <a:srgbClr val="FFFFFF"/>
                </a:solidFill>
                <a:latin typeface="JetBrains Mono" pitchFamily="34" charset="0"/>
                <a:ea typeface="JetBrains Mono" pitchFamily="34" charset="-122"/>
                <a:cs typeface="JetBrains Mono" pitchFamily="34" charset="-120"/>
              </a:rPr>
              <a:t>billing_approvals</a:t>
            </a:r>
            <a:endParaRPr lang="en-US" sz="1400" dirty="0"/>
          </a:p>
        </p:txBody>
      </p:sp>
      <p:sp>
        <p:nvSpPr>
          <p:cNvPr id="45" name="Text 43"/>
          <p:cNvSpPr txBox="1"/>
          <p:nvPr/>
        </p:nvSpPr>
        <p:spPr>
          <a:xfrm>
            <a:off x="9171432" y="4224528"/>
            <a:ext cx="2322576" cy="512064"/>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attempt_id, status,</a:t>
            </a:r>
            <a:endParaRPr lang="en-US" sz="1400" dirty="0"/>
          </a:p>
          <a:p>
            <a:pPr indent="0" marL="0">
              <a:buNone/>
            </a:pPr>
            <a:r>
              <a:rPr lang="en-US" sz="1400" dirty="0">
                <a:solidFill>
                  <a:srgbClr val="9A9DA3"/>
                </a:solidFill>
                <a:latin typeface="Switzer" pitchFamily="34" charset="0"/>
                <a:ea typeface="Switzer" pitchFamily="34" charset="-122"/>
                <a:cs typeface="Switzer" pitchFamily="34" charset="-120"/>
              </a:rPr>
              <a:t>resume_pending</a:t>
            </a:r>
            <a:endParaRPr lang="en-US" sz="1400" dirty="0"/>
          </a:p>
        </p:txBody>
      </p:sp>
      <p:sp>
        <p:nvSpPr>
          <p:cNvPr id="46" name="Text 44"/>
          <p:cNvSpPr txBox="1"/>
          <p:nvPr/>
        </p:nvSpPr>
        <p:spPr>
          <a:xfrm>
            <a:off x="548640" y="5852160"/>
            <a:ext cx="1005840" cy="45720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money</a:t>
            </a:r>
            <a:endParaRPr lang="en-US" sz="1400" dirty="0"/>
          </a:p>
        </p:txBody>
      </p:sp>
      <p:sp>
        <p:nvSpPr>
          <p:cNvPr id="47" name="Text 45"/>
          <p:cNvSpPr txBox="1"/>
          <p:nvPr/>
        </p:nvSpPr>
        <p:spPr>
          <a:xfrm>
            <a:off x="1554480" y="5852160"/>
            <a:ext cx="2651760" cy="457200"/>
          </a:xfrm>
          <a:prstGeom prst="rect">
            <a:avLst/>
          </a:prstGeom>
          <a:noFill/>
          <a:ln/>
        </p:spPr>
        <p:txBody>
          <a:bodyPr wrap="square" lIns="0" tIns="0" rIns="0" bIns="0" rtlCol="0" anchor="t"/>
          <a:lstStyle/>
          <a:p>
            <a:pPr indent="0" marL="0">
              <a:buNone/>
            </a:pPr>
            <a:r>
              <a:rPr lang="en-US" sz="1400" dirty="0">
                <a:solidFill>
                  <a:srgbClr val="FFFFFF"/>
                </a:solidFill>
                <a:latin typeface="Switzer" pitchFamily="34" charset="0"/>
                <a:ea typeface="Switzer" pitchFamily="34" charset="-122"/>
                <a:cs typeface="Switzer" pitchFamily="34" charset="-120"/>
              </a:rPr>
              <a:t>numeric(12,6); every total is a SUM in SQL</a:t>
            </a:r>
            <a:endParaRPr lang="en-US" sz="1400" dirty="0"/>
          </a:p>
        </p:txBody>
      </p:sp>
      <p:sp>
        <p:nvSpPr>
          <p:cNvPr id="48" name="Text 46"/>
          <p:cNvSpPr txBox="1"/>
          <p:nvPr/>
        </p:nvSpPr>
        <p:spPr>
          <a:xfrm>
            <a:off x="4297680" y="5852160"/>
            <a:ext cx="1005840" cy="45720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approvals</a:t>
            </a:r>
            <a:endParaRPr lang="en-US" sz="1400" dirty="0"/>
          </a:p>
        </p:txBody>
      </p:sp>
      <p:sp>
        <p:nvSpPr>
          <p:cNvPr id="49" name="Text 47"/>
          <p:cNvSpPr txBox="1"/>
          <p:nvPr/>
        </p:nvSpPr>
        <p:spPr>
          <a:xfrm>
            <a:off x="5303520" y="5852160"/>
            <a:ext cx="2651760" cy="457200"/>
          </a:xfrm>
          <a:prstGeom prst="rect">
            <a:avLst/>
          </a:prstGeom>
          <a:noFill/>
          <a:ln/>
        </p:spPr>
        <p:txBody>
          <a:bodyPr wrap="square" lIns="0" tIns="0" rIns="0" bIns="0" rtlCol="0" anchor="t"/>
          <a:lstStyle/>
          <a:p>
            <a:pPr indent="0" marL="0">
              <a:buNone/>
            </a:pPr>
            <a:r>
              <a:rPr lang="en-US" sz="1400" dirty="0">
                <a:solidFill>
                  <a:srgbClr val="FFFFFF"/>
                </a:solidFill>
                <a:latin typeface="Switzer" pitchFamily="34" charset="0"/>
                <a:ea typeface="Switzer" pitchFamily="34" charset="-122"/>
                <a:cs typeface="Switzer" pitchFamily="34" charset="-120"/>
              </a:rPr>
              <a:t>decided under FOR UPDATE: a grant is used once</a:t>
            </a:r>
            <a:endParaRPr lang="en-US" sz="1400" dirty="0"/>
          </a:p>
        </p:txBody>
      </p:sp>
      <p:sp>
        <p:nvSpPr>
          <p:cNvPr id="50" name="Text 48"/>
          <p:cNvSpPr txBox="1"/>
          <p:nvPr/>
        </p:nvSpPr>
        <p:spPr>
          <a:xfrm>
            <a:off x="8046720" y="5852160"/>
            <a:ext cx="1005840" cy="45720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outbox</a:t>
            </a:r>
            <a:endParaRPr lang="en-US" sz="1400" dirty="0"/>
          </a:p>
        </p:txBody>
      </p:sp>
      <p:sp>
        <p:nvSpPr>
          <p:cNvPr id="51" name="Text 49"/>
          <p:cNvSpPr txBox="1"/>
          <p:nvPr/>
        </p:nvSpPr>
        <p:spPr>
          <a:xfrm>
            <a:off x="9052560" y="5852160"/>
            <a:ext cx="2651760" cy="457200"/>
          </a:xfrm>
          <a:prstGeom prst="rect">
            <a:avLst/>
          </a:prstGeom>
          <a:noFill/>
          <a:ln/>
        </p:spPr>
        <p:txBody>
          <a:bodyPr wrap="square" lIns="0" tIns="0" rIns="0" bIns="0" rtlCol="0" anchor="t"/>
          <a:lstStyle/>
          <a:p>
            <a:pPr indent="0" marL="0">
              <a:buNone/>
            </a:pPr>
            <a:r>
              <a:rPr lang="en-US" sz="1400" dirty="0">
                <a:solidFill>
                  <a:srgbClr val="FFFFFF"/>
                </a:solidFill>
                <a:latin typeface="Switzer" pitchFamily="34" charset="0"/>
                <a:ea typeface="Switzer" pitchFamily="34" charset="-122"/>
                <a:cs typeface="Switzer" pitchFamily="34" charset="-120"/>
              </a:rPr>
              <a:t>SKIP LOCKED, with a 30 s lease</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Physical  ·  One use case in detail</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Asking a question with a chosen agent</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sequenc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Physical  ·  One use case in detail</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Three ports, with new adapters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sp>
        <p:nvSpPr>
          <p:cNvPr id="10" name="Text 8"/>
          <p:cNvSpPr txBox="1"/>
          <p:nvPr/>
        </p:nvSpPr>
        <p:spPr>
          <a:xfrm>
            <a:off x="548640" y="1691640"/>
            <a:ext cx="2560320"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the kernel calls</a:t>
            </a:r>
            <a:endParaRPr lang="en-US" sz="1400" dirty="0"/>
          </a:p>
        </p:txBody>
      </p:sp>
      <p:sp>
        <p:nvSpPr>
          <p:cNvPr id="11" name="Text 9"/>
          <p:cNvSpPr txBox="1"/>
          <p:nvPr/>
        </p:nvSpPr>
        <p:spPr>
          <a:xfrm>
            <a:off x="3291840" y="1691640"/>
            <a:ext cx="2834640"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in the monolith</a:t>
            </a:r>
            <a:endParaRPr lang="en-US" sz="1400" dirty="0"/>
          </a:p>
        </p:txBody>
      </p:sp>
      <p:sp>
        <p:nvSpPr>
          <p:cNvPr id="12" name="Text 10"/>
          <p:cNvSpPr txBox="1"/>
          <p:nvPr/>
        </p:nvSpPr>
        <p:spPr>
          <a:xfrm>
            <a:off x="6309360" y="1691640"/>
            <a:ext cx="5148072"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in the platform</a:t>
            </a:r>
            <a:endParaRPr lang="en-US" sz="1400" dirty="0"/>
          </a:p>
        </p:txBody>
      </p:sp>
      <p:sp>
        <p:nvSpPr>
          <p:cNvPr id="13" name="Shape 11"/>
          <p:cNvSpPr/>
          <p:nvPr/>
        </p:nvSpPr>
        <p:spPr>
          <a:xfrm>
            <a:off x="548640" y="2075688"/>
            <a:ext cx="11091672" cy="9144"/>
          </a:xfrm>
          <a:prstGeom prst="rect">
            <a:avLst/>
          </a:prstGeom>
          <a:solidFill>
            <a:srgbClr val="45484C"/>
          </a:solidFill>
          <a:ln/>
        </p:spPr>
      </p:sp>
      <p:sp>
        <p:nvSpPr>
          <p:cNvPr id="14" name="Text 12"/>
          <p:cNvSpPr txBox="1"/>
          <p:nvPr/>
        </p:nvSpPr>
        <p:spPr>
          <a:xfrm>
            <a:off x="548640" y="2130552"/>
            <a:ext cx="2560320" cy="566928"/>
          </a:xfrm>
          <a:prstGeom prst="rect">
            <a:avLst/>
          </a:prstGeom>
          <a:noFill/>
          <a:ln/>
        </p:spPr>
        <p:txBody>
          <a:bodyPr wrap="square" lIns="0" tIns="0" rIns="0" bIns="0" rtlCol="0" anchor="ctr"/>
          <a:lstStyle/>
          <a:p>
            <a:pPr indent="0" marL="0">
              <a:buNone/>
            </a:pPr>
            <a:r>
              <a:rPr lang="en-US" sz="1600" dirty="0">
                <a:solidFill>
                  <a:srgbClr val="FFFFFF"/>
                </a:solidFill>
                <a:latin typeface="JetBrains Mono" pitchFamily="34" charset="0"/>
                <a:ea typeface="JetBrains Mono" pitchFamily="34" charset="-122"/>
                <a:cs typeface="JetBrains Mono" pitchFamily="34" charset="-120"/>
              </a:rPr>
              <a:t>Worker</a:t>
            </a:r>
            <a:endParaRPr lang="en-US" sz="1600" dirty="0"/>
          </a:p>
        </p:txBody>
      </p:sp>
      <p:sp>
        <p:nvSpPr>
          <p:cNvPr id="15" name="Text 13"/>
          <p:cNvSpPr txBox="1"/>
          <p:nvPr/>
        </p:nvSpPr>
        <p:spPr>
          <a:xfrm>
            <a:off x="3291840" y="2130552"/>
            <a:ext cx="2834640" cy="566928"/>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the agent loop, in-process</a:t>
            </a:r>
            <a:endParaRPr lang="en-US" sz="1600" dirty="0"/>
          </a:p>
        </p:txBody>
      </p:sp>
      <p:sp>
        <p:nvSpPr>
          <p:cNvPr id="16" name="Text 14"/>
          <p:cNvSpPr txBox="1"/>
          <p:nvPr/>
        </p:nvSpPr>
        <p:spPr>
          <a:xfrm>
            <a:off x="6309360" y="2130552"/>
            <a:ext cx="5148072" cy="566928"/>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QueueWorker: puts the turn on lumen.turns.&lt;level&gt;</a:t>
            </a:r>
            <a:endParaRPr lang="en-US" sz="1600" dirty="0"/>
          </a:p>
        </p:txBody>
      </p:sp>
      <p:sp>
        <p:nvSpPr>
          <p:cNvPr id="17" name="Shape 15"/>
          <p:cNvSpPr/>
          <p:nvPr/>
        </p:nvSpPr>
        <p:spPr>
          <a:xfrm>
            <a:off x="548640" y="2734056"/>
            <a:ext cx="11091672" cy="9144"/>
          </a:xfrm>
          <a:prstGeom prst="rect">
            <a:avLst/>
          </a:prstGeom>
          <a:solidFill>
            <a:srgbClr val="45484C"/>
          </a:solidFill>
          <a:ln/>
        </p:spPr>
      </p:sp>
      <p:sp>
        <p:nvSpPr>
          <p:cNvPr id="18" name="Text 16"/>
          <p:cNvSpPr txBox="1"/>
          <p:nvPr/>
        </p:nvSpPr>
        <p:spPr>
          <a:xfrm>
            <a:off x="548640" y="2788920"/>
            <a:ext cx="2560320" cy="566928"/>
          </a:xfrm>
          <a:prstGeom prst="rect">
            <a:avLst/>
          </a:prstGeom>
          <a:noFill/>
          <a:ln/>
        </p:spPr>
        <p:txBody>
          <a:bodyPr wrap="square" lIns="0" tIns="0" rIns="0" bIns="0" rtlCol="0" anchor="ctr"/>
          <a:lstStyle/>
          <a:p>
            <a:pPr indent="0" marL="0">
              <a:buNone/>
            </a:pPr>
            <a:r>
              <a:rPr lang="en-US" sz="1600" dirty="0">
                <a:solidFill>
                  <a:srgbClr val="FFFFFF"/>
                </a:solidFill>
                <a:latin typeface="JetBrains Mono" pitchFamily="34" charset="0"/>
                <a:ea typeface="JetBrains Mono" pitchFamily="34" charset="-122"/>
                <a:cs typeface="JetBrains Mono" pitchFamily="34" charset="-120"/>
              </a:rPr>
              <a:t>WorkerReport</a:t>
            </a:r>
            <a:endParaRPr lang="en-US" sz="1600" dirty="0"/>
          </a:p>
        </p:txBody>
      </p:sp>
      <p:sp>
        <p:nvSpPr>
          <p:cNvPr id="19" name="Text 17"/>
          <p:cNvSpPr txBox="1"/>
          <p:nvPr/>
        </p:nvSpPr>
        <p:spPr>
          <a:xfrm>
            <a:off x="3291840" y="2788920"/>
            <a:ext cx="2834640" cy="566928"/>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the kernel itself</a:t>
            </a:r>
            <a:endParaRPr lang="en-US" sz="1600" dirty="0"/>
          </a:p>
        </p:txBody>
      </p:sp>
      <p:sp>
        <p:nvSpPr>
          <p:cNvPr id="20" name="Text 18"/>
          <p:cNvSpPr txBox="1"/>
          <p:nvPr/>
        </p:nvSpPr>
        <p:spPr>
          <a:xfrm>
            <a:off x="6309360" y="2788920"/>
            <a:ext cx="5148072" cy="566928"/>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RemoteReport: POST /internal/turns/:id/&lt;step&gt;</a:t>
            </a:r>
            <a:endParaRPr lang="en-US" sz="1600" dirty="0"/>
          </a:p>
        </p:txBody>
      </p:sp>
      <p:sp>
        <p:nvSpPr>
          <p:cNvPr id="21" name="Shape 19"/>
          <p:cNvSpPr/>
          <p:nvPr/>
        </p:nvSpPr>
        <p:spPr>
          <a:xfrm>
            <a:off x="548640" y="3392424"/>
            <a:ext cx="11091672" cy="9144"/>
          </a:xfrm>
          <a:prstGeom prst="rect">
            <a:avLst/>
          </a:prstGeom>
          <a:solidFill>
            <a:srgbClr val="45484C"/>
          </a:solidFill>
          <a:ln/>
        </p:spPr>
      </p:sp>
      <p:sp>
        <p:nvSpPr>
          <p:cNvPr id="22" name="Text 20"/>
          <p:cNvSpPr txBox="1"/>
          <p:nvPr/>
        </p:nvSpPr>
        <p:spPr>
          <a:xfrm>
            <a:off x="548640" y="3447288"/>
            <a:ext cx="2560320" cy="566928"/>
          </a:xfrm>
          <a:prstGeom prst="rect">
            <a:avLst/>
          </a:prstGeom>
          <a:noFill/>
          <a:ln/>
        </p:spPr>
        <p:txBody>
          <a:bodyPr wrap="square" lIns="0" tIns="0" rIns="0" bIns="0" rtlCol="0" anchor="ctr"/>
          <a:lstStyle/>
          <a:p>
            <a:pPr indent="0" marL="0">
              <a:buNone/>
            </a:pPr>
            <a:r>
              <a:rPr lang="en-US" sz="1600" dirty="0">
                <a:solidFill>
                  <a:srgbClr val="FFFFFF"/>
                </a:solidFill>
                <a:latin typeface="JetBrains Mono" pitchFamily="34" charset="0"/>
                <a:ea typeface="JetBrains Mono" pitchFamily="34" charset="-122"/>
                <a:cs typeface="JetBrains Mono" pitchFamily="34" charset="-120"/>
              </a:rPr>
              <a:t>SessionDirectory</a:t>
            </a:r>
            <a:endParaRPr lang="en-US" sz="1600" dirty="0"/>
          </a:p>
        </p:txBody>
      </p:sp>
      <p:sp>
        <p:nvSpPr>
          <p:cNvPr id="23" name="Text 21"/>
          <p:cNvSpPr txBox="1"/>
          <p:nvPr/>
        </p:nvSpPr>
        <p:spPr>
          <a:xfrm>
            <a:off x="3291840" y="3447288"/>
            <a:ext cx="2834640" cy="566928"/>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the kernel itself</a:t>
            </a:r>
            <a:endParaRPr lang="en-US" sz="1600" dirty="0"/>
          </a:p>
        </p:txBody>
      </p:sp>
      <p:sp>
        <p:nvSpPr>
          <p:cNvPr id="24" name="Text 22"/>
          <p:cNvSpPr txBox="1"/>
          <p:nvPr/>
        </p:nvSpPr>
        <p:spPr>
          <a:xfrm>
            <a:off x="6309360" y="3447288"/>
            <a:ext cx="5148072" cy="566928"/>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remote: POST /internal/directory/start</a:t>
            </a:r>
            <a:endParaRPr lang="en-US" sz="1600" dirty="0"/>
          </a:p>
        </p:txBody>
      </p:sp>
      <p:sp>
        <p:nvSpPr>
          <p:cNvPr id="25" name="Text 23"/>
          <p:cNvSpPr txBox="1"/>
          <p:nvPr/>
        </p:nvSpPr>
        <p:spPr>
          <a:xfrm>
            <a:off x="548640" y="4160520"/>
            <a:ext cx="3657600"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when it fails</a:t>
            </a:r>
            <a:endParaRPr lang="en-US" sz="1400" dirty="0"/>
          </a:p>
        </p:txBody>
      </p:sp>
      <p:sp>
        <p:nvSpPr>
          <p:cNvPr id="26" name="Shape 24"/>
          <p:cNvSpPr/>
          <p:nvPr/>
        </p:nvSpPr>
        <p:spPr>
          <a:xfrm>
            <a:off x="548640" y="4526280"/>
            <a:ext cx="11091672" cy="9144"/>
          </a:xfrm>
          <a:prstGeom prst="rect">
            <a:avLst/>
          </a:prstGeom>
          <a:solidFill>
            <a:srgbClr val="45484C"/>
          </a:solidFill>
          <a:ln/>
        </p:spPr>
      </p:sp>
      <p:sp>
        <p:nvSpPr>
          <p:cNvPr id="27" name="Text 25"/>
          <p:cNvSpPr txBox="1"/>
          <p:nvPr/>
        </p:nvSpPr>
        <p:spPr>
          <a:xfrm>
            <a:off x="548640" y="4581144"/>
            <a:ext cx="4206240" cy="438912"/>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a worker dies before it acks</a:t>
            </a:r>
            <a:endParaRPr lang="en-US" sz="1600" dirty="0"/>
          </a:p>
        </p:txBody>
      </p:sp>
      <p:sp>
        <p:nvSpPr>
          <p:cNvPr id="28" name="Text 26"/>
          <p:cNvSpPr txBox="1"/>
          <p:nvPr/>
        </p:nvSpPr>
        <p:spPr>
          <a:xfrm>
            <a:off x="4754880" y="4581144"/>
            <a:ext cx="6858000" cy="43891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RabbitMQ gives the turn to another worker</a:t>
            </a:r>
            <a:endParaRPr lang="en-US" sz="1600" dirty="0"/>
          </a:p>
        </p:txBody>
      </p:sp>
      <p:sp>
        <p:nvSpPr>
          <p:cNvPr id="29" name="Shape 27"/>
          <p:cNvSpPr/>
          <p:nvPr/>
        </p:nvSpPr>
        <p:spPr>
          <a:xfrm>
            <a:off x="548640" y="5074920"/>
            <a:ext cx="11091672" cy="9144"/>
          </a:xfrm>
          <a:prstGeom prst="rect">
            <a:avLst/>
          </a:prstGeom>
          <a:solidFill>
            <a:srgbClr val="45484C"/>
          </a:solidFill>
          <a:ln/>
        </p:spPr>
      </p:sp>
      <p:sp>
        <p:nvSpPr>
          <p:cNvPr id="30" name="Text 28"/>
          <p:cNvSpPr txBox="1"/>
          <p:nvPr/>
        </p:nvSpPr>
        <p:spPr>
          <a:xfrm>
            <a:off x="548640" y="5129784"/>
            <a:ext cx="4206240" cy="438912"/>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/done gets 404</a:t>
            </a:r>
            <a:endParaRPr lang="en-US" sz="1600" dirty="0"/>
          </a:p>
        </p:txBody>
      </p:sp>
      <p:sp>
        <p:nvSpPr>
          <p:cNvPr id="31" name="Text 29"/>
          <p:cNvSpPr txBox="1"/>
          <p:nvPr/>
        </p:nvSpPr>
        <p:spPr>
          <a:xfrm>
            <a:off x="4754880" y="5129784"/>
            <a:ext cx="6858000" cy="43891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the worker acks and drops the turn, so it never loops</a:t>
            </a:r>
            <a:endParaRPr lang="en-US" sz="1600" dirty="0"/>
          </a:p>
        </p:txBody>
      </p:sp>
      <p:sp>
        <p:nvSpPr>
          <p:cNvPr id="32" name="Shape 30"/>
          <p:cNvSpPr/>
          <p:nvPr/>
        </p:nvSpPr>
        <p:spPr>
          <a:xfrm>
            <a:off x="548640" y="5623560"/>
            <a:ext cx="11091672" cy="9144"/>
          </a:xfrm>
          <a:prstGeom prst="rect">
            <a:avLst/>
          </a:prstGeom>
          <a:solidFill>
            <a:srgbClr val="45484C"/>
          </a:solidFill>
          <a:ln/>
        </p:spPr>
      </p:sp>
      <p:sp>
        <p:nvSpPr>
          <p:cNvPr id="33" name="Text 31"/>
          <p:cNvSpPr txBox="1"/>
          <p:nvPr/>
        </p:nvSpPr>
        <p:spPr>
          <a:xfrm>
            <a:off x="548640" y="5678424"/>
            <a:ext cx="4206240" cy="438912"/>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an app passes its rate</a:t>
            </a:r>
            <a:endParaRPr lang="en-US" sz="1600" dirty="0"/>
          </a:p>
        </p:txBody>
      </p:sp>
      <p:sp>
        <p:nvSpPr>
          <p:cNvPr id="34" name="Text 32"/>
          <p:cNvSpPr txBox="1"/>
          <p:nvPr/>
        </p:nvSpPr>
        <p:spPr>
          <a:xfrm>
            <a:off x="4754880" y="5678424"/>
            <a:ext cx="6858000" cy="43891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429 with Retry-After; the app waits and asks again</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Physical  ·  Recorded on the server</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Every service is running</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pod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DevOps  ·  Source and artifacts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From a branch to a running image</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sourc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DevOps  ·  Pipeline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Six checks around one deploy</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pipelin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DevOps  ·  Pipeline in detail</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Every push to ass/platform</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sp>
        <p:nvSpPr>
          <p:cNvPr id="10" name="Text 8"/>
          <p:cNvSpPr txBox="1"/>
          <p:nvPr/>
        </p:nvSpPr>
        <p:spPr>
          <a:xfrm>
            <a:off x="7040880" y="384048"/>
            <a:ext cx="4599432" cy="292608"/>
          </a:xfrm>
          <a:prstGeom prst="rect">
            <a:avLst/>
          </a:prstGeom>
          <a:noFill/>
          <a:ln/>
        </p:spPr>
        <p:txBody>
          <a:bodyPr wrap="square" lIns="0" tIns="0" rIns="0" bIns="0" rtlCol="0" anchor="t"/>
          <a:lstStyle/>
          <a:p>
            <a:pPr algn="r" indent="0" marL="0">
              <a:buNone/>
            </a:pPr>
            <a:r>
              <a:rPr lang="en-US" sz="1400" dirty="0">
                <a:solidFill>
                  <a:srgbClr val="9A9DA3"/>
                </a:solidFill>
                <a:latin typeface="JetBrains Mono" pitchFamily="34" charset="0"/>
                <a:ea typeface="JetBrains Mono" pitchFamily="34" charset="-122"/>
                <a:cs typeface="JetBrains Mono" pitchFamily="34" charset="-120"/>
              </a:rPr>
              <a:t>run 39441445313  ·  12 min 30 s</a:t>
            </a:r>
            <a:endParaRPr lang="en-US" sz="1400" dirty="0"/>
          </a:p>
        </p:txBody>
      </p:sp>
      <p:sp>
        <p:nvSpPr>
          <p:cNvPr id="11" name="Shape 9"/>
          <p:cNvSpPr/>
          <p:nvPr/>
        </p:nvSpPr>
        <p:spPr>
          <a:xfrm>
            <a:off x="548640" y="2514600"/>
            <a:ext cx="1554480" cy="685800"/>
          </a:xfrm>
          <a:prstGeom prst="rect">
            <a:avLst/>
          </a:prstGeom>
          <a:ln w="12700">
            <a:solidFill>
              <a:srgbClr val="45484C"/>
            </a:solidFill>
            <a:prstDash val="solid"/>
          </a:ln>
        </p:spPr>
      </p:sp>
      <p:sp>
        <p:nvSpPr>
          <p:cNvPr id="12" name="Text 10"/>
          <p:cNvSpPr txBox="1"/>
          <p:nvPr/>
        </p:nvSpPr>
        <p:spPr>
          <a:xfrm>
            <a:off x="658368" y="2587752"/>
            <a:ext cx="731520" cy="292608"/>
          </a:xfrm>
          <a:prstGeom prst="rect">
            <a:avLst/>
          </a:prstGeom>
          <a:noFill/>
          <a:ln/>
        </p:spPr>
        <p:txBody>
          <a:bodyPr wrap="square" lIns="0" tIns="0" rIns="0" bIns="0" rtlCol="0" anchor="t"/>
          <a:lstStyle/>
          <a:p>
            <a:pPr indent="0" marL="0">
              <a:buNone/>
            </a:pPr>
            <a:r>
              <a:rPr lang="en-US" sz="1500" dirty="0">
                <a:solidFill>
                  <a:srgbClr val="FFFFFF"/>
                </a:solidFill>
                <a:latin typeface="Switzer Semibold" pitchFamily="34" charset="0"/>
                <a:ea typeface="Switzer Semibold" pitchFamily="34" charset="-122"/>
                <a:cs typeface="Switzer Semibold" pitchFamily="34" charset="-120"/>
              </a:rPr>
              <a:t>push</a:t>
            </a:r>
            <a:endParaRPr lang="en-US" sz="1500" dirty="0"/>
          </a:p>
        </p:txBody>
      </p:sp>
      <p:sp>
        <p:nvSpPr>
          <p:cNvPr id="13" name="Text 11"/>
          <p:cNvSpPr txBox="1"/>
          <p:nvPr/>
        </p:nvSpPr>
        <p:spPr>
          <a:xfrm>
            <a:off x="658368" y="2880360"/>
            <a:ext cx="1371600"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or a manual run</a:t>
            </a:r>
            <a:endParaRPr lang="en-US" sz="1400" dirty="0"/>
          </a:p>
        </p:txBody>
      </p:sp>
      <p:sp>
        <p:nvSpPr>
          <p:cNvPr id="14" name="Text 12"/>
          <p:cNvSpPr txBox="1"/>
          <p:nvPr/>
        </p:nvSpPr>
        <p:spPr>
          <a:xfrm>
            <a:off x="2121408" y="2670048"/>
            <a:ext cx="274320" cy="365760"/>
          </a:xfrm>
          <a:prstGeom prst="rect">
            <a:avLst/>
          </a:prstGeom>
          <a:noFill/>
          <a:ln/>
        </p:spPr>
        <p:txBody>
          <a:bodyPr wrap="square" lIns="0" tIns="0" rIns="0" bIns="0" rtlCol="0" anchor="ctr"/>
          <a:lstStyle/>
          <a:p>
            <a:pPr algn="ctr" indent="0" marL="0">
              <a:buNone/>
            </a:pPr>
            <a:r>
              <a:rPr lang="en-US" sz="2000" dirty="0">
                <a:solidFill>
                  <a:srgbClr val="9A9DA3"/>
                </a:solidFill>
                <a:latin typeface="Switzer" pitchFamily="34" charset="0"/>
                <a:ea typeface="Switzer" pitchFamily="34" charset="-122"/>
                <a:cs typeface="Switzer" pitchFamily="34" charset="-120"/>
              </a:rPr>
              <a:t>→</a:t>
            </a:r>
            <a:endParaRPr lang="en-US" sz="2000" dirty="0"/>
          </a:p>
        </p:txBody>
      </p:sp>
      <p:sp>
        <p:nvSpPr>
          <p:cNvPr id="15" name="Shape 13"/>
          <p:cNvSpPr/>
          <p:nvPr/>
        </p:nvSpPr>
        <p:spPr>
          <a:xfrm>
            <a:off x="2423160" y="1737360"/>
            <a:ext cx="2331720" cy="457200"/>
          </a:xfrm>
          <a:prstGeom prst="rect">
            <a:avLst/>
          </a:prstGeom>
          <a:ln w="12700">
            <a:solidFill>
              <a:srgbClr val="45484C"/>
            </a:solidFill>
            <a:prstDash val="solid"/>
          </a:ln>
        </p:spPr>
      </p:sp>
      <p:sp>
        <p:nvSpPr>
          <p:cNvPr id="16" name="Text 14"/>
          <p:cNvSpPr txBox="1"/>
          <p:nvPr/>
        </p:nvSpPr>
        <p:spPr>
          <a:xfrm>
            <a:off x="2532888" y="1810512"/>
            <a:ext cx="1508760" cy="292608"/>
          </a:xfrm>
          <a:prstGeom prst="rect">
            <a:avLst/>
          </a:prstGeom>
          <a:noFill/>
          <a:ln/>
        </p:spPr>
        <p:txBody>
          <a:bodyPr wrap="square" lIns="0" tIns="0" rIns="0" bIns="0" rtlCol="0" anchor="t"/>
          <a:lstStyle/>
          <a:p>
            <a:pPr indent="0" marL="0">
              <a:buNone/>
            </a:pPr>
            <a:r>
              <a:rPr lang="en-US" sz="1500" dirty="0">
                <a:solidFill>
                  <a:srgbClr val="FFFFFF"/>
                </a:solidFill>
                <a:latin typeface="Switzer Semibold" pitchFamily="34" charset="0"/>
                <a:ea typeface="Switzer Semibold" pitchFamily="34" charset="-122"/>
                <a:cs typeface="Switzer Semibold" pitchFamily="34" charset="-120"/>
              </a:rPr>
              <a:t>tests, lint</a:t>
            </a:r>
            <a:endParaRPr lang="en-US" sz="1500" dirty="0"/>
          </a:p>
        </p:txBody>
      </p:sp>
      <p:sp>
        <p:nvSpPr>
          <p:cNvPr id="17" name="Text 15"/>
          <p:cNvSpPr txBox="1"/>
          <p:nvPr/>
        </p:nvSpPr>
        <p:spPr>
          <a:xfrm>
            <a:off x="3977640" y="1810512"/>
            <a:ext cx="667512" cy="292608"/>
          </a:xfrm>
          <a:prstGeom prst="rect">
            <a:avLst/>
          </a:prstGeom>
          <a:noFill/>
          <a:ln/>
        </p:spPr>
        <p:txBody>
          <a:bodyPr wrap="square" lIns="0" tIns="0" rIns="0" bIns="0" rtlCol="0" anchor="t"/>
          <a:lstStyle/>
          <a:p>
            <a:pPr algn="r" indent="0" marL="0">
              <a:buNone/>
            </a:pPr>
            <a:r>
              <a:rPr lang="en-US" sz="1400" dirty="0">
                <a:solidFill>
                  <a:srgbClr val="9A9DA3"/>
                </a:solidFill>
                <a:latin typeface="JetBrains Mono" pitchFamily="34" charset="0"/>
                <a:ea typeface="JetBrains Mono" pitchFamily="34" charset="-122"/>
                <a:cs typeface="JetBrains Mono" pitchFamily="34" charset="-120"/>
              </a:rPr>
              <a:t>5:05</a:t>
            </a:r>
            <a:endParaRPr lang="en-US" sz="1400" dirty="0"/>
          </a:p>
        </p:txBody>
      </p:sp>
      <p:sp>
        <p:nvSpPr>
          <p:cNvPr id="18" name="Shape 16"/>
          <p:cNvSpPr/>
          <p:nvPr/>
        </p:nvSpPr>
        <p:spPr>
          <a:xfrm>
            <a:off x="2423160" y="2651760"/>
            <a:ext cx="2331720" cy="457200"/>
          </a:xfrm>
          <a:prstGeom prst="rect">
            <a:avLst/>
          </a:prstGeom>
          <a:ln w="12700">
            <a:solidFill>
              <a:srgbClr val="45484C"/>
            </a:solidFill>
            <a:prstDash val="solid"/>
          </a:ln>
        </p:spPr>
      </p:sp>
      <p:sp>
        <p:nvSpPr>
          <p:cNvPr id="19" name="Text 17"/>
          <p:cNvSpPr txBox="1"/>
          <p:nvPr/>
        </p:nvSpPr>
        <p:spPr>
          <a:xfrm>
            <a:off x="2532888" y="2724912"/>
            <a:ext cx="1508760" cy="292608"/>
          </a:xfrm>
          <a:prstGeom prst="rect">
            <a:avLst/>
          </a:prstGeom>
          <a:noFill/>
          <a:ln/>
        </p:spPr>
        <p:txBody>
          <a:bodyPr wrap="square" lIns="0" tIns="0" rIns="0" bIns="0" rtlCol="0" anchor="t"/>
          <a:lstStyle/>
          <a:p>
            <a:pPr indent="0" marL="0">
              <a:buNone/>
            </a:pPr>
            <a:r>
              <a:rPr lang="en-US" sz="1500" dirty="0">
                <a:solidFill>
                  <a:srgbClr val="FFFFFF"/>
                </a:solidFill>
                <a:latin typeface="Switzer Semibold" pitchFamily="34" charset="0"/>
                <a:ea typeface="Switzer Semibold" pitchFamily="34" charset="-122"/>
                <a:cs typeface="Switzer Semibold" pitchFamily="34" charset="-120"/>
              </a:rPr>
              <a:t>SCA npm audit</a:t>
            </a:r>
            <a:endParaRPr lang="en-US" sz="1500" dirty="0"/>
          </a:p>
        </p:txBody>
      </p:sp>
      <p:sp>
        <p:nvSpPr>
          <p:cNvPr id="20" name="Text 18"/>
          <p:cNvSpPr txBox="1"/>
          <p:nvPr/>
        </p:nvSpPr>
        <p:spPr>
          <a:xfrm>
            <a:off x="3977640" y="2724912"/>
            <a:ext cx="667512" cy="292608"/>
          </a:xfrm>
          <a:prstGeom prst="rect">
            <a:avLst/>
          </a:prstGeom>
          <a:noFill/>
          <a:ln/>
        </p:spPr>
        <p:txBody>
          <a:bodyPr wrap="square" lIns="0" tIns="0" rIns="0" bIns="0" rtlCol="0" anchor="t"/>
          <a:lstStyle/>
          <a:p>
            <a:pPr algn="r" indent="0" marL="0">
              <a:buNone/>
            </a:pPr>
            <a:r>
              <a:rPr lang="en-US" sz="1400" dirty="0">
                <a:solidFill>
                  <a:srgbClr val="9A9DA3"/>
                </a:solidFill>
                <a:latin typeface="JetBrains Mono" pitchFamily="34" charset="0"/>
                <a:ea typeface="JetBrains Mono" pitchFamily="34" charset="-122"/>
                <a:cs typeface="JetBrains Mono" pitchFamily="34" charset="-120"/>
              </a:rPr>
              <a:t>0:33</a:t>
            </a:r>
            <a:endParaRPr lang="en-US" sz="1400" dirty="0"/>
          </a:p>
        </p:txBody>
      </p:sp>
      <p:sp>
        <p:nvSpPr>
          <p:cNvPr id="21" name="Shape 19"/>
          <p:cNvSpPr/>
          <p:nvPr/>
        </p:nvSpPr>
        <p:spPr>
          <a:xfrm>
            <a:off x="2423160" y="3566160"/>
            <a:ext cx="2331720" cy="457200"/>
          </a:xfrm>
          <a:prstGeom prst="rect">
            <a:avLst/>
          </a:prstGeom>
          <a:ln w="12700">
            <a:solidFill>
              <a:srgbClr val="45484C"/>
            </a:solidFill>
            <a:prstDash val="solid"/>
          </a:ln>
        </p:spPr>
      </p:sp>
      <p:sp>
        <p:nvSpPr>
          <p:cNvPr id="22" name="Text 20"/>
          <p:cNvSpPr txBox="1"/>
          <p:nvPr/>
        </p:nvSpPr>
        <p:spPr>
          <a:xfrm>
            <a:off x="2532888" y="3639312"/>
            <a:ext cx="1508760" cy="292608"/>
          </a:xfrm>
          <a:prstGeom prst="rect">
            <a:avLst/>
          </a:prstGeom>
          <a:noFill/>
          <a:ln/>
        </p:spPr>
        <p:txBody>
          <a:bodyPr wrap="square" lIns="0" tIns="0" rIns="0" bIns="0" rtlCol="0" anchor="t"/>
          <a:lstStyle/>
          <a:p>
            <a:pPr indent="0" marL="0">
              <a:buNone/>
            </a:pPr>
            <a:r>
              <a:rPr lang="en-US" sz="1500" dirty="0">
                <a:solidFill>
                  <a:srgbClr val="FFFFFF"/>
                </a:solidFill>
                <a:latin typeface="Switzer Semibold" pitchFamily="34" charset="0"/>
                <a:ea typeface="Switzer Semibold" pitchFamily="34" charset="-122"/>
                <a:cs typeface="Switzer Semibold" pitchFamily="34" charset="-120"/>
              </a:rPr>
              <a:t>SAST CodeQL</a:t>
            </a:r>
            <a:endParaRPr lang="en-US" sz="1500" dirty="0"/>
          </a:p>
        </p:txBody>
      </p:sp>
      <p:sp>
        <p:nvSpPr>
          <p:cNvPr id="23" name="Text 21"/>
          <p:cNvSpPr txBox="1"/>
          <p:nvPr/>
        </p:nvSpPr>
        <p:spPr>
          <a:xfrm>
            <a:off x="3977640" y="3639312"/>
            <a:ext cx="667512" cy="292608"/>
          </a:xfrm>
          <a:prstGeom prst="rect">
            <a:avLst/>
          </a:prstGeom>
          <a:noFill/>
          <a:ln/>
        </p:spPr>
        <p:txBody>
          <a:bodyPr wrap="square" lIns="0" tIns="0" rIns="0" bIns="0" rtlCol="0" anchor="t"/>
          <a:lstStyle/>
          <a:p>
            <a:pPr algn="r" indent="0" marL="0">
              <a:buNone/>
            </a:pPr>
            <a:r>
              <a:rPr lang="en-US" sz="1400" dirty="0">
                <a:solidFill>
                  <a:srgbClr val="9A9DA3"/>
                </a:solidFill>
                <a:latin typeface="JetBrains Mono" pitchFamily="34" charset="0"/>
                <a:ea typeface="JetBrains Mono" pitchFamily="34" charset="-122"/>
                <a:cs typeface="JetBrains Mono" pitchFamily="34" charset="-120"/>
              </a:rPr>
              <a:t>2:54</a:t>
            </a:r>
            <a:endParaRPr lang="en-US" sz="1400" dirty="0"/>
          </a:p>
        </p:txBody>
      </p:sp>
      <p:sp>
        <p:nvSpPr>
          <p:cNvPr id="24" name="Text 22"/>
          <p:cNvSpPr txBox="1"/>
          <p:nvPr/>
        </p:nvSpPr>
        <p:spPr>
          <a:xfrm>
            <a:off x="4773168" y="2670048"/>
            <a:ext cx="274320" cy="365760"/>
          </a:xfrm>
          <a:prstGeom prst="rect">
            <a:avLst/>
          </a:prstGeom>
          <a:noFill/>
          <a:ln/>
        </p:spPr>
        <p:txBody>
          <a:bodyPr wrap="square" lIns="0" tIns="0" rIns="0" bIns="0" rtlCol="0" anchor="ctr"/>
          <a:lstStyle/>
          <a:p>
            <a:pPr algn="ctr" indent="0" marL="0">
              <a:buNone/>
            </a:pPr>
            <a:r>
              <a:rPr lang="en-US" sz="2000" dirty="0">
                <a:solidFill>
                  <a:srgbClr val="9A9DA3"/>
                </a:solidFill>
                <a:latin typeface="Switzer" pitchFamily="34" charset="0"/>
                <a:ea typeface="Switzer" pitchFamily="34" charset="-122"/>
                <a:cs typeface="Switzer" pitchFamily="34" charset="-120"/>
              </a:rPr>
              <a:t>→</a:t>
            </a:r>
            <a:endParaRPr lang="en-US" sz="2000" dirty="0"/>
          </a:p>
        </p:txBody>
      </p:sp>
      <p:sp>
        <p:nvSpPr>
          <p:cNvPr id="25" name="Shape 23"/>
          <p:cNvSpPr/>
          <p:nvPr/>
        </p:nvSpPr>
        <p:spPr>
          <a:xfrm>
            <a:off x="5074920" y="1737360"/>
            <a:ext cx="3017520" cy="2286000"/>
          </a:xfrm>
          <a:prstGeom prst="rect">
            <a:avLst/>
          </a:prstGeom>
          <a:ln w="12700">
            <a:solidFill>
              <a:srgbClr val="45484C"/>
            </a:solidFill>
            <a:prstDash val="solid"/>
          </a:ln>
        </p:spPr>
      </p:sp>
      <p:sp>
        <p:nvSpPr>
          <p:cNvPr id="26" name="Text 24"/>
          <p:cNvSpPr txBox="1"/>
          <p:nvPr/>
        </p:nvSpPr>
        <p:spPr>
          <a:xfrm>
            <a:off x="5184648" y="1810512"/>
            <a:ext cx="2194560" cy="292608"/>
          </a:xfrm>
          <a:prstGeom prst="rect">
            <a:avLst/>
          </a:prstGeom>
          <a:noFill/>
          <a:ln/>
        </p:spPr>
        <p:txBody>
          <a:bodyPr wrap="square" lIns="0" tIns="0" rIns="0" bIns="0" rtlCol="0" anchor="t"/>
          <a:lstStyle/>
          <a:p>
            <a:pPr indent="0" marL="0">
              <a:buNone/>
            </a:pPr>
            <a:r>
              <a:rPr lang="en-US" sz="1500" dirty="0">
                <a:solidFill>
                  <a:srgbClr val="FFFFFF"/>
                </a:solidFill>
                <a:latin typeface="Switzer Semibold" pitchFamily="34" charset="0"/>
                <a:ea typeface="Switzer Semibold" pitchFamily="34" charset="-122"/>
                <a:cs typeface="Switzer Semibold" pitchFamily="34" charset="-120"/>
              </a:rPr>
              <a:t>deploy</a:t>
            </a:r>
            <a:endParaRPr lang="en-US" sz="1500" dirty="0"/>
          </a:p>
        </p:txBody>
      </p:sp>
      <p:sp>
        <p:nvSpPr>
          <p:cNvPr id="27" name="Text 25"/>
          <p:cNvSpPr txBox="1"/>
          <p:nvPr/>
        </p:nvSpPr>
        <p:spPr>
          <a:xfrm>
            <a:off x="7315200" y="1810512"/>
            <a:ext cx="667512" cy="292608"/>
          </a:xfrm>
          <a:prstGeom prst="rect">
            <a:avLst/>
          </a:prstGeom>
          <a:noFill/>
          <a:ln/>
        </p:spPr>
        <p:txBody>
          <a:bodyPr wrap="square" lIns="0" tIns="0" rIns="0" bIns="0" rtlCol="0" anchor="t"/>
          <a:lstStyle/>
          <a:p>
            <a:pPr algn="r" indent="0" marL="0">
              <a:buNone/>
            </a:pPr>
            <a:r>
              <a:rPr lang="en-US" sz="1400" dirty="0">
                <a:solidFill>
                  <a:srgbClr val="9A9DA3"/>
                </a:solidFill>
                <a:latin typeface="JetBrains Mono" pitchFamily="34" charset="0"/>
                <a:ea typeface="JetBrains Mono" pitchFamily="34" charset="-122"/>
                <a:cs typeface="JetBrains Mono" pitchFamily="34" charset="-120"/>
              </a:rPr>
              <a:t>5:30</a:t>
            </a:r>
            <a:endParaRPr lang="en-US" sz="1400" dirty="0"/>
          </a:p>
        </p:txBody>
      </p:sp>
      <p:sp>
        <p:nvSpPr>
          <p:cNvPr id="28" name="Text 26"/>
          <p:cNvSpPr txBox="1"/>
          <p:nvPr/>
        </p:nvSpPr>
        <p:spPr>
          <a:xfrm>
            <a:off x="5184648" y="2148840"/>
            <a:ext cx="219456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build the image</a:t>
            </a:r>
            <a:endParaRPr lang="en-US" sz="1400" dirty="0"/>
          </a:p>
        </p:txBody>
      </p:sp>
      <p:sp>
        <p:nvSpPr>
          <p:cNvPr id="29" name="Text 27"/>
          <p:cNvSpPr txBox="1"/>
          <p:nvPr/>
        </p:nvSpPr>
        <p:spPr>
          <a:xfrm>
            <a:off x="7315200" y="2148840"/>
            <a:ext cx="667512" cy="292608"/>
          </a:xfrm>
          <a:prstGeom prst="rect">
            <a:avLst/>
          </a:prstGeom>
          <a:noFill/>
          <a:ln/>
        </p:spPr>
        <p:txBody>
          <a:bodyPr wrap="square" lIns="0" tIns="0" rIns="0" bIns="0" rtlCol="0" anchor="t"/>
          <a:lstStyle/>
          <a:p>
            <a:pPr algn="r" indent="0" marL="0">
              <a:buNone/>
            </a:pPr>
            <a:r>
              <a:rPr lang="en-US" sz="1400" dirty="0">
                <a:solidFill>
                  <a:srgbClr val="9A9DA3"/>
                </a:solidFill>
                <a:latin typeface="JetBrains Mono" pitchFamily="34" charset="0"/>
                <a:ea typeface="JetBrains Mono" pitchFamily="34" charset="-122"/>
                <a:cs typeface="JetBrains Mono" pitchFamily="34" charset="-120"/>
              </a:rPr>
              <a:t>2:50</a:t>
            </a:r>
            <a:endParaRPr lang="en-US" sz="1400" dirty="0"/>
          </a:p>
        </p:txBody>
      </p:sp>
      <p:sp>
        <p:nvSpPr>
          <p:cNvPr id="30" name="Text 28"/>
          <p:cNvSpPr txBox="1"/>
          <p:nvPr/>
        </p:nvSpPr>
        <p:spPr>
          <a:xfrm>
            <a:off x="5184648" y="2478024"/>
            <a:ext cx="219456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Trivy gate</a:t>
            </a:r>
            <a:endParaRPr lang="en-US" sz="1400" dirty="0"/>
          </a:p>
        </p:txBody>
      </p:sp>
      <p:sp>
        <p:nvSpPr>
          <p:cNvPr id="31" name="Text 29"/>
          <p:cNvSpPr txBox="1"/>
          <p:nvPr/>
        </p:nvSpPr>
        <p:spPr>
          <a:xfrm>
            <a:off x="7315200" y="2478024"/>
            <a:ext cx="667512" cy="292608"/>
          </a:xfrm>
          <a:prstGeom prst="rect">
            <a:avLst/>
          </a:prstGeom>
          <a:noFill/>
          <a:ln/>
        </p:spPr>
        <p:txBody>
          <a:bodyPr wrap="square" lIns="0" tIns="0" rIns="0" bIns="0" rtlCol="0" anchor="t"/>
          <a:lstStyle/>
          <a:p>
            <a:pPr algn="r" indent="0" marL="0">
              <a:buNone/>
            </a:pPr>
            <a:r>
              <a:rPr lang="en-US" sz="1400" dirty="0">
                <a:solidFill>
                  <a:srgbClr val="9A9DA3"/>
                </a:solidFill>
                <a:latin typeface="JetBrains Mono" pitchFamily="34" charset="0"/>
                <a:ea typeface="JetBrains Mono" pitchFamily="34" charset="-122"/>
                <a:cs typeface="JetBrains Mono" pitchFamily="34" charset="-120"/>
              </a:rPr>
              <a:t>0:25</a:t>
            </a:r>
            <a:endParaRPr lang="en-US" sz="1400" dirty="0"/>
          </a:p>
        </p:txBody>
      </p:sp>
      <p:sp>
        <p:nvSpPr>
          <p:cNvPr id="32" name="Text 30"/>
          <p:cNvSpPr txBox="1"/>
          <p:nvPr/>
        </p:nvSpPr>
        <p:spPr>
          <a:xfrm>
            <a:off x="5184648" y="2807208"/>
            <a:ext cx="219456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copy, k3s import</a:t>
            </a:r>
            <a:endParaRPr lang="en-US" sz="1400" dirty="0"/>
          </a:p>
        </p:txBody>
      </p:sp>
      <p:sp>
        <p:nvSpPr>
          <p:cNvPr id="33" name="Text 31"/>
          <p:cNvSpPr txBox="1"/>
          <p:nvPr/>
        </p:nvSpPr>
        <p:spPr>
          <a:xfrm>
            <a:off x="7315200" y="2807208"/>
            <a:ext cx="667512" cy="292608"/>
          </a:xfrm>
          <a:prstGeom prst="rect">
            <a:avLst/>
          </a:prstGeom>
          <a:noFill/>
          <a:ln/>
        </p:spPr>
        <p:txBody>
          <a:bodyPr wrap="square" lIns="0" tIns="0" rIns="0" bIns="0" rtlCol="0" anchor="t"/>
          <a:lstStyle/>
          <a:p>
            <a:pPr algn="r" indent="0" marL="0">
              <a:buNone/>
            </a:pPr>
            <a:r>
              <a:rPr lang="en-US" sz="1400" dirty="0">
                <a:solidFill>
                  <a:srgbClr val="9A9DA3"/>
                </a:solidFill>
                <a:latin typeface="JetBrains Mono" pitchFamily="34" charset="0"/>
                <a:ea typeface="JetBrains Mono" pitchFamily="34" charset="-122"/>
                <a:cs typeface="JetBrains Mono" pitchFamily="34" charset="-120"/>
              </a:rPr>
              <a:t>1:04</a:t>
            </a:r>
            <a:endParaRPr lang="en-US" sz="1400" dirty="0"/>
          </a:p>
        </p:txBody>
      </p:sp>
      <p:sp>
        <p:nvSpPr>
          <p:cNvPr id="34" name="Text 32"/>
          <p:cNvSpPr txBox="1"/>
          <p:nvPr/>
        </p:nvSpPr>
        <p:spPr>
          <a:xfrm>
            <a:off x="5184648" y="3136392"/>
            <a:ext cx="219456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helm upgrade --wait</a:t>
            </a:r>
            <a:endParaRPr lang="en-US" sz="1400" dirty="0"/>
          </a:p>
        </p:txBody>
      </p:sp>
      <p:sp>
        <p:nvSpPr>
          <p:cNvPr id="35" name="Text 33"/>
          <p:cNvSpPr txBox="1"/>
          <p:nvPr/>
        </p:nvSpPr>
        <p:spPr>
          <a:xfrm>
            <a:off x="7315200" y="3136392"/>
            <a:ext cx="667512" cy="292608"/>
          </a:xfrm>
          <a:prstGeom prst="rect">
            <a:avLst/>
          </a:prstGeom>
          <a:noFill/>
          <a:ln/>
        </p:spPr>
        <p:txBody>
          <a:bodyPr wrap="square" lIns="0" tIns="0" rIns="0" bIns="0" rtlCol="0" anchor="t"/>
          <a:lstStyle/>
          <a:p>
            <a:pPr algn="r" indent="0" marL="0">
              <a:buNone/>
            </a:pPr>
            <a:r>
              <a:rPr lang="en-US" sz="1400" dirty="0">
                <a:solidFill>
                  <a:srgbClr val="9A9DA3"/>
                </a:solidFill>
                <a:latin typeface="JetBrains Mono" pitchFamily="34" charset="0"/>
                <a:ea typeface="JetBrains Mono" pitchFamily="34" charset="-122"/>
                <a:cs typeface="JetBrains Mono" pitchFamily="34" charset="-120"/>
              </a:rPr>
              <a:t>0:22</a:t>
            </a:r>
            <a:endParaRPr lang="en-US" sz="1400" dirty="0"/>
          </a:p>
        </p:txBody>
      </p:sp>
      <p:sp>
        <p:nvSpPr>
          <p:cNvPr id="36" name="Text 34"/>
          <p:cNvSpPr txBox="1"/>
          <p:nvPr/>
        </p:nvSpPr>
        <p:spPr>
          <a:xfrm>
            <a:off x="5184648" y="3465576"/>
            <a:ext cx="219456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poll /api/health</a:t>
            </a:r>
            <a:endParaRPr lang="en-US" sz="1400" dirty="0"/>
          </a:p>
        </p:txBody>
      </p:sp>
      <p:sp>
        <p:nvSpPr>
          <p:cNvPr id="37" name="Text 35"/>
          <p:cNvSpPr txBox="1"/>
          <p:nvPr/>
        </p:nvSpPr>
        <p:spPr>
          <a:xfrm>
            <a:off x="7315200" y="3465576"/>
            <a:ext cx="667512" cy="292608"/>
          </a:xfrm>
          <a:prstGeom prst="rect">
            <a:avLst/>
          </a:prstGeom>
          <a:noFill/>
          <a:ln/>
        </p:spPr>
        <p:txBody>
          <a:bodyPr wrap="square" lIns="0" tIns="0" rIns="0" bIns="0" rtlCol="0" anchor="t"/>
          <a:lstStyle/>
          <a:p>
            <a:pPr algn="r" indent="0" marL="0">
              <a:buNone/>
            </a:pPr>
            <a:endParaRPr lang="en-US" sz="1400" dirty="0"/>
          </a:p>
        </p:txBody>
      </p:sp>
      <p:sp>
        <p:nvSpPr>
          <p:cNvPr id="38" name="Text 36"/>
          <p:cNvSpPr txBox="1"/>
          <p:nvPr/>
        </p:nvSpPr>
        <p:spPr>
          <a:xfrm>
            <a:off x="8110728" y="2670048"/>
            <a:ext cx="274320" cy="365760"/>
          </a:xfrm>
          <a:prstGeom prst="rect">
            <a:avLst/>
          </a:prstGeom>
          <a:noFill/>
          <a:ln/>
        </p:spPr>
        <p:txBody>
          <a:bodyPr wrap="square" lIns="0" tIns="0" rIns="0" bIns="0" rtlCol="0" anchor="ctr"/>
          <a:lstStyle/>
          <a:p>
            <a:pPr algn="ctr" indent="0" marL="0">
              <a:buNone/>
            </a:pPr>
            <a:r>
              <a:rPr lang="en-US" sz="2000" dirty="0">
                <a:solidFill>
                  <a:srgbClr val="9A9DA3"/>
                </a:solidFill>
                <a:latin typeface="Switzer" pitchFamily="34" charset="0"/>
                <a:ea typeface="Switzer" pitchFamily="34" charset="-122"/>
                <a:cs typeface="Switzer" pitchFamily="34" charset="-120"/>
              </a:rPr>
              <a:t>→</a:t>
            </a:r>
            <a:endParaRPr lang="en-US" sz="2000" dirty="0"/>
          </a:p>
        </p:txBody>
      </p:sp>
      <p:sp>
        <p:nvSpPr>
          <p:cNvPr id="39" name="Shape 37"/>
          <p:cNvSpPr/>
          <p:nvPr/>
        </p:nvSpPr>
        <p:spPr>
          <a:xfrm>
            <a:off x="8412480" y="1737360"/>
            <a:ext cx="1920240" cy="457200"/>
          </a:xfrm>
          <a:prstGeom prst="rect">
            <a:avLst/>
          </a:prstGeom>
          <a:ln w="12700">
            <a:solidFill>
              <a:srgbClr val="45484C"/>
            </a:solidFill>
            <a:prstDash val="solid"/>
          </a:ln>
        </p:spPr>
      </p:sp>
      <p:sp>
        <p:nvSpPr>
          <p:cNvPr id="40" name="Text 38"/>
          <p:cNvSpPr txBox="1"/>
          <p:nvPr/>
        </p:nvSpPr>
        <p:spPr>
          <a:xfrm>
            <a:off x="8522208" y="1810512"/>
            <a:ext cx="1097280" cy="292608"/>
          </a:xfrm>
          <a:prstGeom prst="rect">
            <a:avLst/>
          </a:prstGeom>
          <a:noFill/>
          <a:ln/>
        </p:spPr>
        <p:txBody>
          <a:bodyPr wrap="square" lIns="0" tIns="0" rIns="0" bIns="0" rtlCol="0" anchor="t"/>
          <a:lstStyle/>
          <a:p>
            <a:pPr indent="0" marL="0">
              <a:buNone/>
            </a:pPr>
            <a:r>
              <a:rPr lang="en-US" sz="1500" dirty="0">
                <a:solidFill>
                  <a:srgbClr val="FFFFFF"/>
                </a:solidFill>
                <a:latin typeface="Switzer Semibold" pitchFamily="34" charset="0"/>
                <a:ea typeface="Switzer Semibold" pitchFamily="34" charset="-122"/>
                <a:cs typeface="Switzer Semibold" pitchFamily="34" charset="-120"/>
              </a:rPr>
              <a:t>DAST ZAP</a:t>
            </a:r>
            <a:endParaRPr lang="en-US" sz="1500" dirty="0"/>
          </a:p>
        </p:txBody>
      </p:sp>
      <p:sp>
        <p:nvSpPr>
          <p:cNvPr id="41" name="Text 39"/>
          <p:cNvSpPr txBox="1"/>
          <p:nvPr/>
        </p:nvSpPr>
        <p:spPr>
          <a:xfrm>
            <a:off x="9555480" y="1810512"/>
            <a:ext cx="667512" cy="292608"/>
          </a:xfrm>
          <a:prstGeom prst="rect">
            <a:avLst/>
          </a:prstGeom>
          <a:noFill/>
          <a:ln/>
        </p:spPr>
        <p:txBody>
          <a:bodyPr wrap="square" lIns="0" tIns="0" rIns="0" bIns="0" rtlCol="0" anchor="t"/>
          <a:lstStyle/>
          <a:p>
            <a:pPr algn="r" indent="0" marL="0">
              <a:buNone/>
            </a:pPr>
            <a:r>
              <a:rPr lang="en-US" sz="1400" dirty="0">
                <a:solidFill>
                  <a:srgbClr val="9A9DA3"/>
                </a:solidFill>
                <a:latin typeface="JetBrains Mono" pitchFamily="34" charset="0"/>
                <a:ea typeface="JetBrains Mono" pitchFamily="34" charset="-122"/>
                <a:cs typeface="JetBrains Mono" pitchFamily="34" charset="-120"/>
              </a:rPr>
              <a:t>1:40</a:t>
            </a:r>
            <a:endParaRPr lang="en-US" sz="1400" dirty="0"/>
          </a:p>
        </p:txBody>
      </p:sp>
      <p:sp>
        <p:nvSpPr>
          <p:cNvPr id="42" name="Shape 40"/>
          <p:cNvSpPr/>
          <p:nvPr/>
        </p:nvSpPr>
        <p:spPr>
          <a:xfrm>
            <a:off x="8412480" y="2651760"/>
            <a:ext cx="1920240" cy="457200"/>
          </a:xfrm>
          <a:prstGeom prst="rect">
            <a:avLst/>
          </a:prstGeom>
          <a:ln w="12700">
            <a:solidFill>
              <a:srgbClr val="45484C"/>
            </a:solidFill>
            <a:prstDash val="solid"/>
          </a:ln>
        </p:spPr>
      </p:sp>
      <p:sp>
        <p:nvSpPr>
          <p:cNvPr id="43" name="Text 41"/>
          <p:cNvSpPr txBox="1"/>
          <p:nvPr/>
        </p:nvSpPr>
        <p:spPr>
          <a:xfrm>
            <a:off x="8522208" y="2724912"/>
            <a:ext cx="1097280" cy="292608"/>
          </a:xfrm>
          <a:prstGeom prst="rect">
            <a:avLst/>
          </a:prstGeom>
          <a:noFill/>
          <a:ln/>
        </p:spPr>
        <p:txBody>
          <a:bodyPr wrap="square" lIns="0" tIns="0" rIns="0" bIns="0" rtlCol="0" anchor="t"/>
          <a:lstStyle/>
          <a:p>
            <a:pPr indent="0" marL="0">
              <a:buNone/>
            </a:pPr>
            <a:r>
              <a:rPr lang="en-US" sz="1500" dirty="0">
                <a:solidFill>
                  <a:srgbClr val="FFFFFF"/>
                </a:solidFill>
                <a:latin typeface="Switzer Semibold" pitchFamily="34" charset="0"/>
                <a:ea typeface="Switzer Semibold" pitchFamily="34" charset="-122"/>
                <a:cs typeface="Switzer Semibold" pitchFamily="34" charset="-120"/>
              </a:rPr>
              <a:t>k6 smoke</a:t>
            </a:r>
            <a:endParaRPr lang="en-US" sz="1500" dirty="0"/>
          </a:p>
        </p:txBody>
      </p:sp>
      <p:sp>
        <p:nvSpPr>
          <p:cNvPr id="44" name="Text 42"/>
          <p:cNvSpPr txBox="1"/>
          <p:nvPr/>
        </p:nvSpPr>
        <p:spPr>
          <a:xfrm>
            <a:off x="9555480" y="2724912"/>
            <a:ext cx="667512" cy="292608"/>
          </a:xfrm>
          <a:prstGeom prst="rect">
            <a:avLst/>
          </a:prstGeom>
          <a:noFill/>
          <a:ln/>
        </p:spPr>
        <p:txBody>
          <a:bodyPr wrap="square" lIns="0" tIns="0" rIns="0" bIns="0" rtlCol="0" anchor="t"/>
          <a:lstStyle/>
          <a:p>
            <a:pPr algn="r" indent="0" marL="0">
              <a:buNone/>
            </a:pPr>
            <a:r>
              <a:rPr lang="en-US" sz="1400" dirty="0">
                <a:solidFill>
                  <a:srgbClr val="9A9DA3"/>
                </a:solidFill>
                <a:latin typeface="JetBrains Mono" pitchFamily="34" charset="0"/>
                <a:ea typeface="JetBrains Mono" pitchFamily="34" charset="-122"/>
                <a:cs typeface="JetBrains Mono" pitchFamily="34" charset="-120"/>
              </a:rPr>
              <a:t>1:15</a:t>
            </a:r>
            <a:endParaRPr lang="en-US" sz="1400" dirty="0"/>
          </a:p>
        </p:txBody>
      </p:sp>
      <p:sp>
        <p:nvSpPr>
          <p:cNvPr id="45" name="Text 43"/>
          <p:cNvSpPr txBox="1"/>
          <p:nvPr/>
        </p:nvSpPr>
        <p:spPr>
          <a:xfrm>
            <a:off x="10351008" y="2670048"/>
            <a:ext cx="274320" cy="365760"/>
          </a:xfrm>
          <a:prstGeom prst="rect">
            <a:avLst/>
          </a:prstGeom>
          <a:noFill/>
          <a:ln/>
        </p:spPr>
        <p:txBody>
          <a:bodyPr wrap="square" lIns="0" tIns="0" rIns="0" bIns="0" rtlCol="0" anchor="ctr"/>
          <a:lstStyle/>
          <a:p>
            <a:pPr algn="ctr" indent="0" marL="0">
              <a:buNone/>
            </a:pPr>
            <a:r>
              <a:rPr lang="en-US" sz="2000" dirty="0">
                <a:solidFill>
                  <a:srgbClr val="9A9DA3"/>
                </a:solidFill>
                <a:latin typeface="Switzer" pitchFamily="34" charset="0"/>
                <a:ea typeface="Switzer" pitchFamily="34" charset="-122"/>
                <a:cs typeface="Switzer" pitchFamily="34" charset="-120"/>
              </a:rPr>
              <a:t>→</a:t>
            </a:r>
            <a:endParaRPr lang="en-US" sz="2000" dirty="0"/>
          </a:p>
        </p:txBody>
      </p:sp>
      <p:sp>
        <p:nvSpPr>
          <p:cNvPr id="46" name="Shape 44"/>
          <p:cNvSpPr/>
          <p:nvPr/>
        </p:nvSpPr>
        <p:spPr>
          <a:xfrm>
            <a:off x="10652760" y="2651760"/>
            <a:ext cx="987552" cy="457200"/>
          </a:xfrm>
          <a:prstGeom prst="rect">
            <a:avLst/>
          </a:prstGeom>
          <a:ln w="12700">
            <a:solidFill>
              <a:srgbClr val="45484C"/>
            </a:solidFill>
            <a:prstDash val="solid"/>
          </a:ln>
        </p:spPr>
      </p:sp>
      <p:sp>
        <p:nvSpPr>
          <p:cNvPr id="47" name="Text 45"/>
          <p:cNvSpPr txBox="1"/>
          <p:nvPr/>
        </p:nvSpPr>
        <p:spPr>
          <a:xfrm>
            <a:off x="10762488" y="2724912"/>
            <a:ext cx="164592" cy="292608"/>
          </a:xfrm>
          <a:prstGeom prst="rect">
            <a:avLst/>
          </a:prstGeom>
          <a:noFill/>
          <a:ln/>
        </p:spPr>
        <p:txBody>
          <a:bodyPr wrap="square" lIns="0" tIns="0" rIns="0" bIns="0" rtlCol="0" anchor="t"/>
          <a:lstStyle/>
          <a:p>
            <a:pPr indent="0" marL="0">
              <a:buNone/>
            </a:pPr>
            <a:r>
              <a:rPr lang="en-US" sz="1500" dirty="0">
                <a:solidFill>
                  <a:srgbClr val="FFFFFF"/>
                </a:solidFill>
                <a:latin typeface="Switzer Semibold" pitchFamily="34" charset="0"/>
                <a:ea typeface="Switzer Semibold" pitchFamily="34" charset="-122"/>
                <a:cs typeface="Switzer Semibold" pitchFamily="34" charset="-120"/>
              </a:rPr>
              <a:t>summary</a:t>
            </a:r>
            <a:endParaRPr lang="en-US" sz="1500" dirty="0"/>
          </a:p>
        </p:txBody>
      </p:sp>
      <p:sp>
        <p:nvSpPr>
          <p:cNvPr id="48" name="Shape 46"/>
          <p:cNvSpPr/>
          <p:nvPr/>
        </p:nvSpPr>
        <p:spPr>
          <a:xfrm>
            <a:off x="548640" y="4343400"/>
            <a:ext cx="11091672" cy="9144"/>
          </a:xfrm>
          <a:prstGeom prst="rect">
            <a:avLst/>
          </a:prstGeom>
          <a:solidFill>
            <a:srgbClr val="45484C"/>
          </a:solidFill>
          <a:ln/>
        </p:spPr>
      </p:sp>
      <p:sp>
        <p:nvSpPr>
          <p:cNvPr id="49" name="Text 47"/>
          <p:cNvSpPr txBox="1"/>
          <p:nvPr/>
        </p:nvSpPr>
        <p:spPr>
          <a:xfrm>
            <a:off x="548640" y="4389120"/>
            <a:ext cx="1828800" cy="384048"/>
          </a:xfrm>
          <a:prstGeom prst="rect">
            <a:avLst/>
          </a:prstGeom>
          <a:noFill/>
          <a:ln/>
        </p:spPr>
        <p:txBody>
          <a:bodyPr wrap="square" lIns="0" tIns="0" rIns="0" bIns="0" rtlCol="0" anchor="ctr"/>
          <a:lstStyle/>
          <a:p>
            <a:pPr indent="0" marL="0">
              <a:buNone/>
            </a:pPr>
            <a:r>
              <a:rPr lang="en-US" sz="1500" dirty="0">
                <a:solidFill>
                  <a:srgbClr val="9A9DA3"/>
                </a:solidFill>
                <a:latin typeface="Switzer" pitchFamily="34" charset="0"/>
                <a:ea typeface="Switzer" pitchFamily="34" charset="-122"/>
                <a:cs typeface="Switzer" pitchFamily="34" charset="-120"/>
              </a:rPr>
              <a:t>gate</a:t>
            </a:r>
            <a:endParaRPr lang="en-US" sz="1500" dirty="0"/>
          </a:p>
        </p:txBody>
      </p:sp>
      <p:sp>
        <p:nvSpPr>
          <p:cNvPr id="50" name="Text 48"/>
          <p:cNvSpPr txBox="1"/>
          <p:nvPr/>
        </p:nvSpPr>
        <p:spPr>
          <a:xfrm>
            <a:off x="2377440" y="4389120"/>
            <a:ext cx="9235440" cy="384048"/>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a critical CVE with a fix stops the deploy before the image leaves GitHub</a:t>
            </a:r>
            <a:endParaRPr lang="en-US" sz="1600" dirty="0"/>
          </a:p>
        </p:txBody>
      </p:sp>
      <p:sp>
        <p:nvSpPr>
          <p:cNvPr id="51" name="Shape 49"/>
          <p:cNvSpPr/>
          <p:nvPr/>
        </p:nvSpPr>
        <p:spPr>
          <a:xfrm>
            <a:off x="548640" y="4818888"/>
            <a:ext cx="11091672" cy="9144"/>
          </a:xfrm>
          <a:prstGeom prst="rect">
            <a:avLst/>
          </a:prstGeom>
          <a:solidFill>
            <a:srgbClr val="45484C"/>
          </a:solidFill>
          <a:ln/>
        </p:spPr>
      </p:sp>
      <p:sp>
        <p:nvSpPr>
          <p:cNvPr id="52" name="Text 50"/>
          <p:cNvSpPr txBox="1"/>
          <p:nvPr/>
        </p:nvSpPr>
        <p:spPr>
          <a:xfrm>
            <a:off x="548640" y="4864608"/>
            <a:ext cx="1828800" cy="384048"/>
          </a:xfrm>
          <a:prstGeom prst="rect">
            <a:avLst/>
          </a:prstGeom>
          <a:noFill/>
          <a:ln/>
        </p:spPr>
        <p:txBody>
          <a:bodyPr wrap="square" lIns="0" tIns="0" rIns="0" bIns="0" rtlCol="0" anchor="ctr"/>
          <a:lstStyle/>
          <a:p>
            <a:pPr indent="0" marL="0">
              <a:buNone/>
            </a:pPr>
            <a:r>
              <a:rPr lang="en-US" sz="1500" dirty="0">
                <a:solidFill>
                  <a:srgbClr val="9A9DA3"/>
                </a:solidFill>
                <a:latin typeface="Switzer" pitchFamily="34" charset="0"/>
                <a:ea typeface="Switzer" pitchFamily="34" charset="-122"/>
                <a:cs typeface="Switzer" pitchFamily="34" charset="-120"/>
              </a:rPr>
              <a:t>environments</a:t>
            </a:r>
            <a:endParaRPr lang="en-US" sz="1500" dirty="0"/>
          </a:p>
        </p:txBody>
      </p:sp>
      <p:sp>
        <p:nvSpPr>
          <p:cNvPr id="53" name="Text 51"/>
          <p:cNvSpPr txBox="1"/>
          <p:nvPr/>
        </p:nvSpPr>
        <p:spPr>
          <a:xfrm>
            <a:off x="2377440" y="4864608"/>
            <a:ext cx="9235440" cy="384048"/>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local k3d on a laptop; the public k3s server. The pull request review is the gate</a:t>
            </a:r>
            <a:endParaRPr lang="en-US" sz="1600" dirty="0"/>
          </a:p>
        </p:txBody>
      </p:sp>
      <p:sp>
        <p:nvSpPr>
          <p:cNvPr id="54" name="Shape 52"/>
          <p:cNvSpPr/>
          <p:nvPr/>
        </p:nvSpPr>
        <p:spPr>
          <a:xfrm>
            <a:off x="548640" y="5294376"/>
            <a:ext cx="11091672" cy="9144"/>
          </a:xfrm>
          <a:prstGeom prst="rect">
            <a:avLst/>
          </a:prstGeom>
          <a:solidFill>
            <a:srgbClr val="45484C"/>
          </a:solidFill>
          <a:ln/>
        </p:spPr>
      </p:sp>
      <p:sp>
        <p:nvSpPr>
          <p:cNvPr id="55" name="Text 53"/>
          <p:cNvSpPr txBox="1"/>
          <p:nvPr/>
        </p:nvSpPr>
        <p:spPr>
          <a:xfrm>
            <a:off x="548640" y="5340096"/>
            <a:ext cx="1828800" cy="384048"/>
          </a:xfrm>
          <a:prstGeom prst="rect">
            <a:avLst/>
          </a:prstGeom>
          <a:noFill/>
          <a:ln/>
        </p:spPr>
        <p:txBody>
          <a:bodyPr wrap="square" lIns="0" tIns="0" rIns="0" bIns="0" rtlCol="0" anchor="ctr"/>
          <a:lstStyle/>
          <a:p>
            <a:pPr indent="0" marL="0">
              <a:buNone/>
            </a:pPr>
            <a:r>
              <a:rPr lang="en-US" sz="1500" dirty="0">
                <a:solidFill>
                  <a:srgbClr val="9A9DA3"/>
                </a:solidFill>
                <a:latin typeface="Switzer" pitchFamily="34" charset="0"/>
                <a:ea typeface="Switzer" pitchFamily="34" charset="-122"/>
                <a:cs typeface="Switzer" pitchFamily="34" charset="-120"/>
              </a:rPr>
              <a:t>secrets</a:t>
            </a:r>
            <a:endParaRPr lang="en-US" sz="1500" dirty="0"/>
          </a:p>
        </p:txBody>
      </p:sp>
      <p:sp>
        <p:nvSpPr>
          <p:cNvPr id="56" name="Text 54"/>
          <p:cNvSpPr txBox="1"/>
          <p:nvPr/>
        </p:nvSpPr>
        <p:spPr>
          <a:xfrm>
            <a:off x="2377440" y="5340096"/>
            <a:ext cx="9235440" cy="384048"/>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GitHub keeps only the SSH key and the model key; the model key goes on SSH stdin</a:t>
            </a:r>
            <a:endParaRPr lang="en-US" sz="1600" dirty="0"/>
          </a:p>
        </p:txBody>
      </p:sp>
      <p:sp>
        <p:nvSpPr>
          <p:cNvPr id="57" name="Shape 55"/>
          <p:cNvSpPr/>
          <p:nvPr/>
        </p:nvSpPr>
        <p:spPr>
          <a:xfrm>
            <a:off x="548640" y="5769864"/>
            <a:ext cx="11091672" cy="9144"/>
          </a:xfrm>
          <a:prstGeom prst="rect">
            <a:avLst/>
          </a:prstGeom>
          <a:solidFill>
            <a:srgbClr val="45484C"/>
          </a:solidFill>
          <a:ln/>
        </p:spPr>
      </p:sp>
      <p:sp>
        <p:nvSpPr>
          <p:cNvPr id="58" name="Text 56"/>
          <p:cNvSpPr txBox="1"/>
          <p:nvPr/>
        </p:nvSpPr>
        <p:spPr>
          <a:xfrm>
            <a:off x="548640" y="5815584"/>
            <a:ext cx="1828800" cy="384048"/>
          </a:xfrm>
          <a:prstGeom prst="rect">
            <a:avLst/>
          </a:prstGeom>
          <a:noFill/>
          <a:ln/>
        </p:spPr>
        <p:txBody>
          <a:bodyPr wrap="square" lIns="0" tIns="0" rIns="0" bIns="0" rtlCol="0" anchor="ctr"/>
          <a:lstStyle/>
          <a:p>
            <a:pPr indent="0" marL="0">
              <a:buNone/>
            </a:pPr>
            <a:r>
              <a:rPr lang="en-US" sz="1500" dirty="0">
                <a:solidFill>
                  <a:srgbClr val="9A9DA3"/>
                </a:solidFill>
                <a:latin typeface="Switzer" pitchFamily="34" charset="0"/>
                <a:ea typeface="Switzer" pitchFamily="34" charset="-122"/>
                <a:cs typeface="Switzer" pitchFamily="34" charset="-120"/>
              </a:rPr>
              <a:t>rollback</a:t>
            </a:r>
            <a:endParaRPr lang="en-US" sz="1500" dirty="0"/>
          </a:p>
        </p:txBody>
      </p:sp>
      <p:sp>
        <p:nvSpPr>
          <p:cNvPr id="59" name="Text 57"/>
          <p:cNvSpPr txBox="1"/>
          <p:nvPr/>
        </p:nvSpPr>
        <p:spPr>
          <a:xfrm>
            <a:off x="2377440" y="5815584"/>
            <a:ext cx="9235440" cy="384048"/>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helm rollback on the server, or push a revert</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DevOps  ·  Recorded on GitHub</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The real runs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pipelin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DevOps  ·  Recorded on the server</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Every deploy is a release</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deploy.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DevOps  ·  Technical findings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What broke, and what we did</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sp>
        <p:nvSpPr>
          <p:cNvPr id="10" name="Text 8"/>
          <p:cNvSpPr txBox="1"/>
          <p:nvPr/>
        </p:nvSpPr>
        <p:spPr>
          <a:xfrm>
            <a:off x="548640" y="1691640"/>
            <a:ext cx="5577840"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we found</a:t>
            </a:r>
            <a:endParaRPr lang="en-US" sz="1400" dirty="0"/>
          </a:p>
        </p:txBody>
      </p:sp>
      <p:sp>
        <p:nvSpPr>
          <p:cNvPr id="11" name="Text 9"/>
          <p:cNvSpPr txBox="1"/>
          <p:nvPr/>
        </p:nvSpPr>
        <p:spPr>
          <a:xfrm>
            <a:off x="6309360" y="1691640"/>
            <a:ext cx="5148072"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we did</a:t>
            </a:r>
            <a:endParaRPr lang="en-US" sz="1400" dirty="0"/>
          </a:p>
        </p:txBody>
      </p:sp>
      <p:sp>
        <p:nvSpPr>
          <p:cNvPr id="12" name="Shape 10"/>
          <p:cNvSpPr/>
          <p:nvPr/>
        </p:nvSpPr>
        <p:spPr>
          <a:xfrm>
            <a:off x="548640" y="2075688"/>
            <a:ext cx="11091672" cy="9144"/>
          </a:xfrm>
          <a:prstGeom prst="rect">
            <a:avLst/>
          </a:prstGeom>
          <a:solidFill>
            <a:srgbClr val="45484C"/>
          </a:solidFill>
          <a:ln/>
        </p:spPr>
      </p:sp>
      <p:sp>
        <p:nvSpPr>
          <p:cNvPr id="13" name="Text 11"/>
          <p:cNvSpPr txBox="1"/>
          <p:nvPr/>
        </p:nvSpPr>
        <p:spPr>
          <a:xfrm>
            <a:off x="548640" y="2130552"/>
            <a:ext cx="5577840" cy="621792"/>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One shared queue can deadlock the workers</a:t>
            </a:r>
            <a:endParaRPr lang="en-US" sz="1600" dirty="0"/>
          </a:p>
        </p:txBody>
      </p:sp>
      <p:sp>
        <p:nvSpPr>
          <p:cNvPr id="14" name="Text 12"/>
          <p:cNvSpPr txBox="1"/>
          <p:nvPr/>
        </p:nvSpPr>
        <p:spPr>
          <a:xfrm>
            <a:off x="6309360" y="2130552"/>
            <a:ext cx="5148072"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a queue for each level, found in design</a:t>
            </a:r>
            <a:endParaRPr lang="en-US" sz="1600" dirty="0"/>
          </a:p>
        </p:txBody>
      </p:sp>
      <p:sp>
        <p:nvSpPr>
          <p:cNvPr id="15" name="Shape 13"/>
          <p:cNvSpPr/>
          <p:nvPr/>
        </p:nvSpPr>
        <p:spPr>
          <a:xfrm>
            <a:off x="548640" y="2788920"/>
            <a:ext cx="11091672" cy="9144"/>
          </a:xfrm>
          <a:prstGeom prst="rect">
            <a:avLst/>
          </a:prstGeom>
          <a:solidFill>
            <a:srgbClr val="45484C"/>
          </a:solidFill>
          <a:ln/>
        </p:spPr>
      </p:sp>
      <p:sp>
        <p:nvSpPr>
          <p:cNvPr id="16" name="Text 14"/>
          <p:cNvSpPr txBox="1"/>
          <p:nvPr/>
        </p:nvSpPr>
        <p:spPr>
          <a:xfrm>
            <a:off x="548640" y="2843784"/>
            <a:ext cx="5577840" cy="621792"/>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The image scan found 5 critical CVEs</a:t>
            </a:r>
            <a:endParaRPr lang="en-US" sz="1600" dirty="0"/>
          </a:p>
        </p:txBody>
      </p:sp>
      <p:sp>
        <p:nvSpPr>
          <p:cNvPr id="17" name="Text 15"/>
          <p:cNvSpPr txBox="1"/>
          <p:nvPr/>
        </p:nvSpPr>
        <p:spPr>
          <a:xfrm>
            <a:off x="6309360" y="2843784"/>
            <a:ext cx="5148072"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a platform image without Docker, patched at build</a:t>
            </a:r>
            <a:endParaRPr lang="en-US" sz="1600" dirty="0"/>
          </a:p>
        </p:txBody>
      </p:sp>
      <p:sp>
        <p:nvSpPr>
          <p:cNvPr id="18" name="Shape 16"/>
          <p:cNvSpPr/>
          <p:nvPr/>
        </p:nvSpPr>
        <p:spPr>
          <a:xfrm>
            <a:off x="548640" y="3502152"/>
            <a:ext cx="11091672" cy="9144"/>
          </a:xfrm>
          <a:prstGeom prst="rect">
            <a:avLst/>
          </a:prstGeom>
          <a:solidFill>
            <a:srgbClr val="45484C"/>
          </a:solidFill>
          <a:ln/>
        </p:spPr>
      </p:sp>
      <p:sp>
        <p:nvSpPr>
          <p:cNvPr id="19" name="Text 17"/>
          <p:cNvSpPr txBox="1"/>
          <p:nvPr/>
        </p:nvSpPr>
        <p:spPr>
          <a:xfrm>
            <a:off x="548640" y="3557016"/>
            <a:ext cx="5577840" cy="621792"/>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The agent choice can reach the worker late</a:t>
            </a:r>
            <a:endParaRPr lang="en-US" sz="1600" dirty="0"/>
          </a:p>
        </p:txBody>
      </p:sp>
      <p:sp>
        <p:nvSpPr>
          <p:cNvPr id="20" name="Text 18"/>
          <p:cNvSpPr txBox="1"/>
          <p:nvPr/>
        </p:nvSpPr>
        <p:spPr>
          <a:xfrm>
            <a:off x="6309360" y="3557016"/>
            <a:ext cx="5148072"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write it first; the worker claims it</a:t>
            </a:r>
            <a:endParaRPr lang="en-US" sz="1600" dirty="0"/>
          </a:p>
        </p:txBody>
      </p:sp>
      <p:sp>
        <p:nvSpPr>
          <p:cNvPr id="21" name="Shape 19"/>
          <p:cNvSpPr/>
          <p:nvPr/>
        </p:nvSpPr>
        <p:spPr>
          <a:xfrm>
            <a:off x="548640" y="4215384"/>
            <a:ext cx="11091672" cy="9144"/>
          </a:xfrm>
          <a:prstGeom prst="rect">
            <a:avLst/>
          </a:prstGeom>
          <a:solidFill>
            <a:srgbClr val="45484C"/>
          </a:solidFill>
          <a:ln/>
        </p:spPr>
      </p:sp>
      <p:sp>
        <p:nvSpPr>
          <p:cNvPr id="22" name="Text 20"/>
          <p:cNvSpPr txBox="1"/>
          <p:nvPr/>
        </p:nvSpPr>
        <p:spPr>
          <a:xfrm>
            <a:off x="548640" y="4270248"/>
            <a:ext cx="5577840" cy="621792"/>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KEDA waits 5 minutes to scale down</a:t>
            </a:r>
            <a:endParaRPr lang="en-US" sz="1600" dirty="0"/>
          </a:p>
        </p:txBody>
      </p:sp>
      <p:sp>
        <p:nvSpPr>
          <p:cNvPr id="23" name="Text 21"/>
          <p:cNvSpPr txBox="1"/>
          <p:nvPr/>
        </p:nvSpPr>
        <p:spPr>
          <a:xfrm>
            <a:off x="6309360" y="4270248"/>
            <a:ext cx="5148072"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60 seconds in the chart</a:t>
            </a:r>
            <a:endParaRPr lang="en-US" sz="1600" dirty="0"/>
          </a:p>
        </p:txBody>
      </p:sp>
      <p:sp>
        <p:nvSpPr>
          <p:cNvPr id="24" name="Shape 22"/>
          <p:cNvSpPr/>
          <p:nvPr/>
        </p:nvSpPr>
        <p:spPr>
          <a:xfrm>
            <a:off x="548640" y="4928616"/>
            <a:ext cx="11091672" cy="9144"/>
          </a:xfrm>
          <a:prstGeom prst="rect">
            <a:avLst/>
          </a:prstGeom>
          <a:solidFill>
            <a:srgbClr val="45484C"/>
          </a:solidFill>
          <a:ln/>
        </p:spPr>
      </p:sp>
      <p:sp>
        <p:nvSpPr>
          <p:cNvPr id="25" name="Text 23"/>
          <p:cNvSpPr txBox="1"/>
          <p:nvPr/>
        </p:nvSpPr>
        <p:spPr>
          <a:xfrm>
            <a:off x="548640" y="4983480"/>
            <a:ext cx="5577840" cy="621792"/>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KEDA could not find RabbitMQ</a:t>
            </a:r>
            <a:endParaRPr lang="en-US" sz="1600" dirty="0"/>
          </a:p>
        </p:txBody>
      </p:sp>
      <p:sp>
        <p:nvSpPr>
          <p:cNvPr id="26" name="Text 24"/>
          <p:cNvSpPr txBox="1"/>
          <p:nvPr/>
        </p:nvSpPr>
        <p:spPr>
          <a:xfrm>
            <a:off x="6309360" y="4983480"/>
            <a:ext cx="5148072"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the full name, rabbitmq.&lt;ns&gt;.svc.cluster.local</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Demo  ·  Recorded through the API</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 real question, a real answer</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rec-ask.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Demo  ·  Scalability</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Load grows, workers follow</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scal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Demo  ·  Performance, recorded</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The k6 load test</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rec-load.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Demo  ·  Scalability, recorded</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KEDA adds workers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rec-scal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Demo  ·  Availability</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 worker dies; the question still ends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kill.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Demo  ·  Availability, recorded</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Killed for real</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rec-kill.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Demo  ·  Live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Now, on the public server</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sp>
        <p:nvSpPr>
          <p:cNvPr id="10" name="Shape 8"/>
          <p:cNvSpPr/>
          <p:nvPr/>
        </p:nvSpPr>
        <p:spPr>
          <a:xfrm>
            <a:off x="548640" y="1737360"/>
            <a:ext cx="11091672" cy="868680"/>
          </a:xfrm>
          <a:prstGeom prst="rect">
            <a:avLst/>
          </a:prstGeom>
          <a:ln w="12700">
            <a:solidFill>
              <a:srgbClr val="45484C"/>
            </a:solidFill>
            <a:prstDash val="solid"/>
          </a:ln>
        </p:spPr>
      </p:sp>
      <p:sp>
        <p:nvSpPr>
          <p:cNvPr id="11" name="Text 9"/>
          <p:cNvSpPr txBox="1"/>
          <p:nvPr/>
        </p:nvSpPr>
        <p:spPr>
          <a:xfrm>
            <a:off x="548640" y="1737360"/>
            <a:ext cx="11091672" cy="868680"/>
          </a:xfrm>
          <a:prstGeom prst="rect">
            <a:avLst/>
          </a:prstGeom>
          <a:noFill/>
          <a:ln/>
        </p:spPr>
        <p:txBody>
          <a:bodyPr wrap="square" lIns="0" tIns="0" rIns="0" bIns="0" rtlCol="0" anchor="ctr"/>
          <a:lstStyle/>
          <a:p>
            <a:pPr algn="ctr" indent="0" marL="0">
              <a:buNone/>
            </a:pPr>
            <a:r>
              <a:rPr lang="en-US" sz="2800" dirty="0">
                <a:solidFill>
                  <a:srgbClr val="FFFFFF"/>
                </a:solidFill>
                <a:latin typeface="JetBrains Mono" pitchFamily="34" charset="0"/>
                <a:ea typeface="JetBrains Mono" pitchFamily="34" charset="-122"/>
                <a:cs typeface="JetBrains Mono" pitchFamily="34" charset="-120"/>
              </a:rPr>
              <a:t>https://lumen.54-179-112-87.sslip.io</a:t>
            </a:r>
            <a:endParaRPr lang="en-US" sz="2800" dirty="0"/>
          </a:p>
        </p:txBody>
      </p:sp>
      <p:sp>
        <p:nvSpPr>
          <p:cNvPr id="12" name="Text 10"/>
          <p:cNvSpPr txBox="1"/>
          <p:nvPr/>
        </p:nvSpPr>
        <p:spPr>
          <a:xfrm>
            <a:off x="548640" y="2926080"/>
            <a:ext cx="548640" cy="512064"/>
          </a:xfrm>
          <a:prstGeom prst="rect">
            <a:avLst/>
          </a:prstGeom>
          <a:noFill/>
          <a:ln/>
        </p:spPr>
        <p:txBody>
          <a:bodyPr wrap="square" lIns="0" tIns="0" rIns="0" bIns="0" rtlCol="0" anchor="ctr"/>
          <a:lstStyle/>
          <a:p>
            <a:pPr indent="0" marL="0">
              <a:buNone/>
            </a:pPr>
            <a:r>
              <a:rPr lang="en-US" sz="2200" dirty="0">
                <a:solidFill>
                  <a:srgbClr val="9A9DA3"/>
                </a:solidFill>
                <a:latin typeface="Switzer Medium" pitchFamily="34" charset="0"/>
                <a:ea typeface="Switzer Medium" pitchFamily="34" charset="-122"/>
                <a:cs typeface="Switzer Medium" pitchFamily="34" charset="-120"/>
              </a:rPr>
              <a:t>1</a:t>
            </a:r>
            <a:endParaRPr lang="en-US" sz="2200" dirty="0"/>
          </a:p>
        </p:txBody>
      </p:sp>
      <p:sp>
        <p:nvSpPr>
          <p:cNvPr id="13" name="Text 11"/>
          <p:cNvSpPr txBox="1"/>
          <p:nvPr/>
        </p:nvSpPr>
        <p:spPr>
          <a:xfrm>
            <a:off x="1188720" y="2926080"/>
            <a:ext cx="10058400" cy="512064"/>
          </a:xfrm>
          <a:prstGeom prst="rect">
            <a:avLst/>
          </a:prstGeom>
          <a:noFill/>
          <a:ln/>
        </p:spPr>
        <p:txBody>
          <a:bodyPr wrap="square" lIns="0" tIns="0" rIns="0" bIns="0" rtlCol="0" anchor="ctr"/>
          <a:lstStyle/>
          <a:p>
            <a:pPr indent="0" marL="0">
              <a:buNone/>
            </a:pPr>
            <a:r>
              <a:rPr lang="en-US" sz="2400" dirty="0">
                <a:solidFill>
                  <a:srgbClr val="FFFFFF"/>
                </a:solidFill>
                <a:latin typeface="Switzer" pitchFamily="34" charset="0"/>
                <a:ea typeface="Switzer" pitchFamily="34" charset="-122"/>
                <a:cs typeface="Switzer" pitchFamily="34" charset="-120"/>
              </a:rPr>
              <a:t>Ask a question in the browser</a:t>
            </a:r>
            <a:endParaRPr lang="en-US" sz="2400" dirty="0"/>
          </a:p>
        </p:txBody>
      </p:sp>
      <p:sp>
        <p:nvSpPr>
          <p:cNvPr id="14" name="Text 12"/>
          <p:cNvSpPr txBox="1"/>
          <p:nvPr/>
        </p:nvSpPr>
        <p:spPr>
          <a:xfrm>
            <a:off x="548640" y="3584448"/>
            <a:ext cx="548640" cy="512064"/>
          </a:xfrm>
          <a:prstGeom prst="rect">
            <a:avLst/>
          </a:prstGeom>
          <a:noFill/>
          <a:ln/>
        </p:spPr>
        <p:txBody>
          <a:bodyPr wrap="square" lIns="0" tIns="0" rIns="0" bIns="0" rtlCol="0" anchor="ctr"/>
          <a:lstStyle/>
          <a:p>
            <a:pPr indent="0" marL="0">
              <a:buNone/>
            </a:pPr>
            <a:r>
              <a:rPr lang="en-US" sz="2200" dirty="0">
                <a:solidFill>
                  <a:srgbClr val="9A9DA3"/>
                </a:solidFill>
                <a:latin typeface="Switzer Medium" pitchFamily="34" charset="0"/>
                <a:ea typeface="Switzer Medium" pitchFamily="34" charset="-122"/>
                <a:cs typeface="Switzer Medium" pitchFamily="34" charset="-120"/>
              </a:rPr>
              <a:t>2</a:t>
            </a:r>
            <a:endParaRPr lang="en-US" sz="2200" dirty="0"/>
          </a:p>
        </p:txBody>
      </p:sp>
      <p:sp>
        <p:nvSpPr>
          <p:cNvPr id="15" name="Text 13"/>
          <p:cNvSpPr txBox="1"/>
          <p:nvPr/>
        </p:nvSpPr>
        <p:spPr>
          <a:xfrm>
            <a:off x="1188720" y="3584448"/>
            <a:ext cx="10058400" cy="512064"/>
          </a:xfrm>
          <a:prstGeom prst="rect">
            <a:avLst/>
          </a:prstGeom>
          <a:noFill/>
          <a:ln/>
        </p:spPr>
        <p:txBody>
          <a:bodyPr wrap="square" lIns="0" tIns="0" rIns="0" bIns="0" rtlCol="0" anchor="ctr"/>
          <a:lstStyle/>
          <a:p>
            <a:pPr indent="0" marL="0">
              <a:buNone/>
            </a:pPr>
            <a:r>
              <a:rPr lang="en-US" sz="2400" dirty="0">
                <a:solidFill>
                  <a:srgbClr val="FFFFFF"/>
                </a:solidFill>
                <a:latin typeface="Switzer" pitchFamily="34" charset="0"/>
                <a:ea typeface="Switzer" pitchFamily="34" charset="-122"/>
                <a:cs typeface="Switzer" pitchFamily="34" charset="-120"/>
              </a:rPr>
              <a:t>Watch the tree grow, with its cost</a:t>
            </a:r>
            <a:endParaRPr lang="en-US" sz="2400" dirty="0"/>
          </a:p>
        </p:txBody>
      </p:sp>
      <p:sp>
        <p:nvSpPr>
          <p:cNvPr id="16" name="Text 14"/>
          <p:cNvSpPr txBox="1"/>
          <p:nvPr/>
        </p:nvSpPr>
        <p:spPr>
          <a:xfrm>
            <a:off x="548640" y="4242816"/>
            <a:ext cx="548640" cy="512064"/>
          </a:xfrm>
          <a:prstGeom prst="rect">
            <a:avLst/>
          </a:prstGeom>
          <a:noFill/>
          <a:ln/>
        </p:spPr>
        <p:txBody>
          <a:bodyPr wrap="square" lIns="0" tIns="0" rIns="0" bIns="0" rtlCol="0" anchor="ctr"/>
          <a:lstStyle/>
          <a:p>
            <a:pPr indent="0" marL="0">
              <a:buNone/>
            </a:pPr>
            <a:r>
              <a:rPr lang="en-US" sz="2200" dirty="0">
                <a:solidFill>
                  <a:srgbClr val="9A9DA3"/>
                </a:solidFill>
                <a:latin typeface="Switzer Medium" pitchFamily="34" charset="0"/>
                <a:ea typeface="Switzer Medium" pitchFamily="34" charset="-122"/>
                <a:cs typeface="Switzer Medium" pitchFamily="34" charset="-120"/>
              </a:rPr>
              <a:t>3</a:t>
            </a:r>
            <a:endParaRPr lang="en-US" sz="2200" dirty="0"/>
          </a:p>
        </p:txBody>
      </p:sp>
      <p:sp>
        <p:nvSpPr>
          <p:cNvPr id="17" name="Text 15"/>
          <p:cNvSpPr txBox="1"/>
          <p:nvPr/>
        </p:nvSpPr>
        <p:spPr>
          <a:xfrm>
            <a:off x="1188720" y="4242816"/>
            <a:ext cx="10058400" cy="512064"/>
          </a:xfrm>
          <a:prstGeom prst="rect">
            <a:avLst/>
          </a:prstGeom>
          <a:noFill/>
          <a:ln/>
        </p:spPr>
        <p:txBody>
          <a:bodyPr wrap="square" lIns="0" tIns="0" rIns="0" bIns="0" rtlCol="0" anchor="ctr"/>
          <a:lstStyle/>
          <a:p>
            <a:pPr indent="0" marL="0">
              <a:buNone/>
            </a:pPr>
            <a:r>
              <a:rPr lang="en-US" sz="2400" dirty="0">
                <a:solidFill>
                  <a:srgbClr val="FFFFFF"/>
                </a:solidFill>
                <a:latin typeface="Switzer" pitchFamily="34" charset="0"/>
                <a:ea typeface="Switzer" pitchFamily="34" charset="-122"/>
                <a:cs typeface="Switzer" pitchFamily="34" charset="-120"/>
              </a:rPr>
              <a:t>Run the load test; watch the workers</a:t>
            </a:r>
            <a:endParaRPr lang="en-US" sz="2400" dirty="0"/>
          </a:p>
        </p:txBody>
      </p:sp>
      <p:sp>
        <p:nvSpPr>
          <p:cNvPr id="18" name="Text 16"/>
          <p:cNvSpPr txBox="1"/>
          <p:nvPr/>
        </p:nvSpPr>
        <p:spPr>
          <a:xfrm>
            <a:off x="548640" y="4901184"/>
            <a:ext cx="548640" cy="512064"/>
          </a:xfrm>
          <a:prstGeom prst="rect">
            <a:avLst/>
          </a:prstGeom>
          <a:noFill/>
          <a:ln/>
        </p:spPr>
        <p:txBody>
          <a:bodyPr wrap="square" lIns="0" tIns="0" rIns="0" bIns="0" rtlCol="0" anchor="ctr"/>
          <a:lstStyle/>
          <a:p>
            <a:pPr indent="0" marL="0">
              <a:buNone/>
            </a:pPr>
            <a:r>
              <a:rPr lang="en-US" sz="2200" dirty="0">
                <a:solidFill>
                  <a:srgbClr val="9A9DA3"/>
                </a:solidFill>
                <a:latin typeface="Switzer Medium" pitchFamily="34" charset="0"/>
                <a:ea typeface="Switzer Medium" pitchFamily="34" charset="-122"/>
                <a:cs typeface="Switzer Medium" pitchFamily="34" charset="-120"/>
              </a:rPr>
              <a:t>4</a:t>
            </a:r>
            <a:endParaRPr lang="en-US" sz="2200" dirty="0"/>
          </a:p>
        </p:txBody>
      </p:sp>
      <p:sp>
        <p:nvSpPr>
          <p:cNvPr id="19" name="Text 17"/>
          <p:cNvSpPr txBox="1"/>
          <p:nvPr/>
        </p:nvSpPr>
        <p:spPr>
          <a:xfrm>
            <a:off x="1188720" y="4901184"/>
            <a:ext cx="10058400" cy="512064"/>
          </a:xfrm>
          <a:prstGeom prst="rect">
            <a:avLst/>
          </a:prstGeom>
          <a:noFill/>
          <a:ln/>
        </p:spPr>
        <p:txBody>
          <a:bodyPr wrap="square" lIns="0" tIns="0" rIns="0" bIns="0" rtlCol="0" anchor="ctr"/>
          <a:lstStyle/>
          <a:p>
            <a:pPr indent="0" marL="0">
              <a:buNone/>
            </a:pPr>
            <a:r>
              <a:rPr lang="en-US" sz="2400" dirty="0">
                <a:solidFill>
                  <a:srgbClr val="FFFFFF"/>
                </a:solidFill>
                <a:latin typeface="Switzer" pitchFamily="34" charset="0"/>
                <a:ea typeface="Switzer" pitchFamily="34" charset="-122"/>
                <a:cs typeface="Switzer" pitchFamily="34" charset="-120"/>
              </a:rPr>
              <a:t>The literature watch app asks through the API</a:t>
            </a:r>
            <a:endParaRPr lang="en-US" sz="2400" dirty="0"/>
          </a:p>
        </p:txBody>
      </p:sp>
      <p:sp>
        <p:nvSpPr>
          <p:cNvPr id="20" name="Text 18"/>
          <p:cNvSpPr txBox="1"/>
          <p:nvPr/>
        </p:nvSpPr>
        <p:spPr>
          <a:xfrm>
            <a:off x="548640" y="5559552"/>
            <a:ext cx="548640" cy="512064"/>
          </a:xfrm>
          <a:prstGeom prst="rect">
            <a:avLst/>
          </a:prstGeom>
          <a:noFill/>
          <a:ln/>
        </p:spPr>
        <p:txBody>
          <a:bodyPr wrap="square" lIns="0" tIns="0" rIns="0" bIns="0" rtlCol="0" anchor="ctr"/>
          <a:lstStyle/>
          <a:p>
            <a:pPr indent="0" marL="0">
              <a:buNone/>
            </a:pPr>
            <a:r>
              <a:rPr lang="en-US" sz="2200" dirty="0">
                <a:solidFill>
                  <a:srgbClr val="9A9DA3"/>
                </a:solidFill>
                <a:latin typeface="Switzer Medium" pitchFamily="34" charset="0"/>
                <a:ea typeface="Switzer Medium" pitchFamily="34" charset="-122"/>
                <a:cs typeface="Switzer Medium" pitchFamily="34" charset="-120"/>
              </a:rPr>
              <a:t>5</a:t>
            </a:r>
            <a:endParaRPr lang="en-US" sz="2200" dirty="0"/>
          </a:p>
        </p:txBody>
      </p:sp>
      <p:sp>
        <p:nvSpPr>
          <p:cNvPr id="21" name="Text 19"/>
          <p:cNvSpPr txBox="1"/>
          <p:nvPr/>
        </p:nvSpPr>
        <p:spPr>
          <a:xfrm>
            <a:off x="1188720" y="5559552"/>
            <a:ext cx="10058400" cy="512064"/>
          </a:xfrm>
          <a:prstGeom prst="rect">
            <a:avLst/>
          </a:prstGeom>
          <a:noFill/>
          <a:ln/>
        </p:spPr>
        <p:txBody>
          <a:bodyPr wrap="square" lIns="0" tIns="0" rIns="0" bIns="0" rtlCol="0" anchor="ctr"/>
          <a:lstStyle/>
          <a:p>
            <a:pPr indent="0" marL="0">
              <a:buNone/>
            </a:pPr>
            <a:r>
              <a:rPr lang="en-US" sz="2400" dirty="0">
                <a:solidFill>
                  <a:srgbClr val="FFFFFF"/>
                </a:solidFill>
                <a:latin typeface="Switzer" pitchFamily="34" charset="0"/>
                <a:ea typeface="Switzer" pitchFamily="34" charset="-122"/>
                <a:cs typeface="Switzer" pitchFamily="34" charset="-120"/>
              </a:rPr>
              <a:t>Open the last pipeline run on GitHub</a:t>
            </a:r>
            <a:endParaRPr lang="en-US" sz="2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2194560"/>
            <a:ext cx="7315200" cy="1188720"/>
          </a:xfrm>
          <a:prstGeom prst="rect">
            <a:avLst/>
          </a:prstGeom>
          <a:noFill/>
          <a:ln/>
        </p:spPr>
        <p:txBody>
          <a:bodyPr wrap="square" lIns="0" tIns="0" rIns="0" bIns="0" rtlCol="0" anchor="ctr"/>
          <a:lstStyle/>
          <a:p>
            <a:pPr indent="0" marL="0">
              <a:buNone/>
            </a:pPr>
            <a:r>
              <a:rPr lang="en-US" sz="6400" dirty="0">
                <a:solidFill>
                  <a:srgbClr val="FFFFFF"/>
                </a:solidFill>
                <a:latin typeface="Switzer Medium" pitchFamily="34" charset="0"/>
                <a:ea typeface="Switzer Medium" pitchFamily="34" charset="-122"/>
                <a:cs typeface="Switzer Medium" pitchFamily="34" charset="-120"/>
              </a:rPr>
              <a:t>Thank you</a:t>
            </a:r>
            <a:endParaRPr lang="en-US" sz="6400" dirty="0"/>
          </a:p>
        </p:txBody>
      </p:sp>
      <p:sp>
        <p:nvSpPr>
          <p:cNvPr id="3" name="Text 1"/>
          <p:cNvSpPr txBox="1"/>
          <p:nvPr/>
        </p:nvSpPr>
        <p:spPr>
          <a:xfrm>
            <a:off x="731520" y="3474720"/>
            <a:ext cx="7315200" cy="548640"/>
          </a:xfrm>
          <a:prstGeom prst="rect">
            <a:avLst/>
          </a:prstGeom>
          <a:noFill/>
          <a:ln/>
        </p:spPr>
        <p:txBody>
          <a:bodyPr wrap="square" lIns="0" tIns="0" rIns="0" bIns="0" rtlCol="0" anchor="t"/>
          <a:lstStyle/>
          <a:p>
            <a:pPr indent="0" marL="0">
              <a:buNone/>
            </a:pPr>
            <a:r>
              <a:rPr lang="en-US" sz="2800" dirty="0">
                <a:solidFill>
                  <a:srgbClr val="9A9DA3"/>
                </a:solidFill>
                <a:latin typeface="Switzer" pitchFamily="34" charset="0"/>
                <a:ea typeface="Switzer" pitchFamily="34" charset="-122"/>
                <a:cs typeface="Switzer" pitchFamily="34" charset="-120"/>
              </a:rPr>
              <a:t>Questions?</a:t>
            </a:r>
            <a:endParaRPr lang="en-US" sz="2800" dirty="0"/>
          </a:p>
        </p:txBody>
      </p:sp>
      <p:sp>
        <p:nvSpPr>
          <p:cNvPr id="4" name="Text 2"/>
          <p:cNvSpPr txBox="1"/>
          <p:nvPr/>
        </p:nvSpPr>
        <p:spPr>
          <a:xfrm>
            <a:off x="731520" y="4297680"/>
            <a:ext cx="7315200" cy="457200"/>
          </a:xfrm>
          <a:prstGeom prst="rect">
            <a:avLst/>
          </a:prstGeom>
          <a:noFill/>
          <a:ln/>
        </p:spPr>
        <p:txBody>
          <a:bodyPr wrap="square" lIns="0" tIns="0" rIns="0" bIns="0" rtlCol="0" anchor="t"/>
          <a:lstStyle/>
          <a:p>
            <a:pPr indent="0" marL="0">
              <a:buNone/>
            </a:pPr>
            <a:r>
              <a:rPr lang="en-US" sz="1800" dirty="0">
                <a:solidFill>
                  <a:srgbClr val="9A9DA3"/>
                </a:solidFill>
                <a:latin typeface="JetBrains Mono" pitchFamily="34" charset="0"/>
                <a:ea typeface="JetBrains Mono" pitchFamily="34" charset="-122"/>
                <a:cs typeface="JetBrains Mono" pitchFamily="34" charset="-120"/>
              </a:rPr>
              <a:t>https://lumen.54-179-112-87.sslip.io</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Lumen Platform</dc:title>
  <dc:subject>PptxGenJS Presentation</dc:subject>
  <dc:creator>Team 15</dc:creator>
  <cp:lastModifiedBy>Team 15</cp:lastModifiedBy>
  <cp:revision>1</cp:revision>
  <dcterms:created xsi:type="dcterms:W3CDTF">2026-10-21T03:35:01Z</dcterms:created>
  <dcterms:modified xsi:type="dcterms:W3CDTF">2026-10-21T03:35:01Z</dcterms:modified>
</cp:coreProperties>
</file>