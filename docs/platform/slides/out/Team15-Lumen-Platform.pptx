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15. We present Lumen Platform, following the order of the presentation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Lumen is an AI that does research. This is a real run, recorded on 22 October with gpt-4.1: we ask for three key papers on retrieval-augmented generation. The lead agent searches arXiv, then hands one paper each to three reader agents that work in parallel. On the right, the call tree grows, every task shows what it cost, and each reader records its paper as a finding. The business problem: every research team that uses agents builds the same parts again, a record of each step, a spending cap, sign-in and a live view. Lumen Platform builds these parts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sits between two groups of users. A producer, the agent author, publishes agents to the registry. A consumer asks: an app with its API key, or people who sign in to the web app. The seed is the run engine. It takes the agent's instructions, runs each question as a task tree, records each step with its cost, and keeps every step under the account's budget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UML use case diagram of the platform. We take one actor at a time, so each actor's use cases are clear. The producer publishes and reads usage. The literature watch app asks and watches. People in the web app manage keys and approve spend over the cap. The operator also reads usage. All six use cases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from our proposal: ten person-days for each member, from 8 to 21 October. Architecture and the service contracts first, then each service, then autoscaling, the public API and the pipeline. Each member spent about ten person-days, 80 hours, so 400 hours in total, as the proposal planned. Every part is built and runs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key decisions are shown as before and after. AD-01 does not write new services: each slice of main gets a new entry point in the same image. AD-02 puts a durable queue between session and the workers, so a slow model call never holds a request, and any worker can take a turn. AD-04 makes session the only writer of the trace, so a worker that dies loses no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logical architecture has four tiers, and each dependency points down. The clients see one gateway, and the gateway routes to five services. Only Project and Worker call session's internal routes. At run time a question becomes a session, then a turn on the queue. A free worker runs it, and session saves each step. The proposal listed eight services. Traefik is the gateway, the live stream runs inside session, and the model client runs inside the worker, so five services remain, each with one job and its own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the contexts from the use cases and the nouns that users say. Each context keeps its own aggregates. Each context talks to the others only through domain events, and each arrow shows who sends and who receives. Session comes last, because every event goes through it: it is the core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sequence diagram shows real calls on the public API v1, in the order they happen. First the producer creates an API key and publishes an agent. Then a consumer lists the agents, asks with one of them, and reads the answer, the findings and the cost. Last, the producer reads usage. Publish, list, ask and read all use one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decisions shape the physical side. The proposal put the chart on EKS; we run the same chart on k3s on one EC2 t3.medium, for about USD 1.3 a day, and the chart can still go to EKS. Two autoscalers watch two kinds of load: HPA adds identity, project and billing pods on CPU, and KEDA adds workers on queue length, because a worker waits on the model and its CPU stays low. One PostgreSQL with a frame per context lets one transaction write the step, its cost and the ledger entry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platform runs on one AWS node, an EC2 t3.medium in Singapore. k3s runs inside it, and every service, PostgreSQL, RabbitMQ and KEDA run as pods inside k3s. Users reach it only over HTTPS on 443, through Traefik, which routes to the service pods. GitHub Actions deploys over SSH on 22, and only the worker pod talks to the OpenAI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recording of the real server. kubectl runs on the server over SSH, because the Kubernetes API is not public. Five services, PostgreSQL and RabbitMQ, and the autoscalers: HPA on CPU for identity, project and billing, and KEDA on queue length for the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AD-03 is about a deadlock that we found in design. With one shared queue, a lead keeps its slot while it waits for its readers, and the readers wait for a free slot. The waits close into a cycle, so no question can finish. A queue per level, with a slot per level, removes one edge of the cycle: the deepest level never waits, so the work always drains.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UC2, a question asked with a chosen agent. Project checks the API key, session opens and publishes the root turn, and from that moment two lanes run at the same time. The app gets 201 at once and reads the answer whenever it likes, while a worker takes the turn and runs its steps in a loop. Each step goes back to session, which saves it in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use case on the public server, from the command line: POST /api/v1/questions with an API key, then GET /api/v1/questions/:id for the status, the cost and the answer from gpt-4.1-nano.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 question starts, and we force-delete the worker that runs it. Its turn was not acknowledged, so RabbitMQ gives it to another worker, and the question still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context owns its own tables in the one PostgreSQL database. Solid lines are foreign keys inside a context; dashed lines are ids that cross a context, with no foreign key, so a later split stays mechanical. The tasks table is the centre: its parent_id is the call tree, and each task has its steps, its findings and its ledger entries. The worker owns no tables; it reports every step to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ass/platform is our one integration branch. It has 48 commits, and one short-lived branch came back through pull request #148. Every push builds one image tagged with its commit, copies it over SSH into k3s on the EC2 host, and helm puts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push to ass/platform starts the pipeline, and verify, SCA and SAST run at the same time. In the first run the Trivy gate found 5 critical CVEs in the image, so the deploy stopped before the host. The team built a smaller platform image without Docker, and the next run passed every stage, with DAST and a smoke load against the live address, in 12 min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pipeline runs, from the GitHub command line: the list of runs, and every job of one run with its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three technical problems and fixed each one. One queue for all turns let leads hold every worker slot while their readers waited, so the queue became one queue per level of the task tree. The image with Docker inside failed the Trivy gate, and the smaller platform image passed. KEDA waits 300 s by default before it removes a worker; the chart sets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load test of 20 October, with the paced worker, so it measures the platform's scaling and not the model. When more than 5 jobs wait per worker, KEDA adds a pod, and you see the worker divide as the cursor passes that moment. Four workers stop the queue from growing and then drain it. A minute after the load ends, the extra pods merge back, and all 135 questions finished with no failed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autoscaler on the public server: KEDA compares the jobs per worker with the target of five, and the worker replicas go up, then back down after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about six minutes, with LUMEN_URL set to the address on the slide. The workers run the real model. For scalability, go back to the recorded load test (slides 22 and 23), then show kubectl get scaledobject,hpa -n lumen live. If the network fails, the recorded slides before this one show the same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gif"/><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gif"/><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gif"/><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gif"/><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gif"/><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gif"/><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gif"/><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gif"/><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gif"/><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gif"/><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gif"/><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gif"/><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731520" y="1828800"/>
            <a:ext cx="10058400" cy="365760"/>
          </a:xfrm>
          <a:prstGeom prst="rect">
            <a:avLst/>
          </a:prstGeom>
          <a:noFill/>
          <a:ln/>
        </p:spPr>
        <p:txBody>
          <a:bodyPr wrap="square" lIns="0" tIns="0" rIns="0" bIns="0" rtlCol="0" anchor="t"/>
          <a:lstStyle/>
          <a:p>
            <a:pPr indent="0" marL="0">
              <a:buNone/>
            </a:pPr>
            <a:r>
              <a:rPr lang="en-US" sz="1800" dirty="0">
                <a:solidFill>
                  <a:srgbClr val="9A9DA3"/>
                </a:solidFill>
                <a:latin typeface="Switzer" pitchFamily="34" charset="0"/>
                <a:ea typeface="Switzer" pitchFamily="34" charset="-122"/>
                <a:cs typeface="Switzer" pitchFamily="34" charset="-120"/>
              </a:rPr>
              <a:t>Architecting Scalable Systems  ·  Team 15</a:t>
            </a:r>
            <a:endParaRPr lang="en-US" sz="1800" dirty="0"/>
          </a:p>
        </p:txBody>
      </p:sp>
      <p:sp>
        <p:nvSpPr>
          <p:cNvPr id="3" name="Text 1"/>
          <p:cNvSpPr txBox="1"/>
          <p:nvPr/>
        </p:nvSpPr>
        <p:spPr>
          <a:xfrm>
            <a:off x="731520" y="2286000"/>
            <a:ext cx="10058400" cy="1188720"/>
          </a:xfrm>
          <a:prstGeom prst="rect">
            <a:avLst/>
          </a:prstGeom>
          <a:noFill/>
          <a:ln/>
        </p:spPr>
        <p:txBody>
          <a:bodyPr wrap="square" lIns="0" tIns="0" rIns="0" bIns="0" rtlCol="0" anchor="ctr"/>
          <a:lstStyle/>
          <a:p>
            <a:pPr indent="0" marL="0">
              <a:buNone/>
            </a:pPr>
            <a:r>
              <a:rPr lang="en-US" sz="6400" dirty="0">
                <a:solidFill>
                  <a:srgbClr val="FFFFFF"/>
                </a:solidFill>
                <a:latin typeface="Switzer Medium" pitchFamily="34" charset="0"/>
                <a:ea typeface="Switzer Medium" pitchFamily="34" charset="-122"/>
                <a:cs typeface="Switzer Medium" pitchFamily="34" charset="-120"/>
              </a:rPr>
              <a:t>Lumen Platform</a:t>
            </a:r>
            <a:endParaRPr lang="en-US" sz="6400" dirty="0"/>
          </a:p>
        </p:txBody>
      </p:sp>
      <p:sp>
        <p:nvSpPr>
          <p:cNvPr id="4" name="Text 2"/>
          <p:cNvSpPr txBox="1"/>
          <p:nvPr/>
        </p:nvSpPr>
        <p:spPr>
          <a:xfrm>
            <a:off x="731520" y="3520440"/>
            <a:ext cx="10058400" cy="548640"/>
          </a:xfrm>
          <a:prstGeom prst="rect">
            <a:avLst/>
          </a:prstGeom>
          <a:noFill/>
          <a:ln/>
        </p:spPr>
        <p:txBody>
          <a:bodyPr wrap="square" lIns="0" tIns="0" rIns="0" bIns="0" rtlCol="0" anchor="t"/>
          <a:lstStyle/>
          <a:p>
            <a:pPr indent="0" marL="0">
              <a:buNone/>
            </a:pPr>
            <a:r>
              <a:rPr lang="en-US" sz="2600" dirty="0">
                <a:solidFill>
                  <a:srgbClr val="9A9DA3"/>
                </a:solidFill>
                <a:latin typeface="Switzer" pitchFamily="34" charset="0"/>
                <a:ea typeface="Switzer" pitchFamily="34" charset="-122"/>
                <a:cs typeface="Switzer" pitchFamily="34" charset="-120"/>
              </a:rPr>
              <a:t>An AI that does research, built as a scalable platform</a:t>
            </a:r>
            <a:endParaRPr lang="en-US" sz="2600" dirty="0"/>
          </a:p>
        </p:txBody>
      </p:sp>
      <p:sp>
        <p:nvSpPr>
          <p:cNvPr id="5" name="Text 3"/>
          <p:cNvSpPr txBox="1"/>
          <p:nvPr/>
        </p:nvSpPr>
        <p:spPr>
          <a:xfrm>
            <a:off x="731520" y="5212080"/>
            <a:ext cx="10058400" cy="365760"/>
          </a:xfrm>
          <a:prstGeom prst="rect">
            <a:avLst/>
          </a:prstGeom>
          <a:noFill/>
          <a:ln/>
        </p:spPr>
        <p:txBody>
          <a:bodyPr wrap="square" lIns="0" tIns="0" rIns="0" bIns="0" rtlCol="0" anchor="t"/>
          <a:lstStyle/>
          <a:p>
            <a:pPr indent="0" marL="0">
              <a:buNone/>
            </a:pPr>
            <a:r>
              <a:rPr lang="en-US" sz="1600" dirty="0">
                <a:solidFill>
                  <a:srgbClr val="FFFFFF"/>
                </a:solidFill>
                <a:latin typeface="Switzer" pitchFamily="34" charset="0"/>
                <a:ea typeface="Switzer" pitchFamily="34" charset="-122"/>
                <a:cs typeface="Switzer" pitchFamily="34" charset="-120"/>
              </a:rPr>
              <a:t>He Rong  ·  Li Zhuoyang  ·  Liu Ziyang  ·  Lu Yi  ·  Peng Xujian</a:t>
            </a:r>
            <a:endParaRPr lang="en-US" sz="1600" dirty="0"/>
          </a:p>
        </p:txBody>
      </p:sp>
      <p:sp>
        <p:nvSpPr>
          <p:cNvPr id="6" name="Text 4"/>
          <p:cNvSpPr txBox="1"/>
          <p:nvPr/>
        </p:nvSpPr>
        <p:spPr>
          <a:xfrm>
            <a:off x="731520" y="5623560"/>
            <a:ext cx="10058400" cy="365760"/>
          </a:xfrm>
          <a:prstGeom prst="rect">
            <a:avLst/>
          </a:prstGeom>
          <a:noFill/>
          <a:ln/>
        </p:spPr>
        <p:txBody>
          <a:bodyPr wrap="square" lIns="0" tIns="0" rIns="0" bIns="0" rtlCol="0" anchor="t"/>
          <a:lstStyle/>
          <a:p>
            <a:pPr indent="0" marL="0">
              <a:buNone/>
            </a:pPr>
            <a:r>
              <a:rPr lang="en-US" sz="1500" dirty="0">
                <a:solidFill>
                  <a:srgbClr val="9A9DA3"/>
                </a:solidFill>
                <a:latin typeface="JetBrains Mono" pitchFamily="34" charset="0"/>
                <a:ea typeface="JetBrains Mono" pitchFamily="34" charset="-122"/>
                <a:cs typeface="JetBrains Mono" pitchFamily="34" charset="-120"/>
              </a:rPr>
              <a:t>lumen.54-179-112-87.sslip.io</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1a  ·  Context and business problem</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Lumen is an AI that does research</a:t>
            </a:r>
            <a:endParaRPr lang="en-US" sz="3400" dirty="0"/>
          </a:p>
        </p:txBody>
      </p:sp>
      <p:sp>
        <p:nvSpPr>
          <p:cNvPr id="4" name="Shape 2"/>
          <p:cNvSpPr/>
          <p:nvPr/>
        </p:nvSpPr>
        <p:spPr>
          <a:xfrm>
            <a:off x="548640" y="6492240"/>
            <a:ext cx="1734312" cy="27432"/>
          </a:xfrm>
          <a:prstGeom prst="rect">
            <a:avLst/>
          </a:prstGeom>
          <a:solidFill>
            <a:srgbClr val="FFFFFF"/>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lumen-at-work.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1b  ·  Platform thinking</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Producers, consumers, one platform</a:t>
            </a:r>
            <a:endParaRPr lang="en-US" sz="3400" dirty="0"/>
          </a:p>
        </p:txBody>
      </p:sp>
      <p:sp>
        <p:nvSpPr>
          <p:cNvPr id="4" name="Shape 2"/>
          <p:cNvSpPr/>
          <p:nvPr/>
        </p:nvSpPr>
        <p:spPr>
          <a:xfrm>
            <a:off x="548640" y="6492240"/>
            <a:ext cx="1734312" cy="27432"/>
          </a:xfrm>
          <a:prstGeom prst="rect">
            <a:avLst/>
          </a:prstGeom>
          <a:solidFill>
            <a:srgbClr val="FFFFFF"/>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platform.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1c  ·  Scope</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Six use cases, all running</a:t>
            </a:r>
            <a:endParaRPr lang="en-US" sz="3400" dirty="0"/>
          </a:p>
        </p:txBody>
      </p:sp>
      <p:sp>
        <p:nvSpPr>
          <p:cNvPr id="4" name="Shape 2"/>
          <p:cNvSpPr/>
          <p:nvPr/>
        </p:nvSpPr>
        <p:spPr>
          <a:xfrm>
            <a:off x="548640" y="6492240"/>
            <a:ext cx="1734312" cy="27432"/>
          </a:xfrm>
          <a:prstGeom prst="rect">
            <a:avLst/>
          </a:prstGeom>
          <a:solidFill>
            <a:srgbClr val="FFFFFF"/>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usecases.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2a  ·  2b  ·  Status, milestones and effort</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We worked to the proposal's plan</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FFFFFF"/>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milestones.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3a  ·  Key architectural decisions</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Three decisions shape the services</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FFFFFF"/>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decisions.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3b  ·  Logical architecture</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Five services behind one gateway</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FFFFFF"/>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logical.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3c  ·  Domain-driven design</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Five bounded contexts</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FFFFFF"/>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contextmap.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3c  ·  Producers and consumers</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How apps use the platform</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FFFFFF"/>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interaction.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4a  ·  Key architectural decisions</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Three choices shape the deployment</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FFFFFF"/>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physdecisions.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4b  ·  Physical architecture</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One AWS node, one k3s cluster</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FFFFFF"/>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deployment.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4b  ·  Recorded on the server</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Every service is running</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FFFFFF"/>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rec-pods.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4a  ·  Key architectural decision</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One queue for each level of the task tree</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FFFFFF"/>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queues.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4d  ·  Detailed design</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Asking a question with a chosen agent</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FFFFFF"/>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sequence.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4d  ·  Recorded through the API</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A question through the public API</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FFFFFF"/>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rec-ask.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4d  ·  Availability, recorded</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A worker is deleted; the question still ends</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FFFFFF"/>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rec-kill.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4c  ·  Persistence</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The schema, by context</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FFFFFF"/>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er.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5a  ·  Source and artifacts</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From a branch to a running image</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FFFFFF"/>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branches.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5b  ·  DevOps pipeline</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Six checks around one deploy</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FFFFFF"/>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pipeline.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5b  ·  Recorded on GitHub</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The real pipeline runs</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FFFFFF"/>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rec-pipeline.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5c  ·  Technical findings</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What we found, and what we changed</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FFFFFF"/>
          </a:solidFill>
          <a:ln/>
        </p:spPr>
      </p:sp>
      <p:sp>
        <p:nvSpPr>
          <p:cNvPr id="9" name="Shape 7"/>
          <p:cNvSpPr/>
          <p:nvPr/>
        </p:nvSpPr>
        <p:spPr>
          <a:xfrm>
            <a:off x="9906000" y="6492240"/>
            <a:ext cx="1734312" cy="27432"/>
          </a:xfrm>
          <a:prstGeom prst="rect">
            <a:avLst/>
          </a:prstGeom>
          <a:solidFill>
            <a:srgbClr val="45484C"/>
          </a:solidFill>
          <a:ln/>
        </p:spPr>
      </p:sp>
      <p:pic>
        <p:nvPicPr>
          <p:cNvPr id="10" name="Image 0" descr="/Users/rufus/lumen-next/.claude/worktrees/ass-platform/docs/platform/slides/out/findings.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6b  ·  Scalability</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KEDA adds workers as the queue grows</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FFFFFF"/>
          </a:solidFill>
          <a:ln/>
        </p:spPr>
      </p:sp>
      <p:pic>
        <p:nvPicPr>
          <p:cNvPr id="10" name="Image 0" descr="/Users/rufus/lumen-next/.claude/worktrees/ass-platform/docs/platform/slides/out/scaling.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6b  ·  Recorded on the server</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On the server: KEDA adds a worker</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FFFFFF"/>
          </a:solidFill>
          <a:ln/>
        </p:spPr>
      </p:sp>
      <p:pic>
        <p:nvPicPr>
          <p:cNvPr id="10" name="Image 0" descr="/Users/rufus/lumen-next/.claude/worktrees/ass-platform/docs/platform/slides/out/rec-scale.gif">    </p:cNvPr>
          <p:cNvPicPr>
            <a:picLocks noChangeAspect="1"/>
          </p:cNvPicPr>
          <p:nvPr/>
        </p:nvPicPr>
        <p:blipFill>
          <a:blip r:embed="rId1"/>
          <a:stretch>
            <a:fillRect/>
          </a:stretch>
        </p:blipFill>
        <p:spPr>
          <a:xfrm>
            <a:off x="548640" y="1691640"/>
            <a:ext cx="11091672" cy="4572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92608"/>
          </a:xfrm>
          <a:prstGeom prst="rect">
            <a:avLst/>
          </a:prstGeom>
          <a:noFill/>
          <a:ln/>
        </p:spPr>
        <p:txBody>
          <a:bodyPr wrap="square" lIns="0" tIns="0" rIns="0" bIns="0" rtlCol="0" anchor="t"/>
          <a:lstStyle/>
          <a:p>
            <a:pPr indent="0" marL="0">
              <a:buNone/>
            </a:pPr>
            <a:r>
              <a:rPr lang="en-US" sz="1400" dirty="0">
                <a:solidFill>
                  <a:srgbClr val="9A9DA3"/>
                </a:solidFill>
                <a:latin typeface="Switzer" pitchFamily="34" charset="0"/>
                <a:ea typeface="Switzer" pitchFamily="34" charset="-122"/>
                <a:cs typeface="Switzer" pitchFamily="34" charset="-120"/>
              </a:rPr>
              <a:t>6a  ·  6b  ·  Live demo</a:t>
            </a:r>
            <a:endParaRPr lang="en-US" sz="14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400" dirty="0">
                <a:solidFill>
                  <a:srgbClr val="FFFFFF"/>
                </a:solidFill>
                <a:latin typeface="Switzer Medium" pitchFamily="34" charset="0"/>
                <a:ea typeface="Switzer Medium" pitchFamily="34" charset="-122"/>
                <a:cs typeface="Switzer Medium" pitchFamily="34" charset="-120"/>
              </a:rPr>
              <a:t>Now, on the public server</a:t>
            </a:r>
            <a:endParaRPr lang="en-US" sz="3400" dirty="0"/>
          </a:p>
        </p:txBody>
      </p:sp>
      <p:sp>
        <p:nvSpPr>
          <p:cNvPr id="4" name="Shape 2"/>
          <p:cNvSpPr/>
          <p:nvPr/>
        </p:nvSpPr>
        <p:spPr>
          <a:xfrm>
            <a:off x="548640" y="6492240"/>
            <a:ext cx="1734312" cy="27432"/>
          </a:xfrm>
          <a:prstGeom prst="rect">
            <a:avLst/>
          </a:prstGeom>
          <a:solidFill>
            <a:srgbClr val="45484C"/>
          </a:solidFill>
          <a:ln/>
        </p:spPr>
      </p:sp>
      <p:sp>
        <p:nvSpPr>
          <p:cNvPr id="5" name="Shape 3"/>
          <p:cNvSpPr/>
          <p:nvPr/>
        </p:nvSpPr>
        <p:spPr>
          <a:xfrm>
            <a:off x="2420112" y="6492240"/>
            <a:ext cx="1734312" cy="27432"/>
          </a:xfrm>
          <a:prstGeom prst="rect">
            <a:avLst/>
          </a:prstGeom>
          <a:solidFill>
            <a:srgbClr val="45484C"/>
          </a:solidFill>
          <a:ln/>
        </p:spPr>
      </p:sp>
      <p:sp>
        <p:nvSpPr>
          <p:cNvPr id="6" name="Shape 4"/>
          <p:cNvSpPr/>
          <p:nvPr/>
        </p:nvSpPr>
        <p:spPr>
          <a:xfrm>
            <a:off x="4291584" y="6492240"/>
            <a:ext cx="1734312" cy="27432"/>
          </a:xfrm>
          <a:prstGeom prst="rect">
            <a:avLst/>
          </a:prstGeom>
          <a:solidFill>
            <a:srgbClr val="45484C"/>
          </a:solidFill>
          <a:ln/>
        </p:spPr>
      </p:sp>
      <p:sp>
        <p:nvSpPr>
          <p:cNvPr id="7" name="Shape 5"/>
          <p:cNvSpPr/>
          <p:nvPr/>
        </p:nvSpPr>
        <p:spPr>
          <a:xfrm>
            <a:off x="6163056" y="6492240"/>
            <a:ext cx="1734312" cy="27432"/>
          </a:xfrm>
          <a:prstGeom prst="rect">
            <a:avLst/>
          </a:prstGeom>
          <a:solidFill>
            <a:srgbClr val="45484C"/>
          </a:solidFill>
          <a:ln/>
        </p:spPr>
      </p:sp>
      <p:sp>
        <p:nvSpPr>
          <p:cNvPr id="8" name="Shape 6"/>
          <p:cNvSpPr/>
          <p:nvPr/>
        </p:nvSpPr>
        <p:spPr>
          <a:xfrm>
            <a:off x="8034528" y="6492240"/>
            <a:ext cx="1734312" cy="27432"/>
          </a:xfrm>
          <a:prstGeom prst="rect">
            <a:avLst/>
          </a:prstGeom>
          <a:solidFill>
            <a:srgbClr val="45484C"/>
          </a:solidFill>
          <a:ln/>
        </p:spPr>
      </p:sp>
      <p:sp>
        <p:nvSpPr>
          <p:cNvPr id="9" name="Shape 7"/>
          <p:cNvSpPr/>
          <p:nvPr/>
        </p:nvSpPr>
        <p:spPr>
          <a:xfrm>
            <a:off x="9906000" y="6492240"/>
            <a:ext cx="1734312" cy="27432"/>
          </a:xfrm>
          <a:prstGeom prst="rect">
            <a:avLst/>
          </a:prstGeom>
          <a:solidFill>
            <a:srgbClr val="FFFFFF"/>
          </a:solidFill>
          <a:ln/>
        </p:spPr>
      </p:sp>
      <p:sp>
        <p:nvSpPr>
          <p:cNvPr id="10" name="Shape 8"/>
          <p:cNvSpPr/>
          <p:nvPr/>
        </p:nvSpPr>
        <p:spPr>
          <a:xfrm>
            <a:off x="548640" y="1737360"/>
            <a:ext cx="11091672" cy="868680"/>
          </a:xfrm>
          <a:prstGeom prst="rect">
            <a:avLst/>
          </a:prstGeom>
          <a:ln w="12700">
            <a:solidFill>
              <a:srgbClr val="45484C"/>
            </a:solidFill>
            <a:prstDash val="solid"/>
          </a:ln>
        </p:spPr>
      </p:sp>
      <p:sp>
        <p:nvSpPr>
          <p:cNvPr id="11" name="Text 9"/>
          <p:cNvSpPr txBox="1"/>
          <p:nvPr/>
        </p:nvSpPr>
        <p:spPr>
          <a:xfrm>
            <a:off x="548640" y="1737360"/>
            <a:ext cx="11091672" cy="868680"/>
          </a:xfrm>
          <a:prstGeom prst="rect">
            <a:avLst/>
          </a:prstGeom>
          <a:noFill/>
          <a:ln/>
        </p:spPr>
        <p:txBody>
          <a:bodyPr wrap="square" lIns="0" tIns="0" rIns="0" bIns="0" rtlCol="0" anchor="ctr"/>
          <a:lstStyle/>
          <a:p>
            <a:pPr algn="ctr" indent="0" marL="0">
              <a:buNone/>
            </a:pPr>
            <a:r>
              <a:rPr lang="en-US" sz="2800" dirty="0">
                <a:solidFill>
                  <a:srgbClr val="FFFFFF"/>
                </a:solidFill>
                <a:latin typeface="JetBrains Mono" pitchFamily="34" charset="0"/>
                <a:ea typeface="JetBrains Mono" pitchFamily="34" charset="-122"/>
                <a:cs typeface="JetBrains Mono" pitchFamily="34" charset="-120"/>
              </a:rPr>
              <a:t>https://lumen.54-179-112-87.sslip.io</a:t>
            </a:r>
            <a:endParaRPr lang="en-US" sz="2800" dirty="0"/>
          </a:p>
        </p:txBody>
      </p:sp>
      <p:sp>
        <p:nvSpPr>
          <p:cNvPr id="12" name="Text 10"/>
          <p:cNvSpPr txBox="1"/>
          <p:nvPr/>
        </p:nvSpPr>
        <p:spPr>
          <a:xfrm>
            <a:off x="548640" y="2926080"/>
            <a:ext cx="2377440" cy="512064"/>
          </a:xfrm>
          <a:prstGeom prst="rect">
            <a:avLst/>
          </a:prstGeom>
          <a:noFill/>
          <a:ln/>
        </p:spPr>
        <p:txBody>
          <a:bodyPr wrap="square" lIns="0" tIns="0" rIns="0" bIns="0" rtlCol="0" anchor="ctr"/>
          <a:lstStyle/>
          <a:p>
            <a:pPr indent="0" marL="0">
              <a:buNone/>
            </a:pPr>
            <a:r>
              <a:rPr lang="en-US" sz="1800" dirty="0">
                <a:solidFill>
                  <a:srgbClr val="9A9DA3"/>
                </a:solidFill>
                <a:latin typeface="Switzer" pitchFamily="34" charset="0"/>
                <a:ea typeface="Switzer" pitchFamily="34" charset="-122"/>
                <a:cs typeface="Switzer" pitchFamily="34" charset="-120"/>
              </a:rPr>
              <a:t>Use case</a:t>
            </a:r>
            <a:endParaRPr lang="en-US" sz="1800" dirty="0"/>
          </a:p>
        </p:txBody>
      </p:sp>
      <p:sp>
        <p:nvSpPr>
          <p:cNvPr id="13" name="Text 11"/>
          <p:cNvSpPr txBox="1"/>
          <p:nvPr/>
        </p:nvSpPr>
        <p:spPr>
          <a:xfrm>
            <a:off x="3017520" y="2926080"/>
            <a:ext cx="8595360" cy="512064"/>
          </a:xfrm>
          <a:prstGeom prst="rect">
            <a:avLst/>
          </a:prstGeom>
          <a:noFill/>
          <a:ln/>
        </p:spPr>
        <p:txBody>
          <a:bodyPr wrap="square" lIns="0" tIns="0" rIns="0" bIns="0" rtlCol="0" anchor="ctr"/>
          <a:lstStyle/>
          <a:p>
            <a:pPr indent="0" marL="0">
              <a:buNone/>
            </a:pPr>
            <a:r>
              <a:rPr lang="en-US" sz="2200" dirty="0">
                <a:solidFill>
                  <a:srgbClr val="FFFFFF"/>
                </a:solidFill>
                <a:latin typeface="Switzer" pitchFamily="34" charset="0"/>
                <a:ea typeface="Switzer" pitchFamily="34" charset="-122"/>
                <a:cs typeface="Switzer" pitchFamily="34" charset="-120"/>
              </a:rPr>
              <a:t>ask a question in the browser; watch the call tree grow</a:t>
            </a:r>
            <a:endParaRPr lang="en-US" sz="2200" dirty="0"/>
          </a:p>
        </p:txBody>
      </p:sp>
      <p:sp>
        <p:nvSpPr>
          <p:cNvPr id="14" name="Text 12"/>
          <p:cNvSpPr txBox="1"/>
          <p:nvPr/>
        </p:nvSpPr>
        <p:spPr>
          <a:xfrm>
            <a:off x="548640" y="3584448"/>
            <a:ext cx="2377440" cy="512064"/>
          </a:xfrm>
          <a:prstGeom prst="rect">
            <a:avLst/>
          </a:prstGeom>
          <a:noFill/>
          <a:ln/>
        </p:spPr>
        <p:txBody>
          <a:bodyPr wrap="square" lIns="0" tIns="0" rIns="0" bIns="0" rtlCol="0" anchor="ctr"/>
          <a:lstStyle/>
          <a:p>
            <a:pPr indent="0" marL="0">
              <a:buNone/>
            </a:pPr>
            <a:r>
              <a:rPr lang="en-US" sz="1800" dirty="0">
                <a:solidFill>
                  <a:srgbClr val="9A9DA3"/>
                </a:solidFill>
                <a:latin typeface="Switzer" pitchFamily="34" charset="0"/>
                <a:ea typeface="Switzer" pitchFamily="34" charset="-122"/>
                <a:cs typeface="Switzer" pitchFamily="34" charset="-120"/>
              </a:rPr>
              <a:t>Use case</a:t>
            </a:r>
            <a:endParaRPr lang="en-US" sz="1800" dirty="0"/>
          </a:p>
        </p:txBody>
      </p:sp>
      <p:sp>
        <p:nvSpPr>
          <p:cNvPr id="15" name="Text 13"/>
          <p:cNvSpPr txBox="1"/>
          <p:nvPr/>
        </p:nvSpPr>
        <p:spPr>
          <a:xfrm>
            <a:off x="3017520" y="3584448"/>
            <a:ext cx="8595360" cy="512064"/>
          </a:xfrm>
          <a:prstGeom prst="rect">
            <a:avLst/>
          </a:prstGeom>
          <a:noFill/>
          <a:ln/>
        </p:spPr>
        <p:txBody>
          <a:bodyPr wrap="square" lIns="0" tIns="0" rIns="0" bIns="0" rtlCol="0" anchor="ctr"/>
          <a:lstStyle/>
          <a:p>
            <a:pPr indent="0" marL="0">
              <a:buNone/>
            </a:pPr>
            <a:r>
              <a:rPr lang="en-US" sz="2200" dirty="0">
                <a:solidFill>
                  <a:srgbClr val="FFFFFF"/>
                </a:solidFill>
                <a:latin typeface="Switzer" pitchFamily="34" charset="0"/>
                <a:ea typeface="Switzer" pitchFamily="34" charset="-122"/>
                <a:cs typeface="Switzer" pitchFamily="34" charset="-120"/>
              </a:rPr>
              <a:t>the watch app publishes its agent and asks; then read usage</a:t>
            </a:r>
            <a:endParaRPr lang="en-US" sz="2200" dirty="0"/>
          </a:p>
        </p:txBody>
      </p:sp>
      <p:sp>
        <p:nvSpPr>
          <p:cNvPr id="16" name="Text 14"/>
          <p:cNvSpPr txBox="1"/>
          <p:nvPr/>
        </p:nvSpPr>
        <p:spPr>
          <a:xfrm>
            <a:off x="548640" y="4242816"/>
            <a:ext cx="2377440" cy="512064"/>
          </a:xfrm>
          <a:prstGeom prst="rect">
            <a:avLst/>
          </a:prstGeom>
          <a:noFill/>
          <a:ln/>
        </p:spPr>
        <p:txBody>
          <a:bodyPr wrap="square" lIns="0" tIns="0" rIns="0" bIns="0" rtlCol="0" anchor="ctr"/>
          <a:lstStyle/>
          <a:p>
            <a:pPr indent="0" marL="0">
              <a:buNone/>
            </a:pPr>
            <a:r>
              <a:rPr lang="en-US" sz="1800" dirty="0">
                <a:solidFill>
                  <a:srgbClr val="9A9DA3"/>
                </a:solidFill>
                <a:latin typeface="Switzer" pitchFamily="34" charset="0"/>
                <a:ea typeface="Switzer" pitchFamily="34" charset="-122"/>
                <a:cs typeface="Switzer" pitchFamily="34" charset="-120"/>
              </a:rPr>
              <a:t>Scalability</a:t>
            </a:r>
            <a:endParaRPr lang="en-US" sz="1800" dirty="0"/>
          </a:p>
        </p:txBody>
      </p:sp>
      <p:sp>
        <p:nvSpPr>
          <p:cNvPr id="17" name="Text 15"/>
          <p:cNvSpPr txBox="1"/>
          <p:nvPr/>
        </p:nvSpPr>
        <p:spPr>
          <a:xfrm>
            <a:off x="3017520" y="4242816"/>
            <a:ext cx="8595360" cy="512064"/>
          </a:xfrm>
          <a:prstGeom prst="rect">
            <a:avLst/>
          </a:prstGeom>
          <a:noFill/>
          <a:ln/>
        </p:spPr>
        <p:txBody>
          <a:bodyPr wrap="square" lIns="0" tIns="0" rIns="0" bIns="0" rtlCol="0" anchor="ctr"/>
          <a:lstStyle/>
          <a:p>
            <a:pPr indent="0" marL="0">
              <a:buNone/>
            </a:pPr>
            <a:r>
              <a:rPr lang="en-US" sz="2200" dirty="0">
                <a:solidFill>
                  <a:srgbClr val="FFFFFF"/>
                </a:solidFill>
                <a:latin typeface="Switzer" pitchFamily="34" charset="0"/>
                <a:ea typeface="Switzer" pitchFamily="34" charset="-122"/>
                <a:cs typeface="Switzer" pitchFamily="34" charset="-120"/>
              </a:rPr>
              <a:t>the recorded load test; KEDA's state, live</a:t>
            </a:r>
            <a:endParaRPr lang="en-US" sz="2200" dirty="0"/>
          </a:p>
        </p:txBody>
      </p:sp>
      <p:sp>
        <p:nvSpPr>
          <p:cNvPr id="18" name="Text 16"/>
          <p:cNvSpPr txBox="1"/>
          <p:nvPr/>
        </p:nvSpPr>
        <p:spPr>
          <a:xfrm>
            <a:off x="548640" y="4901184"/>
            <a:ext cx="2377440" cy="512064"/>
          </a:xfrm>
          <a:prstGeom prst="rect">
            <a:avLst/>
          </a:prstGeom>
          <a:noFill/>
          <a:ln/>
        </p:spPr>
        <p:txBody>
          <a:bodyPr wrap="square" lIns="0" tIns="0" rIns="0" bIns="0" rtlCol="0" anchor="ctr"/>
          <a:lstStyle/>
          <a:p>
            <a:pPr indent="0" marL="0">
              <a:buNone/>
            </a:pPr>
            <a:r>
              <a:rPr lang="en-US" sz="1800" dirty="0">
                <a:solidFill>
                  <a:srgbClr val="9A9DA3"/>
                </a:solidFill>
                <a:latin typeface="Switzer" pitchFamily="34" charset="0"/>
                <a:ea typeface="Switzer" pitchFamily="34" charset="-122"/>
                <a:cs typeface="Switzer" pitchFamily="34" charset="-120"/>
              </a:rPr>
              <a:t>Availability</a:t>
            </a:r>
            <a:endParaRPr lang="en-US" sz="1800" dirty="0"/>
          </a:p>
        </p:txBody>
      </p:sp>
      <p:sp>
        <p:nvSpPr>
          <p:cNvPr id="19" name="Text 17"/>
          <p:cNvSpPr txBox="1"/>
          <p:nvPr/>
        </p:nvSpPr>
        <p:spPr>
          <a:xfrm>
            <a:off x="3017520" y="4901184"/>
            <a:ext cx="8595360" cy="512064"/>
          </a:xfrm>
          <a:prstGeom prst="rect">
            <a:avLst/>
          </a:prstGeom>
          <a:noFill/>
          <a:ln/>
        </p:spPr>
        <p:txBody>
          <a:bodyPr wrap="square" lIns="0" tIns="0" rIns="0" bIns="0" rtlCol="0" anchor="ctr"/>
          <a:lstStyle/>
          <a:p>
            <a:pPr indent="0" marL="0">
              <a:buNone/>
            </a:pPr>
            <a:r>
              <a:rPr lang="en-US" sz="2200" dirty="0">
                <a:solidFill>
                  <a:srgbClr val="FFFFFF"/>
                </a:solidFill>
                <a:latin typeface="Switzer" pitchFamily="34" charset="0"/>
                <a:ea typeface="Switzer" pitchFamily="34" charset="-122"/>
                <a:cs typeface="Switzer" pitchFamily="34" charset="-120"/>
              </a:rPr>
              <a:t>delete a worker during a question; it still ends</a:t>
            </a:r>
            <a:endParaRPr lang="en-US" sz="2200" dirty="0"/>
          </a:p>
        </p:txBody>
      </p:sp>
      <p:sp>
        <p:nvSpPr>
          <p:cNvPr id="20" name="Text 18"/>
          <p:cNvSpPr txBox="1"/>
          <p:nvPr/>
        </p:nvSpPr>
        <p:spPr>
          <a:xfrm>
            <a:off x="548640" y="5559552"/>
            <a:ext cx="2377440" cy="512064"/>
          </a:xfrm>
          <a:prstGeom prst="rect">
            <a:avLst/>
          </a:prstGeom>
          <a:noFill/>
          <a:ln/>
        </p:spPr>
        <p:txBody>
          <a:bodyPr wrap="square" lIns="0" tIns="0" rIns="0" bIns="0" rtlCol="0" anchor="ctr"/>
          <a:lstStyle/>
          <a:p>
            <a:pPr indent="0" marL="0">
              <a:buNone/>
            </a:pPr>
            <a:r>
              <a:rPr lang="en-US" sz="1800" dirty="0">
                <a:solidFill>
                  <a:srgbClr val="9A9DA3"/>
                </a:solidFill>
                <a:latin typeface="Switzer" pitchFamily="34" charset="0"/>
                <a:ea typeface="Switzer" pitchFamily="34" charset="-122"/>
                <a:cs typeface="Switzer" pitchFamily="34" charset="-120"/>
              </a:rPr>
              <a:t>Maintainability</a:t>
            </a:r>
            <a:endParaRPr lang="en-US" sz="1800" dirty="0"/>
          </a:p>
        </p:txBody>
      </p:sp>
      <p:sp>
        <p:nvSpPr>
          <p:cNvPr id="21" name="Text 19"/>
          <p:cNvSpPr txBox="1"/>
          <p:nvPr/>
        </p:nvSpPr>
        <p:spPr>
          <a:xfrm>
            <a:off x="3017520" y="5559552"/>
            <a:ext cx="8595360" cy="512064"/>
          </a:xfrm>
          <a:prstGeom prst="rect">
            <a:avLst/>
          </a:prstGeom>
          <a:noFill/>
          <a:ln/>
        </p:spPr>
        <p:txBody>
          <a:bodyPr wrap="square" lIns="0" tIns="0" rIns="0" bIns="0" rtlCol="0" anchor="ctr"/>
          <a:lstStyle/>
          <a:p>
            <a:pPr indent="0" marL="0">
              <a:buNone/>
            </a:pPr>
            <a:r>
              <a:rPr lang="en-US" sz="2200" dirty="0">
                <a:solidFill>
                  <a:srgbClr val="FFFFFF"/>
                </a:solidFill>
                <a:latin typeface="Switzer" pitchFamily="34" charset="0"/>
                <a:ea typeface="Switzer" pitchFamily="34" charset="-122"/>
                <a:cs typeface="Switzer" pitchFamily="34" charset="-120"/>
              </a:rPr>
              <a:t>open the last pipeline run on GitHub</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731520" y="2286000"/>
            <a:ext cx="10058400" cy="1188720"/>
          </a:xfrm>
          <a:prstGeom prst="rect">
            <a:avLst/>
          </a:prstGeom>
          <a:noFill/>
          <a:ln/>
        </p:spPr>
        <p:txBody>
          <a:bodyPr wrap="square" lIns="0" tIns="0" rIns="0" bIns="0" rtlCol="0" anchor="ctr"/>
          <a:lstStyle/>
          <a:p>
            <a:pPr indent="0" marL="0">
              <a:buNone/>
            </a:pPr>
            <a:r>
              <a:rPr lang="en-US" sz="6400" dirty="0">
                <a:solidFill>
                  <a:srgbClr val="FFFFFF"/>
                </a:solidFill>
                <a:latin typeface="Switzer Medium" pitchFamily="34" charset="0"/>
                <a:ea typeface="Switzer Medium" pitchFamily="34" charset="-122"/>
                <a:cs typeface="Switzer Medium" pitchFamily="34" charset="-120"/>
              </a:rPr>
              <a:t>Thank you</a:t>
            </a:r>
            <a:endParaRPr lang="en-US" sz="6400" dirty="0"/>
          </a:p>
        </p:txBody>
      </p:sp>
      <p:sp>
        <p:nvSpPr>
          <p:cNvPr id="3" name="Text 1"/>
          <p:cNvSpPr txBox="1"/>
          <p:nvPr/>
        </p:nvSpPr>
        <p:spPr>
          <a:xfrm>
            <a:off x="731520" y="3566160"/>
            <a:ext cx="10058400" cy="548640"/>
          </a:xfrm>
          <a:prstGeom prst="rect">
            <a:avLst/>
          </a:prstGeom>
          <a:noFill/>
          <a:ln/>
        </p:spPr>
        <p:txBody>
          <a:bodyPr wrap="square" lIns="0" tIns="0" rIns="0" bIns="0" rtlCol="0" anchor="t"/>
          <a:lstStyle/>
          <a:p>
            <a:pPr indent="0" marL="0">
              <a:buNone/>
            </a:pPr>
            <a:r>
              <a:rPr lang="en-US" sz="2800" dirty="0">
                <a:solidFill>
                  <a:srgbClr val="9A9DA3"/>
                </a:solidFill>
                <a:latin typeface="Switzer" pitchFamily="34" charset="0"/>
                <a:ea typeface="Switzer" pitchFamily="34" charset="-122"/>
                <a:cs typeface="Switzer" pitchFamily="34" charset="-120"/>
              </a:rPr>
              <a:t>Questions?</a:t>
            </a:r>
            <a:endParaRPr lang="en-US" sz="2800" dirty="0"/>
          </a:p>
        </p:txBody>
      </p:sp>
      <p:sp>
        <p:nvSpPr>
          <p:cNvPr id="4" name="Text 2"/>
          <p:cNvSpPr txBox="1"/>
          <p:nvPr/>
        </p:nvSpPr>
        <p:spPr>
          <a:xfrm>
            <a:off x="731520" y="4389120"/>
            <a:ext cx="10058400" cy="457200"/>
          </a:xfrm>
          <a:prstGeom prst="rect">
            <a:avLst/>
          </a:prstGeom>
          <a:noFill/>
          <a:ln/>
        </p:spPr>
        <p:txBody>
          <a:bodyPr wrap="square" lIns="0" tIns="0" rIns="0" bIns="0" rtlCol="0" anchor="t"/>
          <a:lstStyle/>
          <a:p>
            <a:pPr indent="0" marL="0">
              <a:buNone/>
            </a:pPr>
            <a:r>
              <a:rPr lang="en-US" sz="1800" dirty="0">
                <a:solidFill>
                  <a:srgbClr val="9A9DA3"/>
                </a:solidFill>
                <a:latin typeface="JetBrains Mono" pitchFamily="34" charset="0"/>
                <a:ea typeface="JetBrains Mono" pitchFamily="34" charset="-122"/>
                <a:cs typeface="JetBrains Mono" pitchFamily="34" charset="-120"/>
              </a:rPr>
              <a:t>https://lumen.54-179-112-87.sslip.io</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Lumen Platform</dc:title>
  <dc:subject>PptxGenJS Presentation</dc:subject>
  <dc:creator>Team 15</dc:creator>
  <cp:lastModifiedBy>Team 15</cp:lastModifiedBy>
  <cp:revision>1</cp:revision>
  <dcterms:created xsi:type="dcterms:W3CDTF">2026-10-22T11:54:59Z</dcterms:created>
  <dcterms:modified xsi:type="dcterms:W3CDTF">2026-10-22T11:54:59Z</dcterms:modified>
</cp:coreProperties>
</file>