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15. Our project is Lumen Platform: a platform on which teams of AI agents do research work. Everything we show today runs on a public server; the address is on the slide, and you can open it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problem, what Lumen does, and why it is a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researcher who uses an AI model today works in one chat window. Three problems. One: it does one thing at a time, so a question with five parts takes five rounds. Two: a long conversation fills the window, and the first messages fall out without warning. Three: nobody sees the cost until the bill arrives. Lumen gives the question to a team of agents instead: a lead agent splits it, and readers work on the parts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question in Lumen. You ask it. A lead agent plans and splits the work. Three readers work in parallel. Every small square is a step an agent took, and every step is recorded with its cost. The cost adds up against a cap on the account: one US dollar by default. The findings and the answer come back to you. Numbers on this picture are from a real question on our server: 3 cents, 3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Lumen is a platform, not only an app. Producers publish agents: an agent is a set of instructions for the lead, for one kind of question. Consumers ask questions and pick an agent. An app gets an API key that says what it may do. The platform runs the work, records every step and bills it. Our second app, a literature watch, is about 210 lines: it has no database, no model and no billing of its own, because the platform does that. That is the benefit of building on a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us owns one part from design to deployment. Status today: everything you will see is built and running on the public server. Before the talk, each member states the hours they spent [TEAM TO FILL: hours per member, from the report's section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architecture: the services, one decision that matters, where it runs, and how apps are let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services sit behind one gateway, and each can run as many copies as it needs. Follow one question: the gateway sends it to the project service, which opens a session. The session service does not do the work itself: it puts the work in a queue, which is a waiting line. A worker takes the work from the queue and does it, and every step goes back through the session service to the screen. When more work waits, more workers start. All services share one PostgreSQL database; the queue is RabbitMQ.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design decision that matters. A lead waits for its readers, and while it waits it keeps its worker busy. With a single queue, two leads can take both workers; their readers then wait in the queue for a worker that never comes free. Everything stops. Our fix is one queue for each level of the tree. Leads take lead slots, readers have their own slots, and the deepest level never waits for anything, so the work always drains.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runs on one small server in AWS, in Singapore: a t3.medium, about 1.3 US dollars a day. Kubernetes, in its small k3s version, runs every service on it and restarts what fails. HTTPS comes from a free Let's Encrypt certificate that renews itself. A push to GitHub deploys a new version, after the checks we show in part 4. For the report we explain why one server and not EKS: cost and time; the same setup moves to EKS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Apps get a key, not a password. The key carries scopes, and it is stored only as a hash, so we cannot read it back. Inside its scopes it works. On the web app's own pages it is refused with 403, so a key can never act as a signed-in person. And each key may send 60 requests a minute, 20 at once; past that it gets 429, slow down. Other controls: HTTPS everywhere, internal calls between services carry a secret and are never routed from outside, and every container runs without root.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two tests on the public server. More load, and a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recording of a real load test on our public server, on 20 October. Ten users ask questions as fast as they can. The blue bars are the jobs waiting in the queue. One worker cannot keep up, so the queue grows. KEDA watches the queue and starts more copies of the worker: one, two, three, four, in about 50 seconds. When the load ends, it goes back to one. Result: 135 questions, all answered, median 6.1 seconds, none of the 1,040 requests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if a worker dies in the middle of a question? We killed one on purpose, with no time to finish. A job leaves the queue for good only when its worker says it is done. So the three jobs went back to the queue, Kubernetes started a new worker, it took them, and the question ended 12.6 seconds after it was asked. The price: those three jobs ran twice, so the question cost 8 cents instead of 3. Making jobs safe to repeat is our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how a change reaches the server, then the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push goes through seven checks: the tests, a check of the libraries we use, a scan of our code, a scan of the built image, the deploy, an attack test against the live server with OWASP ZAP, and a small load test. Nothing reaches the server unless the checks before it pass. This has already worked once: the image scan found five critical security issues in programs we did not need, and stopped the deploy. We built a smaller image without them, and the next run passed every check: 12.5 minutes from push to a tested public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about eight minutes. Run deploy/k8s/demo.sh with LUMEN_URL set to the address on the slide. One: ask a question in the browser. Two: watch the tree grow, step by step, with its cost. Three: start the load test and show the workers going from 1 to 4 (kubectl get pods), then back. Four: run the literature watch, which asks through the public API with an API key. If the network fails, play the animations on the previous slides; they show the same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limits we know about. The session service runs as one copy, because it keeps running work in memory; the next step is to keep it in the database. All services share one database; the tables are already separated per service, so one database each is the next step. And a killed worker's jobs run twice; we make jobs safe to repeat. The report lists all thirteen limits, each with a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gif"/><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gif"/><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gif"/><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gif"/><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D23"/>
        </a:solidFill>
      </p:bgPr>
    </p:bg>
    <p:spTree>
      <p:nvGrpSpPr>
        <p:cNvPr id="1" name=""/>
        <p:cNvGrpSpPr/>
        <p:nvPr/>
      </p:nvGrpSpPr>
      <p:grpSpPr>
        <a:xfrm>
          <a:off x="0" y="0"/>
          <a:ext cx="0" cy="0"/>
          <a:chOff x="0" y="0"/>
          <a:chExt cx="0" cy="0"/>
        </a:xfrm>
      </p:grpSpPr>
      <p:sp>
        <p:nvSpPr>
          <p:cNvPr id="2" name="Text 0"/>
          <p:cNvSpPr txBox="1"/>
          <p:nvPr/>
        </p:nvSpPr>
        <p:spPr>
          <a:xfrm>
            <a:off x="731520" y="1737360"/>
            <a:ext cx="10698480" cy="411480"/>
          </a:xfrm>
          <a:prstGeom prst="rect">
            <a:avLst/>
          </a:prstGeom>
          <a:noFill/>
          <a:ln/>
        </p:spPr>
        <p:txBody>
          <a:bodyPr wrap="square" lIns="0" tIns="0" rIns="0" bIns="0" rtlCol="0" anchor="t"/>
          <a:lstStyle/>
          <a:p>
            <a:pPr indent="0" marL="0">
              <a:buNone/>
            </a:pPr>
            <a:r>
              <a:rPr lang="en-US" sz="1800" b="1" spc="300" kern="0" dirty="0">
                <a:solidFill>
                  <a:srgbClr val="C8102E"/>
                </a:solidFill>
                <a:latin typeface="Arial" pitchFamily="34" charset="0"/>
                <a:ea typeface="Arial" pitchFamily="34" charset="-122"/>
                <a:cs typeface="Arial" pitchFamily="34" charset="-120"/>
              </a:rPr>
              <a:t>ARCHITECTING SCALABLE SYSTEMS · TEAM 15</a:t>
            </a:r>
            <a:endParaRPr lang="en-US" sz="1800" dirty="0"/>
          </a:p>
        </p:txBody>
      </p:sp>
      <p:sp>
        <p:nvSpPr>
          <p:cNvPr id="3" name="Text 1"/>
          <p:cNvSpPr txBox="1"/>
          <p:nvPr/>
        </p:nvSpPr>
        <p:spPr>
          <a:xfrm>
            <a:off x="731520" y="2240280"/>
            <a:ext cx="10698480" cy="118872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Lumen Platform</a:t>
            </a:r>
            <a:endParaRPr lang="en-US" sz="6000" dirty="0"/>
          </a:p>
        </p:txBody>
      </p:sp>
      <p:sp>
        <p:nvSpPr>
          <p:cNvPr id="4" name="Text 2"/>
          <p:cNvSpPr txBox="1"/>
          <p:nvPr/>
        </p:nvSpPr>
        <p:spPr>
          <a:xfrm>
            <a:off x="731520" y="3474720"/>
            <a:ext cx="10698480" cy="548640"/>
          </a:xfrm>
          <a:prstGeom prst="rect">
            <a:avLst/>
          </a:prstGeom>
          <a:noFill/>
          <a:ln/>
        </p:spPr>
        <p:txBody>
          <a:bodyPr wrap="square" lIns="0" tIns="0" rIns="0" bIns="0" rtlCol="0" anchor="t"/>
          <a:lstStyle/>
          <a:p>
            <a:pPr indent="0" marL="0">
              <a:buNone/>
            </a:pPr>
            <a:r>
              <a:rPr lang="en-US" sz="2600" dirty="0">
                <a:solidFill>
                  <a:srgbClr val="A3A9B1"/>
                </a:solidFill>
                <a:latin typeface="Arial" pitchFamily="34" charset="0"/>
                <a:ea typeface="Arial" pitchFamily="34" charset="-122"/>
                <a:cs typeface="Arial" pitchFamily="34" charset="-120"/>
              </a:rPr>
              <a:t>A platform for teams of AI research agents</a:t>
            </a:r>
            <a:endParaRPr lang="en-US" sz="2600" dirty="0"/>
          </a:p>
        </p:txBody>
      </p:sp>
      <p:sp>
        <p:nvSpPr>
          <p:cNvPr id="5" name="Text 3"/>
          <p:cNvSpPr txBox="1"/>
          <p:nvPr/>
        </p:nvSpPr>
        <p:spPr>
          <a:xfrm>
            <a:off x="731520" y="5120640"/>
            <a:ext cx="10698480" cy="411480"/>
          </a:xfrm>
          <a:prstGeom prst="rect">
            <a:avLst/>
          </a:prstGeom>
          <a:noFill/>
          <a:ln/>
        </p:spPr>
        <p:txBody>
          <a:bodyPr wrap="square" lIns="0" tIns="0" rIns="0" bIns="0" rtlCol="0" anchor="t"/>
          <a:lstStyle/>
          <a:p>
            <a:pPr indent="0" marL="0">
              <a:buNone/>
            </a:pPr>
            <a:r>
              <a:rPr lang="en-US" sz="1800" dirty="0">
                <a:solidFill>
                  <a:srgbClr val="FFFFFF"/>
                </a:solidFill>
                <a:latin typeface="Arial" pitchFamily="34" charset="0"/>
                <a:ea typeface="Arial" pitchFamily="34" charset="-122"/>
                <a:cs typeface="Arial" pitchFamily="34" charset="-120"/>
              </a:rPr>
              <a:t>He Rong  ·  Li Zhuoyang  ·  Liu Ziyang  ·  Lu Yi  ·  Peng Xujian</a:t>
            </a:r>
            <a:endParaRPr lang="en-US" sz="1800" dirty="0"/>
          </a:p>
        </p:txBody>
      </p:sp>
      <p:sp>
        <p:nvSpPr>
          <p:cNvPr id="6" name="Text 4"/>
          <p:cNvSpPr txBox="1"/>
          <p:nvPr/>
        </p:nvSpPr>
        <p:spPr>
          <a:xfrm>
            <a:off x="731520" y="5623560"/>
            <a:ext cx="10698480" cy="365760"/>
          </a:xfrm>
          <a:prstGeom prst="rect">
            <a:avLst/>
          </a:prstGeom>
          <a:noFill/>
          <a:ln/>
        </p:spPr>
        <p:txBody>
          <a:bodyPr wrap="square" lIns="0" tIns="0" rIns="0" bIns="0" rtlCol="0" anchor="t"/>
          <a:lstStyle/>
          <a:p>
            <a:pPr indent="0" marL="0">
              <a:buNone/>
            </a:pPr>
            <a:r>
              <a:rPr lang="en-US" sz="1600" dirty="0">
                <a:solidFill>
                  <a:srgbClr val="A3A9B1"/>
                </a:solidFill>
                <a:latin typeface="Arial" pitchFamily="34" charset="0"/>
                <a:ea typeface="Arial" pitchFamily="34" charset="-122"/>
                <a:cs typeface="Arial" pitchFamily="34" charset="-120"/>
              </a:rPr>
              <a:t>lumen.54-179-112-87.sslip.io</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1D23"/>
        </a:solidFill>
      </p:bgPr>
    </p:bg>
    <p:spTree>
      <p:nvGrpSpPr>
        <p:cNvPr id="1" name=""/>
        <p:cNvGrpSpPr/>
        <p:nvPr/>
      </p:nvGrpSpPr>
      <p:grpSpPr>
        <a:xfrm>
          <a:off x="0" y="0"/>
          <a:ext cx="0" cy="0"/>
          <a:chOff x="0" y="0"/>
          <a:chExt cx="0" cy="0"/>
        </a:xfrm>
      </p:grpSpPr>
      <p:sp>
        <p:nvSpPr>
          <p:cNvPr id="2" name="Text 0"/>
          <p:cNvSpPr txBox="1"/>
          <p:nvPr/>
        </p:nvSpPr>
        <p:spPr>
          <a:xfrm>
            <a:off x="731520" y="1828800"/>
            <a:ext cx="10058400" cy="411480"/>
          </a:xfrm>
          <a:prstGeom prst="rect">
            <a:avLst/>
          </a:prstGeom>
          <a:noFill/>
          <a:ln/>
        </p:spPr>
        <p:txBody>
          <a:bodyPr wrap="square" lIns="0" tIns="0" rIns="0" bIns="0" rtlCol="0" anchor="t"/>
          <a:lstStyle/>
          <a:p>
            <a:pPr indent="0" marL="0">
              <a:buNone/>
            </a:pPr>
            <a:r>
              <a:rPr lang="en-US" sz="2000" b="1" spc="300" kern="0" dirty="0">
                <a:solidFill>
                  <a:srgbClr val="C8102E"/>
                </a:solidFill>
                <a:latin typeface="Arial" pitchFamily="34" charset="0"/>
                <a:ea typeface="Arial" pitchFamily="34" charset="-122"/>
                <a:cs typeface="Arial" pitchFamily="34" charset="-120"/>
              </a:rPr>
              <a:t>PART 1 OF 4</a:t>
            </a:r>
            <a:endParaRPr lang="en-US" sz="2000" dirty="0"/>
          </a:p>
        </p:txBody>
      </p:sp>
      <p:sp>
        <p:nvSpPr>
          <p:cNvPr id="3" name="Text 1"/>
          <p:cNvSpPr txBox="1"/>
          <p:nvPr/>
        </p:nvSpPr>
        <p:spPr>
          <a:xfrm>
            <a:off x="731520" y="2331720"/>
            <a:ext cx="10698480" cy="109728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Overview</a:t>
            </a:r>
            <a:endParaRPr lang="en-US" sz="5400" dirty="0"/>
          </a:p>
        </p:txBody>
      </p:sp>
      <p:sp>
        <p:nvSpPr>
          <p:cNvPr id="4" name="Text 2"/>
          <p:cNvSpPr txBox="1"/>
          <p:nvPr/>
        </p:nvSpPr>
        <p:spPr>
          <a:xfrm>
            <a:off x="731520" y="3520440"/>
            <a:ext cx="10698480" cy="457200"/>
          </a:xfrm>
          <a:prstGeom prst="rect">
            <a:avLst/>
          </a:prstGeom>
          <a:noFill/>
          <a:ln/>
        </p:spPr>
        <p:txBody>
          <a:bodyPr wrap="square" lIns="0" tIns="0" rIns="0" bIns="0" rtlCol="0" anchor="t"/>
          <a:lstStyle/>
          <a:p>
            <a:pPr indent="0" marL="0">
              <a:buNone/>
            </a:pPr>
            <a:r>
              <a:rPr lang="en-US" sz="2200" dirty="0">
                <a:solidFill>
                  <a:srgbClr val="A3A9B1"/>
                </a:solidFill>
                <a:latin typeface="Arial" pitchFamily="34" charset="0"/>
                <a:ea typeface="Arial" pitchFamily="34" charset="-122"/>
                <a:cs typeface="Arial" pitchFamily="34" charset="-120"/>
              </a:rPr>
              <a:t>What we built, and why</a:t>
            </a:r>
            <a:endParaRPr lang="en-US" sz="2200" dirty="0"/>
          </a:p>
        </p:txBody>
      </p:sp>
      <p:sp>
        <p:nvSpPr>
          <p:cNvPr id="5" name="Shape 3"/>
          <p:cNvSpPr/>
          <p:nvPr/>
        </p:nvSpPr>
        <p:spPr>
          <a:xfrm>
            <a:off x="640080" y="5349240"/>
            <a:ext cx="2521458" cy="640080"/>
          </a:xfrm>
          <a:prstGeom prst="rect">
            <a:avLst/>
          </a:prstGeom>
          <a:solidFill>
            <a:srgbClr val="C8102E"/>
          </a:solidFill>
          <a:ln w="15875">
            <a:solidFill>
              <a:srgbClr val="C8102E"/>
            </a:solidFill>
            <a:prstDash val="solid"/>
          </a:ln>
        </p:spPr>
      </p:sp>
      <p:sp>
        <p:nvSpPr>
          <p:cNvPr id="6" name="Text 4"/>
          <p:cNvSpPr txBox="1"/>
          <p:nvPr/>
        </p:nvSpPr>
        <p:spPr>
          <a:xfrm>
            <a:off x="640080" y="5349240"/>
            <a:ext cx="2521458"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  Overview</a:t>
            </a:r>
            <a:endParaRPr lang="en-US" sz="1600" dirty="0"/>
          </a:p>
        </p:txBody>
      </p:sp>
      <p:sp>
        <p:nvSpPr>
          <p:cNvPr id="7" name="Shape 5"/>
          <p:cNvSpPr/>
          <p:nvPr/>
        </p:nvSpPr>
        <p:spPr>
          <a:xfrm>
            <a:off x="3435858" y="5349240"/>
            <a:ext cx="2521458" cy="640080"/>
          </a:xfrm>
          <a:prstGeom prst="rect">
            <a:avLst/>
          </a:prstGeom>
          <a:solidFill>
            <a:srgbClr val="1A1D23"/>
          </a:solidFill>
          <a:ln w="15875">
            <a:solidFill>
              <a:srgbClr val="5F6670"/>
            </a:solidFill>
            <a:prstDash val="solid"/>
          </a:ln>
        </p:spPr>
      </p:sp>
      <p:sp>
        <p:nvSpPr>
          <p:cNvPr id="8" name="Text 6"/>
          <p:cNvSpPr txBox="1"/>
          <p:nvPr/>
        </p:nvSpPr>
        <p:spPr>
          <a:xfrm>
            <a:off x="3435858" y="5349240"/>
            <a:ext cx="2521458" cy="640080"/>
          </a:xfrm>
          <a:prstGeom prst="rect">
            <a:avLst/>
          </a:prstGeom>
          <a:noFill/>
          <a:ln/>
        </p:spPr>
        <p:txBody>
          <a:bodyPr wrap="square" lIns="0" tIns="0" rIns="0" bIns="0" rtlCol="0" anchor="ctr"/>
          <a:lstStyle/>
          <a:p>
            <a:pPr algn="ctr" indent="0" marL="0">
              <a:buNone/>
            </a:pPr>
            <a:r>
              <a:rPr lang="en-US" sz="1600" dirty="0">
                <a:solidFill>
                  <a:srgbClr val="A3A9B1"/>
                </a:solidFill>
                <a:latin typeface="Arial" pitchFamily="34" charset="0"/>
                <a:ea typeface="Arial" pitchFamily="34" charset="-122"/>
                <a:cs typeface="Arial" pitchFamily="34" charset="-120"/>
              </a:rPr>
              <a:t>2  Architecture</a:t>
            </a:r>
            <a:endParaRPr lang="en-US" sz="1600" dirty="0"/>
          </a:p>
        </p:txBody>
      </p:sp>
      <p:sp>
        <p:nvSpPr>
          <p:cNvPr id="9" name="Shape 7"/>
          <p:cNvSpPr/>
          <p:nvPr/>
        </p:nvSpPr>
        <p:spPr>
          <a:xfrm>
            <a:off x="6231636" y="5349240"/>
            <a:ext cx="2521458" cy="640080"/>
          </a:xfrm>
          <a:prstGeom prst="rect">
            <a:avLst/>
          </a:prstGeom>
          <a:solidFill>
            <a:srgbClr val="1A1D23"/>
          </a:solidFill>
          <a:ln w="15875">
            <a:solidFill>
              <a:srgbClr val="5F6670"/>
            </a:solidFill>
            <a:prstDash val="solid"/>
          </a:ln>
        </p:spPr>
      </p:sp>
      <p:sp>
        <p:nvSpPr>
          <p:cNvPr id="10" name="Text 8"/>
          <p:cNvSpPr txBox="1"/>
          <p:nvPr/>
        </p:nvSpPr>
        <p:spPr>
          <a:xfrm>
            <a:off x="6231636" y="5349240"/>
            <a:ext cx="2521458" cy="640080"/>
          </a:xfrm>
          <a:prstGeom prst="rect">
            <a:avLst/>
          </a:prstGeom>
          <a:noFill/>
          <a:ln/>
        </p:spPr>
        <p:txBody>
          <a:bodyPr wrap="square" lIns="0" tIns="0" rIns="0" bIns="0" rtlCol="0" anchor="ctr"/>
          <a:lstStyle/>
          <a:p>
            <a:pPr algn="ctr" indent="0" marL="0">
              <a:buNone/>
            </a:pPr>
            <a:r>
              <a:rPr lang="en-US" sz="1600" dirty="0">
                <a:solidFill>
                  <a:srgbClr val="A3A9B1"/>
                </a:solidFill>
                <a:latin typeface="Arial" pitchFamily="34" charset="0"/>
                <a:ea typeface="Arial" pitchFamily="34" charset="-122"/>
                <a:cs typeface="Arial" pitchFamily="34" charset="-120"/>
              </a:rPr>
              <a:t>3  Scale</a:t>
            </a:r>
            <a:endParaRPr lang="en-US" sz="1600" dirty="0"/>
          </a:p>
        </p:txBody>
      </p:sp>
      <p:sp>
        <p:nvSpPr>
          <p:cNvPr id="11" name="Shape 9"/>
          <p:cNvSpPr/>
          <p:nvPr/>
        </p:nvSpPr>
        <p:spPr>
          <a:xfrm>
            <a:off x="9027414" y="5349240"/>
            <a:ext cx="2521458" cy="640080"/>
          </a:xfrm>
          <a:prstGeom prst="rect">
            <a:avLst/>
          </a:prstGeom>
          <a:solidFill>
            <a:srgbClr val="1A1D23"/>
          </a:solidFill>
          <a:ln w="15875">
            <a:solidFill>
              <a:srgbClr val="5F6670"/>
            </a:solidFill>
            <a:prstDash val="solid"/>
          </a:ln>
        </p:spPr>
      </p:sp>
      <p:sp>
        <p:nvSpPr>
          <p:cNvPr id="12" name="Text 10"/>
          <p:cNvSpPr txBox="1"/>
          <p:nvPr/>
        </p:nvSpPr>
        <p:spPr>
          <a:xfrm>
            <a:off x="9027414" y="5349240"/>
            <a:ext cx="2521458" cy="640080"/>
          </a:xfrm>
          <a:prstGeom prst="rect">
            <a:avLst/>
          </a:prstGeom>
          <a:noFill/>
          <a:ln/>
        </p:spPr>
        <p:txBody>
          <a:bodyPr wrap="square" lIns="0" tIns="0" rIns="0" bIns="0" rtlCol="0" anchor="ctr"/>
          <a:lstStyle/>
          <a:p>
            <a:pPr algn="ctr" indent="0" marL="0">
              <a:buNone/>
            </a:pPr>
            <a:r>
              <a:rPr lang="en-US" sz="1600" dirty="0">
                <a:solidFill>
                  <a:srgbClr val="A3A9B1"/>
                </a:solidFill>
                <a:latin typeface="Arial" pitchFamily="34" charset="0"/>
                <a:ea typeface="Arial" pitchFamily="34" charset="-122"/>
                <a:cs typeface="Arial" pitchFamily="34" charset="-120"/>
              </a:rPr>
              <a:t>4  Delivery</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t"/>
          <a:lstStyle/>
          <a:p>
            <a:pPr indent="0" marL="0">
              <a:buNone/>
            </a:pPr>
            <a:r>
              <a:rPr lang="en-US" sz="1300" b="1" spc="200" kern="0" dirty="0">
                <a:solidFill>
                  <a:srgbClr val="C8102E"/>
                </a:solidFill>
                <a:latin typeface="Arial" pitchFamily="34" charset="0"/>
                <a:ea typeface="Arial" pitchFamily="34" charset="-122"/>
                <a:cs typeface="Arial" pitchFamily="34" charset="-120"/>
              </a:rPr>
              <a:t>OVERVIEW · THE PROBLEM</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200" b="1" dirty="0">
                <a:solidFill>
                  <a:srgbClr val="1A1D23"/>
                </a:solidFill>
                <a:latin typeface="Arial" pitchFamily="34" charset="0"/>
                <a:ea typeface="Arial" pitchFamily="34" charset="-122"/>
                <a:cs typeface="Arial" pitchFamily="34" charset="-120"/>
              </a:rPr>
              <a:t>One chat window is not enough</a:t>
            </a:r>
            <a:endParaRPr lang="en-US" sz="3200" dirty="0"/>
          </a:p>
        </p:txBody>
      </p:sp>
      <p:pic>
        <p:nvPicPr>
          <p:cNvPr id="4" name="Image 0" descr="/Users/rufus/lumen-next/.claude/worktrees/ass-platform/docs/platform/slides/out/problem.gif">    </p:cNvPr>
          <p:cNvPicPr>
            <a:picLocks noChangeAspect="1"/>
          </p:cNvPicPr>
          <p:nvPr/>
        </p:nvPicPr>
        <p:blipFill>
          <a:blip r:embed="rId1"/>
          <a:stretch>
            <a:fillRect/>
          </a:stretch>
        </p:blipFill>
        <p:spPr>
          <a:xfrm>
            <a:off x="548640" y="1737360"/>
            <a:ext cx="11091672" cy="4572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t"/>
          <a:lstStyle/>
          <a:p>
            <a:pPr indent="0" marL="0">
              <a:buNone/>
            </a:pPr>
            <a:r>
              <a:rPr lang="en-US" sz="1300" b="1" spc="200" kern="0" dirty="0">
                <a:solidFill>
                  <a:srgbClr val="C8102E"/>
                </a:solidFill>
                <a:latin typeface="Arial" pitchFamily="34" charset="0"/>
                <a:ea typeface="Arial" pitchFamily="34" charset="-122"/>
                <a:cs typeface="Arial" pitchFamily="34" charset="-120"/>
              </a:rPr>
              <a:t>OVERVIEW · WHAT LUMEN DOES</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200" b="1" dirty="0">
                <a:solidFill>
                  <a:srgbClr val="1A1D23"/>
                </a:solidFill>
                <a:latin typeface="Arial" pitchFamily="34" charset="0"/>
                <a:ea typeface="Arial" pitchFamily="34" charset="-122"/>
                <a:cs typeface="Arial" pitchFamily="34" charset="-120"/>
              </a:rPr>
              <a:t>A team of agents for each question</a:t>
            </a:r>
            <a:endParaRPr lang="en-US" sz="3200" dirty="0"/>
          </a:p>
        </p:txBody>
      </p:sp>
      <p:pic>
        <p:nvPicPr>
          <p:cNvPr id="4" name="Image 0" descr="/Users/rufus/lumen-next/.claude/worktrees/ass-platform/docs/platform/slides/out/tree.gif">    </p:cNvPr>
          <p:cNvPicPr>
            <a:picLocks noChangeAspect="1"/>
          </p:cNvPicPr>
          <p:nvPr/>
        </p:nvPicPr>
        <p:blipFill>
          <a:blip r:embed="rId1"/>
          <a:stretch>
            <a:fillRect/>
          </a:stretch>
        </p:blipFill>
        <p:spPr>
          <a:xfrm>
            <a:off x="548640" y="1737360"/>
            <a:ext cx="11091672" cy="4572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t"/>
          <a:lstStyle/>
          <a:p>
            <a:pPr indent="0" marL="0">
              <a:buNone/>
            </a:pPr>
            <a:r>
              <a:rPr lang="en-US" sz="1300" b="1" spc="200" kern="0" dirty="0">
                <a:solidFill>
                  <a:srgbClr val="C8102E"/>
                </a:solidFill>
                <a:latin typeface="Arial" pitchFamily="34" charset="0"/>
                <a:ea typeface="Arial" pitchFamily="34" charset="-122"/>
                <a:cs typeface="Arial" pitchFamily="34" charset="-120"/>
              </a:rPr>
              <a:t>OVERVIEW · THE PLATFORM</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200" b="1" dirty="0">
                <a:solidFill>
                  <a:srgbClr val="1A1D23"/>
                </a:solidFill>
                <a:latin typeface="Arial" pitchFamily="34" charset="0"/>
                <a:ea typeface="Arial" pitchFamily="34" charset="-122"/>
                <a:cs typeface="Arial" pitchFamily="34" charset="-120"/>
              </a:rPr>
              <a:t>Producers, consumers, one platform</a:t>
            </a:r>
            <a:endParaRPr lang="en-US" sz="3200" dirty="0"/>
          </a:p>
        </p:txBody>
      </p:sp>
      <p:pic>
        <p:nvPicPr>
          <p:cNvPr id="4" name="Image 0" descr="/Users/rufus/lumen-next/.claude/worktrees/ass-platform/docs/platform/slides/out/platform.gif">    </p:cNvPr>
          <p:cNvPicPr>
            <a:picLocks noChangeAspect="1"/>
          </p:cNvPicPr>
          <p:nvPr/>
        </p:nvPicPr>
        <p:blipFill>
          <a:blip r:embed="rId1"/>
          <a:stretch>
            <a:fillRect/>
          </a:stretch>
        </p:blipFill>
        <p:spPr>
          <a:xfrm>
            <a:off x="548640" y="1737360"/>
            <a:ext cx="11091672" cy="4572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t"/>
          <a:lstStyle/>
          <a:p>
            <a:pPr indent="0" marL="0">
              <a:buNone/>
            </a:pPr>
            <a:r>
              <a:rPr lang="en-US" sz="1300" b="1" spc="200" kern="0" dirty="0">
                <a:solidFill>
                  <a:srgbClr val="C8102E"/>
                </a:solidFill>
                <a:latin typeface="Arial" pitchFamily="34" charset="0"/>
                <a:ea typeface="Arial" pitchFamily="34" charset="-122"/>
                <a:cs typeface="Arial" pitchFamily="34" charset="-120"/>
              </a:rPr>
              <a:t>OVERVIEW · PROJECT CONDUCT</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200" b="1" dirty="0">
                <a:solidFill>
                  <a:srgbClr val="1A1D23"/>
                </a:solidFill>
                <a:latin typeface="Arial" pitchFamily="34" charset="0"/>
                <a:ea typeface="Arial" pitchFamily="34" charset="-122"/>
                <a:cs typeface="Arial" pitchFamily="34" charset="-120"/>
              </a:rPr>
              <a:t>Five people, one part each</a:t>
            </a:r>
            <a:endParaRPr lang="en-US" sz="3200" dirty="0"/>
          </a:p>
        </p:txBody>
      </p:sp>
      <p:sp>
        <p:nvSpPr>
          <p:cNvPr id="4" name="Shape 2"/>
          <p:cNvSpPr/>
          <p:nvPr/>
        </p:nvSpPr>
        <p:spPr>
          <a:xfrm>
            <a:off x="548640" y="1783080"/>
            <a:ext cx="3108960" cy="685800"/>
          </a:xfrm>
          <a:prstGeom prst="rect">
            <a:avLst/>
          </a:prstGeom>
          <a:solidFill>
            <a:srgbClr val="1A1D23"/>
          </a:solidFill>
          <a:ln w="15875">
            <a:solidFill>
              <a:srgbClr val="1A1D23"/>
            </a:solidFill>
            <a:prstDash val="solid"/>
          </a:ln>
        </p:spPr>
      </p:sp>
      <p:sp>
        <p:nvSpPr>
          <p:cNvPr id="5" name="Text 3"/>
          <p:cNvSpPr txBox="1"/>
          <p:nvPr/>
        </p:nvSpPr>
        <p:spPr>
          <a:xfrm>
            <a:off x="548640" y="1783080"/>
            <a:ext cx="3108960" cy="68580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Liu Ziyang</a:t>
            </a:r>
            <a:endParaRPr lang="en-US" sz="1800" dirty="0"/>
          </a:p>
        </p:txBody>
      </p:sp>
      <p:sp>
        <p:nvSpPr>
          <p:cNvPr id="6" name="Text 4"/>
          <p:cNvSpPr txBox="1"/>
          <p:nvPr/>
        </p:nvSpPr>
        <p:spPr>
          <a:xfrm>
            <a:off x="3931920" y="1783080"/>
            <a:ext cx="7680960" cy="685800"/>
          </a:xfrm>
          <a:prstGeom prst="rect">
            <a:avLst/>
          </a:prstGeom>
          <a:noFill/>
          <a:ln/>
        </p:spPr>
        <p:txBody>
          <a:bodyPr wrap="square" lIns="0" tIns="0" rIns="0" bIns="0" rtlCol="0" anchor="ctr"/>
          <a:lstStyle/>
          <a:p>
            <a:pPr indent="0" marL="0">
              <a:buNone/>
            </a:pPr>
            <a:r>
              <a:rPr lang="en-US" sz="1800" dirty="0">
                <a:solidFill>
                  <a:srgbClr val="1A1D23"/>
                </a:solidFill>
                <a:latin typeface="Arial" pitchFamily="34" charset="0"/>
                <a:ea typeface="Arial" pitchFamily="34" charset="-122"/>
                <a:cs typeface="Arial" pitchFamily="34" charset="-120"/>
              </a:rPr>
              <a:t>session service, the queue protocol, integration</a:t>
            </a:r>
            <a:endParaRPr lang="en-US" sz="1800" dirty="0"/>
          </a:p>
        </p:txBody>
      </p:sp>
      <p:sp>
        <p:nvSpPr>
          <p:cNvPr id="7" name="Shape 5"/>
          <p:cNvSpPr/>
          <p:nvPr/>
        </p:nvSpPr>
        <p:spPr>
          <a:xfrm>
            <a:off x="548640" y="2651760"/>
            <a:ext cx="3108960" cy="685800"/>
          </a:xfrm>
          <a:prstGeom prst="rect">
            <a:avLst/>
          </a:prstGeom>
          <a:solidFill>
            <a:srgbClr val="1A1D23"/>
          </a:solidFill>
          <a:ln w="15875">
            <a:solidFill>
              <a:srgbClr val="1A1D23"/>
            </a:solidFill>
            <a:prstDash val="solid"/>
          </a:ln>
        </p:spPr>
      </p:sp>
      <p:sp>
        <p:nvSpPr>
          <p:cNvPr id="8" name="Text 6"/>
          <p:cNvSpPr txBox="1"/>
          <p:nvPr/>
        </p:nvSpPr>
        <p:spPr>
          <a:xfrm>
            <a:off x="548640" y="2651760"/>
            <a:ext cx="3108960" cy="68580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Li Zhuoyang</a:t>
            </a:r>
            <a:endParaRPr lang="en-US" sz="1800" dirty="0"/>
          </a:p>
        </p:txBody>
      </p:sp>
      <p:sp>
        <p:nvSpPr>
          <p:cNvPr id="9" name="Text 7"/>
          <p:cNvSpPr txBox="1"/>
          <p:nvPr/>
        </p:nvSpPr>
        <p:spPr>
          <a:xfrm>
            <a:off x="3931920" y="2651760"/>
            <a:ext cx="7680960" cy="685800"/>
          </a:xfrm>
          <a:prstGeom prst="rect">
            <a:avLst/>
          </a:prstGeom>
          <a:noFill/>
          <a:ln/>
        </p:spPr>
        <p:txBody>
          <a:bodyPr wrap="square" lIns="0" tIns="0" rIns="0" bIns="0" rtlCol="0" anchor="ctr"/>
          <a:lstStyle/>
          <a:p>
            <a:pPr indent="0" marL="0">
              <a:buNone/>
            </a:pPr>
            <a:r>
              <a:rPr lang="en-US" sz="1800" dirty="0">
                <a:solidFill>
                  <a:srgbClr val="1A1D23"/>
                </a:solidFill>
                <a:latin typeface="Arial" pitchFamily="34" charset="0"/>
                <a:ea typeface="Arial" pitchFamily="34" charset="-122"/>
                <a:cs typeface="Arial" pitchFamily="34" charset="-120"/>
              </a:rPr>
              <a:t>workers</a:t>
            </a:r>
            <a:endParaRPr lang="en-US" sz="1800" dirty="0"/>
          </a:p>
        </p:txBody>
      </p:sp>
      <p:sp>
        <p:nvSpPr>
          <p:cNvPr id="10" name="Shape 8"/>
          <p:cNvSpPr/>
          <p:nvPr/>
        </p:nvSpPr>
        <p:spPr>
          <a:xfrm>
            <a:off x="548640" y="3520440"/>
            <a:ext cx="3108960" cy="685800"/>
          </a:xfrm>
          <a:prstGeom prst="rect">
            <a:avLst/>
          </a:prstGeom>
          <a:solidFill>
            <a:srgbClr val="1A1D23"/>
          </a:solidFill>
          <a:ln w="15875">
            <a:solidFill>
              <a:srgbClr val="1A1D23"/>
            </a:solidFill>
            <a:prstDash val="solid"/>
          </a:ln>
        </p:spPr>
      </p:sp>
      <p:sp>
        <p:nvSpPr>
          <p:cNvPr id="11" name="Text 9"/>
          <p:cNvSpPr txBox="1"/>
          <p:nvPr/>
        </p:nvSpPr>
        <p:spPr>
          <a:xfrm>
            <a:off x="548640" y="3520440"/>
            <a:ext cx="3108960" cy="68580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Lu Yi</a:t>
            </a:r>
            <a:endParaRPr lang="en-US" sz="1800" dirty="0"/>
          </a:p>
        </p:txBody>
      </p:sp>
      <p:sp>
        <p:nvSpPr>
          <p:cNvPr id="12" name="Text 10"/>
          <p:cNvSpPr txBox="1"/>
          <p:nvPr/>
        </p:nvSpPr>
        <p:spPr>
          <a:xfrm>
            <a:off x="3931920" y="3520440"/>
            <a:ext cx="7680960" cy="685800"/>
          </a:xfrm>
          <a:prstGeom prst="rect">
            <a:avLst/>
          </a:prstGeom>
          <a:noFill/>
          <a:ln/>
        </p:spPr>
        <p:txBody>
          <a:bodyPr wrap="square" lIns="0" tIns="0" rIns="0" bIns="0" rtlCol="0" anchor="ctr"/>
          <a:lstStyle/>
          <a:p>
            <a:pPr indent="0" marL="0">
              <a:buNone/>
            </a:pPr>
            <a:r>
              <a:rPr lang="en-US" sz="1800" dirty="0">
                <a:solidFill>
                  <a:srgbClr val="1A1D23"/>
                </a:solidFill>
                <a:latin typeface="Arial" pitchFamily="34" charset="0"/>
                <a:ea typeface="Arial" pitchFamily="34" charset="-122"/>
                <a:cs typeface="Arial" pitchFamily="34" charset="-120"/>
              </a:rPr>
              <a:t>sign-in, API keys, gateway, HTTPS</a:t>
            </a:r>
            <a:endParaRPr lang="en-US" sz="1800" dirty="0"/>
          </a:p>
        </p:txBody>
      </p:sp>
      <p:sp>
        <p:nvSpPr>
          <p:cNvPr id="13" name="Shape 11"/>
          <p:cNvSpPr/>
          <p:nvPr/>
        </p:nvSpPr>
        <p:spPr>
          <a:xfrm>
            <a:off x="548640" y="4389120"/>
            <a:ext cx="3108960" cy="685800"/>
          </a:xfrm>
          <a:prstGeom prst="rect">
            <a:avLst/>
          </a:prstGeom>
          <a:solidFill>
            <a:srgbClr val="1A1D23"/>
          </a:solidFill>
          <a:ln w="15875">
            <a:solidFill>
              <a:srgbClr val="1A1D23"/>
            </a:solidFill>
            <a:prstDash val="solid"/>
          </a:ln>
        </p:spPr>
      </p:sp>
      <p:sp>
        <p:nvSpPr>
          <p:cNvPr id="14" name="Text 12"/>
          <p:cNvSpPr txBox="1"/>
          <p:nvPr/>
        </p:nvSpPr>
        <p:spPr>
          <a:xfrm>
            <a:off x="548640" y="4389120"/>
            <a:ext cx="3108960" cy="68580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Peng Xujian</a:t>
            </a:r>
            <a:endParaRPr lang="en-US" sz="1800" dirty="0"/>
          </a:p>
        </p:txBody>
      </p:sp>
      <p:sp>
        <p:nvSpPr>
          <p:cNvPr id="15" name="Text 13"/>
          <p:cNvSpPr txBox="1"/>
          <p:nvPr/>
        </p:nvSpPr>
        <p:spPr>
          <a:xfrm>
            <a:off x="3931920" y="4389120"/>
            <a:ext cx="7680960" cy="685800"/>
          </a:xfrm>
          <a:prstGeom prst="rect">
            <a:avLst/>
          </a:prstGeom>
          <a:noFill/>
          <a:ln/>
        </p:spPr>
        <p:txBody>
          <a:bodyPr wrap="square" lIns="0" tIns="0" rIns="0" bIns="0" rtlCol="0" anchor="ctr"/>
          <a:lstStyle/>
          <a:p>
            <a:pPr indent="0" marL="0">
              <a:buNone/>
            </a:pPr>
            <a:r>
              <a:rPr lang="en-US" sz="1800" dirty="0">
                <a:solidFill>
                  <a:srgbClr val="1A1D23"/>
                </a:solidFill>
                <a:latin typeface="Arial" pitchFamily="34" charset="0"/>
                <a:ea typeface="Arial" pitchFamily="34" charset="-122"/>
                <a:cs typeface="Arial" pitchFamily="34" charset="-120"/>
              </a:rPr>
              <a:t>projects, agent registry, second app, load test</a:t>
            </a:r>
            <a:endParaRPr lang="en-US" sz="1800" dirty="0"/>
          </a:p>
        </p:txBody>
      </p:sp>
      <p:sp>
        <p:nvSpPr>
          <p:cNvPr id="16" name="Shape 14"/>
          <p:cNvSpPr/>
          <p:nvPr/>
        </p:nvSpPr>
        <p:spPr>
          <a:xfrm>
            <a:off x="548640" y="5257800"/>
            <a:ext cx="3108960" cy="685800"/>
          </a:xfrm>
          <a:prstGeom prst="rect">
            <a:avLst/>
          </a:prstGeom>
          <a:solidFill>
            <a:srgbClr val="1A1D23"/>
          </a:solidFill>
          <a:ln w="15875">
            <a:solidFill>
              <a:srgbClr val="1A1D23"/>
            </a:solidFill>
            <a:prstDash val="solid"/>
          </a:ln>
        </p:spPr>
      </p:sp>
      <p:sp>
        <p:nvSpPr>
          <p:cNvPr id="17" name="Text 15"/>
          <p:cNvSpPr txBox="1"/>
          <p:nvPr/>
        </p:nvSpPr>
        <p:spPr>
          <a:xfrm>
            <a:off x="548640" y="5257800"/>
            <a:ext cx="3108960" cy="68580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He Rong</a:t>
            </a:r>
            <a:endParaRPr lang="en-US" sz="1800" dirty="0"/>
          </a:p>
        </p:txBody>
      </p:sp>
      <p:sp>
        <p:nvSpPr>
          <p:cNvPr id="18" name="Text 16"/>
          <p:cNvSpPr txBox="1"/>
          <p:nvPr/>
        </p:nvSpPr>
        <p:spPr>
          <a:xfrm>
            <a:off x="3931920" y="5257800"/>
            <a:ext cx="7680960" cy="685800"/>
          </a:xfrm>
          <a:prstGeom prst="rect">
            <a:avLst/>
          </a:prstGeom>
          <a:noFill/>
          <a:ln/>
        </p:spPr>
        <p:txBody>
          <a:bodyPr wrap="square" lIns="0" tIns="0" rIns="0" bIns="0" rtlCol="0" anchor="ctr"/>
          <a:lstStyle/>
          <a:p>
            <a:pPr indent="0" marL="0">
              <a:buNone/>
            </a:pPr>
            <a:r>
              <a:rPr lang="en-US" sz="1800" dirty="0">
                <a:solidFill>
                  <a:srgbClr val="1A1D23"/>
                </a:solidFill>
                <a:latin typeface="Arial" pitchFamily="34" charset="0"/>
                <a:ea typeface="Arial" pitchFamily="34" charset="-122"/>
                <a:cs typeface="Arial" pitchFamily="34" charset="-120"/>
              </a:rPr>
              <a:t>billing, Kubernetes, the pipeline</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1D23"/>
        </a:solidFill>
      </p:bgPr>
    </p:bg>
    <p:spTree>
      <p:nvGrpSpPr>
        <p:cNvPr id="1" name=""/>
        <p:cNvGrpSpPr/>
        <p:nvPr/>
      </p:nvGrpSpPr>
      <p:grpSpPr>
        <a:xfrm>
          <a:off x="0" y="0"/>
          <a:ext cx="0" cy="0"/>
          <a:chOff x="0" y="0"/>
          <a:chExt cx="0" cy="0"/>
        </a:xfrm>
      </p:grpSpPr>
      <p:sp>
        <p:nvSpPr>
          <p:cNvPr id="2" name="Text 0"/>
          <p:cNvSpPr txBox="1"/>
          <p:nvPr/>
        </p:nvSpPr>
        <p:spPr>
          <a:xfrm>
            <a:off x="731520" y="1828800"/>
            <a:ext cx="10058400" cy="411480"/>
          </a:xfrm>
          <a:prstGeom prst="rect">
            <a:avLst/>
          </a:prstGeom>
          <a:noFill/>
          <a:ln/>
        </p:spPr>
        <p:txBody>
          <a:bodyPr wrap="square" lIns="0" tIns="0" rIns="0" bIns="0" rtlCol="0" anchor="t"/>
          <a:lstStyle/>
          <a:p>
            <a:pPr indent="0" marL="0">
              <a:buNone/>
            </a:pPr>
            <a:r>
              <a:rPr lang="en-US" sz="2000" b="1" spc="300" kern="0" dirty="0">
                <a:solidFill>
                  <a:srgbClr val="C8102E"/>
                </a:solidFill>
                <a:latin typeface="Arial" pitchFamily="34" charset="0"/>
                <a:ea typeface="Arial" pitchFamily="34" charset="-122"/>
                <a:cs typeface="Arial" pitchFamily="34" charset="-120"/>
              </a:rPr>
              <a:t>PART 2 OF 4</a:t>
            </a:r>
            <a:endParaRPr lang="en-US" sz="2000" dirty="0"/>
          </a:p>
        </p:txBody>
      </p:sp>
      <p:sp>
        <p:nvSpPr>
          <p:cNvPr id="3" name="Text 1"/>
          <p:cNvSpPr txBox="1"/>
          <p:nvPr/>
        </p:nvSpPr>
        <p:spPr>
          <a:xfrm>
            <a:off x="731520" y="2331720"/>
            <a:ext cx="10698480" cy="109728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Architecture</a:t>
            </a:r>
            <a:endParaRPr lang="en-US" sz="5400" dirty="0"/>
          </a:p>
        </p:txBody>
      </p:sp>
      <p:sp>
        <p:nvSpPr>
          <p:cNvPr id="4" name="Text 2"/>
          <p:cNvSpPr txBox="1"/>
          <p:nvPr/>
        </p:nvSpPr>
        <p:spPr>
          <a:xfrm>
            <a:off x="731520" y="3520440"/>
            <a:ext cx="10698480" cy="457200"/>
          </a:xfrm>
          <a:prstGeom prst="rect">
            <a:avLst/>
          </a:prstGeom>
          <a:noFill/>
          <a:ln/>
        </p:spPr>
        <p:txBody>
          <a:bodyPr wrap="square" lIns="0" tIns="0" rIns="0" bIns="0" rtlCol="0" anchor="t"/>
          <a:lstStyle/>
          <a:p>
            <a:pPr indent="0" marL="0">
              <a:buNone/>
            </a:pPr>
            <a:r>
              <a:rPr lang="en-US" sz="2200" dirty="0">
                <a:solidFill>
                  <a:srgbClr val="A3A9B1"/>
                </a:solidFill>
                <a:latin typeface="Arial" pitchFamily="34" charset="0"/>
                <a:ea typeface="Arial" pitchFamily="34" charset="-122"/>
                <a:cs typeface="Arial" pitchFamily="34" charset="-120"/>
              </a:rPr>
              <a:t>How it is built, and where it runs</a:t>
            </a:r>
            <a:endParaRPr lang="en-US" sz="2200" dirty="0"/>
          </a:p>
        </p:txBody>
      </p:sp>
      <p:sp>
        <p:nvSpPr>
          <p:cNvPr id="5" name="Shape 3"/>
          <p:cNvSpPr/>
          <p:nvPr/>
        </p:nvSpPr>
        <p:spPr>
          <a:xfrm>
            <a:off x="640080" y="5349240"/>
            <a:ext cx="2521458" cy="640080"/>
          </a:xfrm>
          <a:prstGeom prst="rect">
            <a:avLst/>
          </a:prstGeom>
          <a:solidFill>
            <a:srgbClr val="1A1D23"/>
          </a:solidFill>
          <a:ln w="15875">
            <a:solidFill>
              <a:srgbClr val="5F6670"/>
            </a:solidFill>
            <a:prstDash val="solid"/>
          </a:ln>
        </p:spPr>
      </p:sp>
      <p:sp>
        <p:nvSpPr>
          <p:cNvPr id="6" name="Text 4"/>
          <p:cNvSpPr txBox="1"/>
          <p:nvPr/>
        </p:nvSpPr>
        <p:spPr>
          <a:xfrm>
            <a:off x="640080" y="5349240"/>
            <a:ext cx="2521458" cy="640080"/>
          </a:xfrm>
          <a:prstGeom prst="rect">
            <a:avLst/>
          </a:prstGeom>
          <a:noFill/>
          <a:ln/>
        </p:spPr>
        <p:txBody>
          <a:bodyPr wrap="square" lIns="0" tIns="0" rIns="0" bIns="0" rtlCol="0" anchor="ctr"/>
          <a:lstStyle/>
          <a:p>
            <a:pPr algn="ctr" indent="0" marL="0">
              <a:buNone/>
            </a:pPr>
            <a:r>
              <a:rPr lang="en-US" sz="1600" dirty="0">
                <a:solidFill>
                  <a:srgbClr val="A3A9B1"/>
                </a:solidFill>
                <a:latin typeface="Arial" pitchFamily="34" charset="0"/>
                <a:ea typeface="Arial" pitchFamily="34" charset="-122"/>
                <a:cs typeface="Arial" pitchFamily="34" charset="-120"/>
              </a:rPr>
              <a:t>1  Overview</a:t>
            </a:r>
            <a:endParaRPr lang="en-US" sz="1600" dirty="0"/>
          </a:p>
        </p:txBody>
      </p:sp>
      <p:sp>
        <p:nvSpPr>
          <p:cNvPr id="7" name="Shape 5"/>
          <p:cNvSpPr/>
          <p:nvPr/>
        </p:nvSpPr>
        <p:spPr>
          <a:xfrm>
            <a:off x="3435858" y="5349240"/>
            <a:ext cx="2521458" cy="640080"/>
          </a:xfrm>
          <a:prstGeom prst="rect">
            <a:avLst/>
          </a:prstGeom>
          <a:solidFill>
            <a:srgbClr val="C8102E"/>
          </a:solidFill>
          <a:ln w="15875">
            <a:solidFill>
              <a:srgbClr val="C8102E"/>
            </a:solidFill>
            <a:prstDash val="solid"/>
          </a:ln>
        </p:spPr>
      </p:sp>
      <p:sp>
        <p:nvSpPr>
          <p:cNvPr id="8" name="Text 6"/>
          <p:cNvSpPr txBox="1"/>
          <p:nvPr/>
        </p:nvSpPr>
        <p:spPr>
          <a:xfrm>
            <a:off x="3435858" y="5349240"/>
            <a:ext cx="2521458"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  Architecture</a:t>
            </a:r>
            <a:endParaRPr lang="en-US" sz="1600" dirty="0"/>
          </a:p>
        </p:txBody>
      </p:sp>
      <p:sp>
        <p:nvSpPr>
          <p:cNvPr id="9" name="Shape 7"/>
          <p:cNvSpPr/>
          <p:nvPr/>
        </p:nvSpPr>
        <p:spPr>
          <a:xfrm>
            <a:off x="6231636" y="5349240"/>
            <a:ext cx="2521458" cy="640080"/>
          </a:xfrm>
          <a:prstGeom prst="rect">
            <a:avLst/>
          </a:prstGeom>
          <a:solidFill>
            <a:srgbClr val="1A1D23"/>
          </a:solidFill>
          <a:ln w="15875">
            <a:solidFill>
              <a:srgbClr val="5F6670"/>
            </a:solidFill>
            <a:prstDash val="solid"/>
          </a:ln>
        </p:spPr>
      </p:sp>
      <p:sp>
        <p:nvSpPr>
          <p:cNvPr id="10" name="Text 8"/>
          <p:cNvSpPr txBox="1"/>
          <p:nvPr/>
        </p:nvSpPr>
        <p:spPr>
          <a:xfrm>
            <a:off x="6231636" y="5349240"/>
            <a:ext cx="2521458" cy="640080"/>
          </a:xfrm>
          <a:prstGeom prst="rect">
            <a:avLst/>
          </a:prstGeom>
          <a:noFill/>
          <a:ln/>
        </p:spPr>
        <p:txBody>
          <a:bodyPr wrap="square" lIns="0" tIns="0" rIns="0" bIns="0" rtlCol="0" anchor="ctr"/>
          <a:lstStyle/>
          <a:p>
            <a:pPr algn="ctr" indent="0" marL="0">
              <a:buNone/>
            </a:pPr>
            <a:r>
              <a:rPr lang="en-US" sz="1600" dirty="0">
                <a:solidFill>
                  <a:srgbClr val="A3A9B1"/>
                </a:solidFill>
                <a:latin typeface="Arial" pitchFamily="34" charset="0"/>
                <a:ea typeface="Arial" pitchFamily="34" charset="-122"/>
                <a:cs typeface="Arial" pitchFamily="34" charset="-120"/>
              </a:rPr>
              <a:t>3  Scale</a:t>
            </a:r>
            <a:endParaRPr lang="en-US" sz="1600" dirty="0"/>
          </a:p>
        </p:txBody>
      </p:sp>
      <p:sp>
        <p:nvSpPr>
          <p:cNvPr id="11" name="Shape 9"/>
          <p:cNvSpPr/>
          <p:nvPr/>
        </p:nvSpPr>
        <p:spPr>
          <a:xfrm>
            <a:off x="9027414" y="5349240"/>
            <a:ext cx="2521458" cy="640080"/>
          </a:xfrm>
          <a:prstGeom prst="rect">
            <a:avLst/>
          </a:prstGeom>
          <a:solidFill>
            <a:srgbClr val="1A1D23"/>
          </a:solidFill>
          <a:ln w="15875">
            <a:solidFill>
              <a:srgbClr val="5F6670"/>
            </a:solidFill>
            <a:prstDash val="solid"/>
          </a:ln>
        </p:spPr>
      </p:sp>
      <p:sp>
        <p:nvSpPr>
          <p:cNvPr id="12" name="Text 10"/>
          <p:cNvSpPr txBox="1"/>
          <p:nvPr/>
        </p:nvSpPr>
        <p:spPr>
          <a:xfrm>
            <a:off x="9027414" y="5349240"/>
            <a:ext cx="2521458" cy="640080"/>
          </a:xfrm>
          <a:prstGeom prst="rect">
            <a:avLst/>
          </a:prstGeom>
          <a:noFill/>
          <a:ln/>
        </p:spPr>
        <p:txBody>
          <a:bodyPr wrap="square" lIns="0" tIns="0" rIns="0" bIns="0" rtlCol="0" anchor="ctr"/>
          <a:lstStyle/>
          <a:p>
            <a:pPr algn="ctr" indent="0" marL="0">
              <a:buNone/>
            </a:pPr>
            <a:r>
              <a:rPr lang="en-US" sz="1600" dirty="0">
                <a:solidFill>
                  <a:srgbClr val="A3A9B1"/>
                </a:solidFill>
                <a:latin typeface="Arial" pitchFamily="34" charset="0"/>
                <a:ea typeface="Arial" pitchFamily="34" charset="-122"/>
                <a:cs typeface="Arial" pitchFamily="34" charset="-120"/>
              </a:rPr>
              <a:t>4  Delivery</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t"/>
          <a:lstStyle/>
          <a:p>
            <a:pPr indent="0" marL="0">
              <a:buNone/>
            </a:pPr>
            <a:r>
              <a:rPr lang="en-US" sz="1300" b="1" spc="200" kern="0" dirty="0">
                <a:solidFill>
                  <a:srgbClr val="C8102E"/>
                </a:solidFill>
                <a:latin typeface="Arial" pitchFamily="34" charset="0"/>
                <a:ea typeface="Arial" pitchFamily="34" charset="-122"/>
                <a:cs typeface="Arial" pitchFamily="34" charset="-120"/>
              </a:rPr>
              <a:t>ARCHITECTURE · SERVICES</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200" b="1" dirty="0">
                <a:solidFill>
                  <a:srgbClr val="1A1D23"/>
                </a:solidFill>
                <a:latin typeface="Arial" pitchFamily="34" charset="0"/>
                <a:ea typeface="Arial" pitchFamily="34" charset="-122"/>
                <a:cs typeface="Arial" pitchFamily="34" charset="-120"/>
              </a:rPr>
              <a:t>Five services, one queue of work</a:t>
            </a:r>
            <a:endParaRPr lang="en-US" sz="3200" dirty="0"/>
          </a:p>
        </p:txBody>
      </p:sp>
      <p:pic>
        <p:nvPicPr>
          <p:cNvPr id="4" name="Image 0" descr="/Users/rufus/lumen-next/.claude/worktrees/ass-platform/docs/platform/slides/out/services.gif">    </p:cNvPr>
          <p:cNvPicPr>
            <a:picLocks noChangeAspect="1"/>
          </p:cNvPicPr>
          <p:nvPr/>
        </p:nvPicPr>
        <p:blipFill>
          <a:blip r:embed="rId1"/>
          <a:stretch>
            <a:fillRect/>
          </a:stretch>
        </p:blipFill>
        <p:spPr>
          <a:xfrm>
            <a:off x="548640" y="1737360"/>
            <a:ext cx="11091672" cy="4572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t"/>
          <a:lstStyle/>
          <a:p>
            <a:pPr indent="0" marL="0">
              <a:buNone/>
            </a:pPr>
            <a:r>
              <a:rPr lang="en-US" sz="1300" b="1" spc="200" kern="0" dirty="0">
                <a:solidFill>
                  <a:srgbClr val="C8102E"/>
                </a:solidFill>
                <a:latin typeface="Arial" pitchFamily="34" charset="0"/>
                <a:ea typeface="Arial" pitchFamily="34" charset="-122"/>
                <a:cs typeface="Arial" pitchFamily="34" charset="-120"/>
              </a:rPr>
              <a:t>ARCHITECTURE · ONE DECISION</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200" b="1" dirty="0">
                <a:solidFill>
                  <a:srgbClr val="1A1D23"/>
                </a:solidFill>
                <a:latin typeface="Arial" pitchFamily="34" charset="0"/>
                <a:ea typeface="Arial" pitchFamily="34" charset="-122"/>
                <a:cs typeface="Arial" pitchFamily="34" charset="-120"/>
              </a:rPr>
              <a:t>One queue per level of the tree</a:t>
            </a:r>
            <a:endParaRPr lang="en-US" sz="3200" dirty="0"/>
          </a:p>
        </p:txBody>
      </p:sp>
      <p:pic>
        <p:nvPicPr>
          <p:cNvPr id="4" name="Image 0" descr="/Users/rufus/lumen-next/.claude/worktrees/ass-platform/docs/platform/slides/out/depth.gif">    </p:cNvPr>
          <p:cNvPicPr>
            <a:picLocks noChangeAspect="1"/>
          </p:cNvPicPr>
          <p:nvPr/>
        </p:nvPicPr>
        <p:blipFill>
          <a:blip r:embed="rId1"/>
          <a:stretch>
            <a:fillRect/>
          </a:stretch>
        </p:blipFill>
        <p:spPr>
          <a:xfrm>
            <a:off x="548640" y="1737360"/>
            <a:ext cx="11091672" cy="4572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t"/>
          <a:lstStyle/>
          <a:p>
            <a:pPr indent="0" marL="0">
              <a:buNone/>
            </a:pPr>
            <a:r>
              <a:rPr lang="en-US" sz="1300" b="1" spc="200" kern="0" dirty="0">
                <a:solidFill>
                  <a:srgbClr val="C8102E"/>
                </a:solidFill>
                <a:latin typeface="Arial" pitchFamily="34" charset="0"/>
                <a:ea typeface="Arial" pitchFamily="34" charset="-122"/>
                <a:cs typeface="Arial" pitchFamily="34" charset="-120"/>
              </a:rPr>
              <a:t>ARCHITECTURE · WHERE IT RUNS</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200" b="1" dirty="0">
                <a:solidFill>
                  <a:srgbClr val="1A1D23"/>
                </a:solidFill>
                <a:latin typeface="Arial" pitchFamily="34" charset="0"/>
                <a:ea typeface="Arial" pitchFamily="34" charset="-122"/>
                <a:cs typeface="Arial" pitchFamily="34" charset="-120"/>
              </a:rPr>
              <a:t>One public server on AWS</a:t>
            </a:r>
            <a:endParaRPr lang="en-US" sz="3200" dirty="0"/>
          </a:p>
        </p:txBody>
      </p:sp>
      <p:pic>
        <p:nvPicPr>
          <p:cNvPr id="4" name="Image 0" descr="/Users/rufus/lumen-next/.claude/worktrees/ass-platform/docs/platform/slides/out/hosting.gif">    </p:cNvPr>
          <p:cNvPicPr>
            <a:picLocks noChangeAspect="1"/>
          </p:cNvPicPr>
          <p:nvPr/>
        </p:nvPicPr>
        <p:blipFill>
          <a:blip r:embed="rId1"/>
          <a:stretch>
            <a:fillRect/>
          </a:stretch>
        </p:blipFill>
        <p:spPr>
          <a:xfrm>
            <a:off x="548640" y="1737360"/>
            <a:ext cx="11091672" cy="4572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t"/>
          <a:lstStyle/>
          <a:p>
            <a:pPr indent="0" marL="0">
              <a:buNone/>
            </a:pPr>
            <a:r>
              <a:rPr lang="en-US" sz="1300" b="1" spc="200" kern="0" dirty="0">
                <a:solidFill>
                  <a:srgbClr val="C8102E"/>
                </a:solidFill>
                <a:latin typeface="Arial" pitchFamily="34" charset="0"/>
                <a:ea typeface="Arial" pitchFamily="34" charset="-122"/>
                <a:cs typeface="Arial" pitchFamily="34" charset="-120"/>
              </a:rPr>
              <a:t>ARCHITECTURE · SECURITY</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200" b="1" dirty="0">
                <a:solidFill>
                  <a:srgbClr val="1A1D23"/>
                </a:solidFill>
                <a:latin typeface="Arial" pitchFamily="34" charset="0"/>
                <a:ea typeface="Arial" pitchFamily="34" charset="-122"/>
                <a:cs typeface="Arial" pitchFamily="34" charset="-120"/>
              </a:rPr>
              <a:t>What an API key may do</a:t>
            </a:r>
            <a:endParaRPr lang="en-US" sz="3200" dirty="0"/>
          </a:p>
        </p:txBody>
      </p:sp>
      <p:pic>
        <p:nvPicPr>
          <p:cNvPr id="4" name="Image 0" descr="/Users/rufus/lumen-next/.claude/worktrees/ass-platform/docs/platform/slides/out/keys.gif">    </p:cNvPr>
          <p:cNvPicPr>
            <a:picLocks noChangeAspect="1"/>
          </p:cNvPicPr>
          <p:nvPr/>
        </p:nvPicPr>
        <p:blipFill>
          <a:blip r:embed="rId1"/>
          <a:stretch>
            <a:fillRect/>
          </a:stretch>
        </p:blipFill>
        <p:spPr>
          <a:xfrm>
            <a:off x="548640" y="1737360"/>
            <a:ext cx="11091672" cy="4572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1D23"/>
        </a:solidFill>
      </p:bgPr>
    </p:bg>
    <p:spTree>
      <p:nvGrpSpPr>
        <p:cNvPr id="1" name=""/>
        <p:cNvGrpSpPr/>
        <p:nvPr/>
      </p:nvGrpSpPr>
      <p:grpSpPr>
        <a:xfrm>
          <a:off x="0" y="0"/>
          <a:ext cx="0" cy="0"/>
          <a:chOff x="0" y="0"/>
          <a:chExt cx="0" cy="0"/>
        </a:xfrm>
      </p:grpSpPr>
      <p:sp>
        <p:nvSpPr>
          <p:cNvPr id="2" name="Text 0"/>
          <p:cNvSpPr txBox="1"/>
          <p:nvPr/>
        </p:nvSpPr>
        <p:spPr>
          <a:xfrm>
            <a:off x="731520" y="1828800"/>
            <a:ext cx="10058400" cy="411480"/>
          </a:xfrm>
          <a:prstGeom prst="rect">
            <a:avLst/>
          </a:prstGeom>
          <a:noFill/>
          <a:ln/>
        </p:spPr>
        <p:txBody>
          <a:bodyPr wrap="square" lIns="0" tIns="0" rIns="0" bIns="0" rtlCol="0" anchor="t"/>
          <a:lstStyle/>
          <a:p>
            <a:pPr indent="0" marL="0">
              <a:buNone/>
            </a:pPr>
            <a:r>
              <a:rPr lang="en-US" sz="2000" b="1" spc="300" kern="0" dirty="0">
                <a:solidFill>
                  <a:srgbClr val="C8102E"/>
                </a:solidFill>
                <a:latin typeface="Arial" pitchFamily="34" charset="0"/>
                <a:ea typeface="Arial" pitchFamily="34" charset="-122"/>
                <a:cs typeface="Arial" pitchFamily="34" charset="-120"/>
              </a:rPr>
              <a:t>PART 3 OF 4</a:t>
            </a:r>
            <a:endParaRPr lang="en-US" sz="2000" dirty="0"/>
          </a:p>
        </p:txBody>
      </p:sp>
      <p:sp>
        <p:nvSpPr>
          <p:cNvPr id="3" name="Text 1"/>
          <p:cNvSpPr txBox="1"/>
          <p:nvPr/>
        </p:nvSpPr>
        <p:spPr>
          <a:xfrm>
            <a:off x="731520" y="2331720"/>
            <a:ext cx="10698480" cy="109728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Scale</a:t>
            </a:r>
            <a:endParaRPr lang="en-US" sz="5400" dirty="0"/>
          </a:p>
        </p:txBody>
      </p:sp>
      <p:sp>
        <p:nvSpPr>
          <p:cNvPr id="4" name="Text 2"/>
          <p:cNvSpPr txBox="1"/>
          <p:nvPr/>
        </p:nvSpPr>
        <p:spPr>
          <a:xfrm>
            <a:off x="731520" y="3520440"/>
            <a:ext cx="10698480" cy="457200"/>
          </a:xfrm>
          <a:prstGeom prst="rect">
            <a:avLst/>
          </a:prstGeom>
          <a:noFill/>
          <a:ln/>
        </p:spPr>
        <p:txBody>
          <a:bodyPr wrap="square" lIns="0" tIns="0" rIns="0" bIns="0" rtlCol="0" anchor="t"/>
          <a:lstStyle/>
          <a:p>
            <a:pPr indent="0" marL="0">
              <a:buNone/>
            </a:pPr>
            <a:r>
              <a:rPr lang="en-US" sz="2200" dirty="0">
                <a:solidFill>
                  <a:srgbClr val="A3A9B1"/>
                </a:solidFill>
                <a:latin typeface="Arial" pitchFamily="34" charset="0"/>
                <a:ea typeface="Arial" pitchFamily="34" charset="-122"/>
                <a:cs typeface="Arial" pitchFamily="34" charset="-120"/>
              </a:rPr>
              <a:t>Does it hold up?</a:t>
            </a:r>
            <a:endParaRPr lang="en-US" sz="2200" dirty="0"/>
          </a:p>
        </p:txBody>
      </p:sp>
      <p:sp>
        <p:nvSpPr>
          <p:cNvPr id="5" name="Shape 3"/>
          <p:cNvSpPr/>
          <p:nvPr/>
        </p:nvSpPr>
        <p:spPr>
          <a:xfrm>
            <a:off x="640080" y="5349240"/>
            <a:ext cx="2521458" cy="640080"/>
          </a:xfrm>
          <a:prstGeom prst="rect">
            <a:avLst/>
          </a:prstGeom>
          <a:solidFill>
            <a:srgbClr val="1A1D23"/>
          </a:solidFill>
          <a:ln w="15875">
            <a:solidFill>
              <a:srgbClr val="5F6670"/>
            </a:solidFill>
            <a:prstDash val="solid"/>
          </a:ln>
        </p:spPr>
      </p:sp>
      <p:sp>
        <p:nvSpPr>
          <p:cNvPr id="6" name="Text 4"/>
          <p:cNvSpPr txBox="1"/>
          <p:nvPr/>
        </p:nvSpPr>
        <p:spPr>
          <a:xfrm>
            <a:off x="640080" y="5349240"/>
            <a:ext cx="2521458" cy="640080"/>
          </a:xfrm>
          <a:prstGeom prst="rect">
            <a:avLst/>
          </a:prstGeom>
          <a:noFill/>
          <a:ln/>
        </p:spPr>
        <p:txBody>
          <a:bodyPr wrap="square" lIns="0" tIns="0" rIns="0" bIns="0" rtlCol="0" anchor="ctr"/>
          <a:lstStyle/>
          <a:p>
            <a:pPr algn="ctr" indent="0" marL="0">
              <a:buNone/>
            </a:pPr>
            <a:r>
              <a:rPr lang="en-US" sz="1600" dirty="0">
                <a:solidFill>
                  <a:srgbClr val="A3A9B1"/>
                </a:solidFill>
                <a:latin typeface="Arial" pitchFamily="34" charset="0"/>
                <a:ea typeface="Arial" pitchFamily="34" charset="-122"/>
                <a:cs typeface="Arial" pitchFamily="34" charset="-120"/>
              </a:rPr>
              <a:t>1  Overview</a:t>
            </a:r>
            <a:endParaRPr lang="en-US" sz="1600" dirty="0"/>
          </a:p>
        </p:txBody>
      </p:sp>
      <p:sp>
        <p:nvSpPr>
          <p:cNvPr id="7" name="Shape 5"/>
          <p:cNvSpPr/>
          <p:nvPr/>
        </p:nvSpPr>
        <p:spPr>
          <a:xfrm>
            <a:off x="3435858" y="5349240"/>
            <a:ext cx="2521458" cy="640080"/>
          </a:xfrm>
          <a:prstGeom prst="rect">
            <a:avLst/>
          </a:prstGeom>
          <a:solidFill>
            <a:srgbClr val="1A1D23"/>
          </a:solidFill>
          <a:ln w="15875">
            <a:solidFill>
              <a:srgbClr val="5F6670"/>
            </a:solidFill>
            <a:prstDash val="solid"/>
          </a:ln>
        </p:spPr>
      </p:sp>
      <p:sp>
        <p:nvSpPr>
          <p:cNvPr id="8" name="Text 6"/>
          <p:cNvSpPr txBox="1"/>
          <p:nvPr/>
        </p:nvSpPr>
        <p:spPr>
          <a:xfrm>
            <a:off x="3435858" y="5349240"/>
            <a:ext cx="2521458" cy="640080"/>
          </a:xfrm>
          <a:prstGeom prst="rect">
            <a:avLst/>
          </a:prstGeom>
          <a:noFill/>
          <a:ln/>
        </p:spPr>
        <p:txBody>
          <a:bodyPr wrap="square" lIns="0" tIns="0" rIns="0" bIns="0" rtlCol="0" anchor="ctr"/>
          <a:lstStyle/>
          <a:p>
            <a:pPr algn="ctr" indent="0" marL="0">
              <a:buNone/>
            </a:pPr>
            <a:r>
              <a:rPr lang="en-US" sz="1600" dirty="0">
                <a:solidFill>
                  <a:srgbClr val="A3A9B1"/>
                </a:solidFill>
                <a:latin typeface="Arial" pitchFamily="34" charset="0"/>
                <a:ea typeface="Arial" pitchFamily="34" charset="-122"/>
                <a:cs typeface="Arial" pitchFamily="34" charset="-120"/>
              </a:rPr>
              <a:t>2  Architecture</a:t>
            </a:r>
            <a:endParaRPr lang="en-US" sz="1600" dirty="0"/>
          </a:p>
        </p:txBody>
      </p:sp>
      <p:sp>
        <p:nvSpPr>
          <p:cNvPr id="9" name="Shape 7"/>
          <p:cNvSpPr/>
          <p:nvPr/>
        </p:nvSpPr>
        <p:spPr>
          <a:xfrm>
            <a:off x="6231636" y="5349240"/>
            <a:ext cx="2521458" cy="640080"/>
          </a:xfrm>
          <a:prstGeom prst="rect">
            <a:avLst/>
          </a:prstGeom>
          <a:solidFill>
            <a:srgbClr val="C8102E"/>
          </a:solidFill>
          <a:ln w="15875">
            <a:solidFill>
              <a:srgbClr val="C8102E"/>
            </a:solidFill>
            <a:prstDash val="solid"/>
          </a:ln>
        </p:spPr>
      </p:sp>
      <p:sp>
        <p:nvSpPr>
          <p:cNvPr id="10" name="Text 8"/>
          <p:cNvSpPr txBox="1"/>
          <p:nvPr/>
        </p:nvSpPr>
        <p:spPr>
          <a:xfrm>
            <a:off x="6231636" y="5349240"/>
            <a:ext cx="2521458"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  Scale</a:t>
            </a:r>
            <a:endParaRPr lang="en-US" sz="1600" dirty="0"/>
          </a:p>
        </p:txBody>
      </p:sp>
      <p:sp>
        <p:nvSpPr>
          <p:cNvPr id="11" name="Shape 9"/>
          <p:cNvSpPr/>
          <p:nvPr/>
        </p:nvSpPr>
        <p:spPr>
          <a:xfrm>
            <a:off x="9027414" y="5349240"/>
            <a:ext cx="2521458" cy="640080"/>
          </a:xfrm>
          <a:prstGeom prst="rect">
            <a:avLst/>
          </a:prstGeom>
          <a:solidFill>
            <a:srgbClr val="1A1D23"/>
          </a:solidFill>
          <a:ln w="15875">
            <a:solidFill>
              <a:srgbClr val="5F6670"/>
            </a:solidFill>
            <a:prstDash val="solid"/>
          </a:ln>
        </p:spPr>
      </p:sp>
      <p:sp>
        <p:nvSpPr>
          <p:cNvPr id="12" name="Text 10"/>
          <p:cNvSpPr txBox="1"/>
          <p:nvPr/>
        </p:nvSpPr>
        <p:spPr>
          <a:xfrm>
            <a:off x="9027414" y="5349240"/>
            <a:ext cx="2521458" cy="640080"/>
          </a:xfrm>
          <a:prstGeom prst="rect">
            <a:avLst/>
          </a:prstGeom>
          <a:noFill/>
          <a:ln/>
        </p:spPr>
        <p:txBody>
          <a:bodyPr wrap="square" lIns="0" tIns="0" rIns="0" bIns="0" rtlCol="0" anchor="ctr"/>
          <a:lstStyle/>
          <a:p>
            <a:pPr algn="ctr" indent="0" marL="0">
              <a:buNone/>
            </a:pPr>
            <a:r>
              <a:rPr lang="en-US" sz="1600" dirty="0">
                <a:solidFill>
                  <a:srgbClr val="A3A9B1"/>
                </a:solidFill>
                <a:latin typeface="Arial" pitchFamily="34" charset="0"/>
                <a:ea typeface="Arial" pitchFamily="34" charset="-122"/>
                <a:cs typeface="Arial" pitchFamily="34" charset="-120"/>
              </a:rPr>
              <a:t>4  Delivery</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t"/>
          <a:lstStyle/>
          <a:p>
            <a:pPr indent="0" marL="0">
              <a:buNone/>
            </a:pPr>
            <a:r>
              <a:rPr lang="en-US" sz="1300" b="1" spc="200" kern="0" dirty="0">
                <a:solidFill>
                  <a:srgbClr val="C8102E"/>
                </a:solidFill>
                <a:latin typeface="Arial" pitchFamily="34" charset="0"/>
                <a:ea typeface="Arial" pitchFamily="34" charset="-122"/>
                <a:cs typeface="Arial" pitchFamily="34" charset="-120"/>
              </a:rPr>
              <a:t>SCALE · LOAD TEST</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200" b="1" dirty="0">
                <a:solidFill>
                  <a:srgbClr val="1A1D23"/>
                </a:solidFill>
                <a:latin typeface="Arial" pitchFamily="34" charset="0"/>
                <a:ea typeface="Arial" pitchFamily="34" charset="-122"/>
                <a:cs typeface="Arial" pitchFamily="34" charset="-120"/>
              </a:rPr>
              <a:t>Load grows, workers follow</a:t>
            </a:r>
            <a:endParaRPr lang="en-US" sz="3200" dirty="0"/>
          </a:p>
        </p:txBody>
      </p:sp>
      <p:pic>
        <p:nvPicPr>
          <p:cNvPr id="4" name="Image 0" descr="/Users/rufus/lumen-next/.claude/worktrees/ass-platform/docs/platform/slides/out/scale.gif">    </p:cNvPr>
          <p:cNvPicPr>
            <a:picLocks noChangeAspect="1"/>
          </p:cNvPicPr>
          <p:nvPr/>
        </p:nvPicPr>
        <p:blipFill>
          <a:blip r:embed="rId1"/>
          <a:stretch>
            <a:fillRect/>
          </a:stretch>
        </p:blipFill>
        <p:spPr>
          <a:xfrm>
            <a:off x="548640" y="1737360"/>
            <a:ext cx="11091672" cy="4572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t"/>
          <a:lstStyle/>
          <a:p>
            <a:pPr indent="0" marL="0">
              <a:buNone/>
            </a:pPr>
            <a:r>
              <a:rPr lang="en-US" sz="1300" b="1" spc="200" kern="0" dirty="0">
                <a:solidFill>
                  <a:srgbClr val="C8102E"/>
                </a:solidFill>
                <a:latin typeface="Arial" pitchFamily="34" charset="0"/>
                <a:ea typeface="Arial" pitchFamily="34" charset="-122"/>
                <a:cs typeface="Arial" pitchFamily="34" charset="-120"/>
              </a:rPr>
              <a:t>SCALE · FAILURE</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200" b="1" dirty="0">
                <a:solidFill>
                  <a:srgbClr val="1A1D23"/>
                </a:solidFill>
                <a:latin typeface="Arial" pitchFamily="34" charset="0"/>
                <a:ea typeface="Arial" pitchFamily="34" charset="-122"/>
                <a:cs typeface="Arial" pitchFamily="34" charset="-120"/>
              </a:rPr>
              <a:t>A worker dies; the question still ends</a:t>
            </a:r>
            <a:endParaRPr lang="en-US" sz="3200" dirty="0"/>
          </a:p>
        </p:txBody>
      </p:sp>
      <p:pic>
        <p:nvPicPr>
          <p:cNvPr id="4" name="Image 0" descr="/Users/rufus/lumen-next/.claude/worktrees/ass-platform/docs/platform/slides/out/kill.gif">    </p:cNvPr>
          <p:cNvPicPr>
            <a:picLocks noChangeAspect="1"/>
          </p:cNvPicPr>
          <p:nvPr/>
        </p:nvPicPr>
        <p:blipFill>
          <a:blip r:embed="rId1"/>
          <a:stretch>
            <a:fillRect/>
          </a:stretch>
        </p:blipFill>
        <p:spPr>
          <a:xfrm>
            <a:off x="548640" y="1737360"/>
            <a:ext cx="11091672" cy="4572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D23"/>
        </a:solidFill>
      </p:bgPr>
    </p:bg>
    <p:spTree>
      <p:nvGrpSpPr>
        <p:cNvPr id="1" name=""/>
        <p:cNvGrpSpPr/>
        <p:nvPr/>
      </p:nvGrpSpPr>
      <p:grpSpPr>
        <a:xfrm>
          <a:off x="0" y="0"/>
          <a:ext cx="0" cy="0"/>
          <a:chOff x="0" y="0"/>
          <a:chExt cx="0" cy="0"/>
        </a:xfrm>
      </p:grpSpPr>
      <p:sp>
        <p:nvSpPr>
          <p:cNvPr id="2" name="Text 0"/>
          <p:cNvSpPr txBox="1"/>
          <p:nvPr/>
        </p:nvSpPr>
        <p:spPr>
          <a:xfrm>
            <a:off x="731520" y="1828800"/>
            <a:ext cx="10058400" cy="411480"/>
          </a:xfrm>
          <a:prstGeom prst="rect">
            <a:avLst/>
          </a:prstGeom>
          <a:noFill/>
          <a:ln/>
        </p:spPr>
        <p:txBody>
          <a:bodyPr wrap="square" lIns="0" tIns="0" rIns="0" bIns="0" rtlCol="0" anchor="t"/>
          <a:lstStyle/>
          <a:p>
            <a:pPr indent="0" marL="0">
              <a:buNone/>
            </a:pPr>
            <a:r>
              <a:rPr lang="en-US" sz="2000" b="1" spc="300" kern="0" dirty="0">
                <a:solidFill>
                  <a:srgbClr val="C8102E"/>
                </a:solidFill>
                <a:latin typeface="Arial" pitchFamily="34" charset="0"/>
                <a:ea typeface="Arial" pitchFamily="34" charset="-122"/>
                <a:cs typeface="Arial" pitchFamily="34" charset="-120"/>
              </a:rPr>
              <a:t>PART 4 OF 4</a:t>
            </a:r>
            <a:endParaRPr lang="en-US" sz="2000" dirty="0"/>
          </a:p>
        </p:txBody>
      </p:sp>
      <p:sp>
        <p:nvSpPr>
          <p:cNvPr id="3" name="Text 1"/>
          <p:cNvSpPr txBox="1"/>
          <p:nvPr/>
        </p:nvSpPr>
        <p:spPr>
          <a:xfrm>
            <a:off x="731520" y="2331720"/>
            <a:ext cx="10698480" cy="109728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Delivery</a:t>
            </a:r>
            <a:endParaRPr lang="en-US" sz="5400" dirty="0"/>
          </a:p>
        </p:txBody>
      </p:sp>
      <p:sp>
        <p:nvSpPr>
          <p:cNvPr id="4" name="Text 2"/>
          <p:cNvSpPr txBox="1"/>
          <p:nvPr/>
        </p:nvSpPr>
        <p:spPr>
          <a:xfrm>
            <a:off x="731520" y="3520440"/>
            <a:ext cx="10698480" cy="457200"/>
          </a:xfrm>
          <a:prstGeom prst="rect">
            <a:avLst/>
          </a:prstGeom>
          <a:noFill/>
          <a:ln/>
        </p:spPr>
        <p:txBody>
          <a:bodyPr wrap="square" lIns="0" tIns="0" rIns="0" bIns="0" rtlCol="0" anchor="t"/>
          <a:lstStyle/>
          <a:p>
            <a:pPr indent="0" marL="0">
              <a:buNone/>
            </a:pPr>
            <a:r>
              <a:rPr lang="en-US" sz="2200" dirty="0">
                <a:solidFill>
                  <a:srgbClr val="A3A9B1"/>
                </a:solidFill>
                <a:latin typeface="Arial" pitchFamily="34" charset="0"/>
                <a:ea typeface="Arial" pitchFamily="34" charset="-122"/>
                <a:cs typeface="Arial" pitchFamily="34" charset="-120"/>
              </a:rPr>
              <a:t>From a push to a live server</a:t>
            </a:r>
            <a:endParaRPr lang="en-US" sz="2200" dirty="0"/>
          </a:p>
        </p:txBody>
      </p:sp>
      <p:sp>
        <p:nvSpPr>
          <p:cNvPr id="5" name="Shape 3"/>
          <p:cNvSpPr/>
          <p:nvPr/>
        </p:nvSpPr>
        <p:spPr>
          <a:xfrm>
            <a:off x="640080" y="5349240"/>
            <a:ext cx="2521458" cy="640080"/>
          </a:xfrm>
          <a:prstGeom prst="rect">
            <a:avLst/>
          </a:prstGeom>
          <a:solidFill>
            <a:srgbClr val="1A1D23"/>
          </a:solidFill>
          <a:ln w="15875">
            <a:solidFill>
              <a:srgbClr val="5F6670"/>
            </a:solidFill>
            <a:prstDash val="solid"/>
          </a:ln>
        </p:spPr>
      </p:sp>
      <p:sp>
        <p:nvSpPr>
          <p:cNvPr id="6" name="Text 4"/>
          <p:cNvSpPr txBox="1"/>
          <p:nvPr/>
        </p:nvSpPr>
        <p:spPr>
          <a:xfrm>
            <a:off x="640080" y="5349240"/>
            <a:ext cx="2521458" cy="640080"/>
          </a:xfrm>
          <a:prstGeom prst="rect">
            <a:avLst/>
          </a:prstGeom>
          <a:noFill/>
          <a:ln/>
        </p:spPr>
        <p:txBody>
          <a:bodyPr wrap="square" lIns="0" tIns="0" rIns="0" bIns="0" rtlCol="0" anchor="ctr"/>
          <a:lstStyle/>
          <a:p>
            <a:pPr algn="ctr" indent="0" marL="0">
              <a:buNone/>
            </a:pPr>
            <a:r>
              <a:rPr lang="en-US" sz="1600" dirty="0">
                <a:solidFill>
                  <a:srgbClr val="A3A9B1"/>
                </a:solidFill>
                <a:latin typeface="Arial" pitchFamily="34" charset="0"/>
                <a:ea typeface="Arial" pitchFamily="34" charset="-122"/>
                <a:cs typeface="Arial" pitchFamily="34" charset="-120"/>
              </a:rPr>
              <a:t>1  Overview</a:t>
            </a:r>
            <a:endParaRPr lang="en-US" sz="1600" dirty="0"/>
          </a:p>
        </p:txBody>
      </p:sp>
      <p:sp>
        <p:nvSpPr>
          <p:cNvPr id="7" name="Shape 5"/>
          <p:cNvSpPr/>
          <p:nvPr/>
        </p:nvSpPr>
        <p:spPr>
          <a:xfrm>
            <a:off x="3435858" y="5349240"/>
            <a:ext cx="2521458" cy="640080"/>
          </a:xfrm>
          <a:prstGeom prst="rect">
            <a:avLst/>
          </a:prstGeom>
          <a:solidFill>
            <a:srgbClr val="1A1D23"/>
          </a:solidFill>
          <a:ln w="15875">
            <a:solidFill>
              <a:srgbClr val="5F6670"/>
            </a:solidFill>
            <a:prstDash val="solid"/>
          </a:ln>
        </p:spPr>
      </p:sp>
      <p:sp>
        <p:nvSpPr>
          <p:cNvPr id="8" name="Text 6"/>
          <p:cNvSpPr txBox="1"/>
          <p:nvPr/>
        </p:nvSpPr>
        <p:spPr>
          <a:xfrm>
            <a:off x="3435858" y="5349240"/>
            <a:ext cx="2521458" cy="640080"/>
          </a:xfrm>
          <a:prstGeom prst="rect">
            <a:avLst/>
          </a:prstGeom>
          <a:noFill/>
          <a:ln/>
        </p:spPr>
        <p:txBody>
          <a:bodyPr wrap="square" lIns="0" tIns="0" rIns="0" bIns="0" rtlCol="0" anchor="ctr"/>
          <a:lstStyle/>
          <a:p>
            <a:pPr algn="ctr" indent="0" marL="0">
              <a:buNone/>
            </a:pPr>
            <a:r>
              <a:rPr lang="en-US" sz="1600" dirty="0">
                <a:solidFill>
                  <a:srgbClr val="A3A9B1"/>
                </a:solidFill>
                <a:latin typeface="Arial" pitchFamily="34" charset="0"/>
                <a:ea typeface="Arial" pitchFamily="34" charset="-122"/>
                <a:cs typeface="Arial" pitchFamily="34" charset="-120"/>
              </a:rPr>
              <a:t>2  Architecture</a:t>
            </a:r>
            <a:endParaRPr lang="en-US" sz="1600" dirty="0"/>
          </a:p>
        </p:txBody>
      </p:sp>
      <p:sp>
        <p:nvSpPr>
          <p:cNvPr id="9" name="Shape 7"/>
          <p:cNvSpPr/>
          <p:nvPr/>
        </p:nvSpPr>
        <p:spPr>
          <a:xfrm>
            <a:off x="6231636" y="5349240"/>
            <a:ext cx="2521458" cy="640080"/>
          </a:xfrm>
          <a:prstGeom prst="rect">
            <a:avLst/>
          </a:prstGeom>
          <a:solidFill>
            <a:srgbClr val="1A1D23"/>
          </a:solidFill>
          <a:ln w="15875">
            <a:solidFill>
              <a:srgbClr val="5F6670"/>
            </a:solidFill>
            <a:prstDash val="solid"/>
          </a:ln>
        </p:spPr>
      </p:sp>
      <p:sp>
        <p:nvSpPr>
          <p:cNvPr id="10" name="Text 8"/>
          <p:cNvSpPr txBox="1"/>
          <p:nvPr/>
        </p:nvSpPr>
        <p:spPr>
          <a:xfrm>
            <a:off x="6231636" y="5349240"/>
            <a:ext cx="2521458" cy="640080"/>
          </a:xfrm>
          <a:prstGeom prst="rect">
            <a:avLst/>
          </a:prstGeom>
          <a:noFill/>
          <a:ln/>
        </p:spPr>
        <p:txBody>
          <a:bodyPr wrap="square" lIns="0" tIns="0" rIns="0" bIns="0" rtlCol="0" anchor="ctr"/>
          <a:lstStyle/>
          <a:p>
            <a:pPr algn="ctr" indent="0" marL="0">
              <a:buNone/>
            </a:pPr>
            <a:r>
              <a:rPr lang="en-US" sz="1600" dirty="0">
                <a:solidFill>
                  <a:srgbClr val="A3A9B1"/>
                </a:solidFill>
                <a:latin typeface="Arial" pitchFamily="34" charset="0"/>
                <a:ea typeface="Arial" pitchFamily="34" charset="-122"/>
                <a:cs typeface="Arial" pitchFamily="34" charset="-120"/>
              </a:rPr>
              <a:t>3  Scale</a:t>
            </a:r>
            <a:endParaRPr lang="en-US" sz="1600" dirty="0"/>
          </a:p>
        </p:txBody>
      </p:sp>
      <p:sp>
        <p:nvSpPr>
          <p:cNvPr id="11" name="Shape 9"/>
          <p:cNvSpPr/>
          <p:nvPr/>
        </p:nvSpPr>
        <p:spPr>
          <a:xfrm>
            <a:off x="9027414" y="5349240"/>
            <a:ext cx="2521458" cy="640080"/>
          </a:xfrm>
          <a:prstGeom prst="rect">
            <a:avLst/>
          </a:prstGeom>
          <a:solidFill>
            <a:srgbClr val="C8102E"/>
          </a:solidFill>
          <a:ln w="15875">
            <a:solidFill>
              <a:srgbClr val="C8102E"/>
            </a:solidFill>
            <a:prstDash val="solid"/>
          </a:ln>
        </p:spPr>
      </p:sp>
      <p:sp>
        <p:nvSpPr>
          <p:cNvPr id="12" name="Text 10"/>
          <p:cNvSpPr txBox="1"/>
          <p:nvPr/>
        </p:nvSpPr>
        <p:spPr>
          <a:xfrm>
            <a:off x="9027414" y="5349240"/>
            <a:ext cx="2521458"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  Delivery</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t"/>
          <a:lstStyle/>
          <a:p>
            <a:pPr indent="0" marL="0">
              <a:buNone/>
            </a:pPr>
            <a:r>
              <a:rPr lang="en-US" sz="1300" b="1" spc="200" kern="0" dirty="0">
                <a:solidFill>
                  <a:srgbClr val="C8102E"/>
                </a:solidFill>
                <a:latin typeface="Arial" pitchFamily="34" charset="0"/>
                <a:ea typeface="Arial" pitchFamily="34" charset="-122"/>
                <a:cs typeface="Arial" pitchFamily="34" charset="-120"/>
              </a:rPr>
              <a:t>DELIVERY · PIPELINE</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200" b="1" dirty="0">
                <a:solidFill>
                  <a:srgbClr val="1A1D23"/>
                </a:solidFill>
                <a:latin typeface="Arial" pitchFamily="34" charset="0"/>
                <a:ea typeface="Arial" pitchFamily="34" charset="-122"/>
                <a:cs typeface="Arial" pitchFamily="34" charset="-120"/>
              </a:rPr>
              <a:t>Seven checks on every push</a:t>
            </a:r>
            <a:endParaRPr lang="en-US" sz="3200" dirty="0"/>
          </a:p>
        </p:txBody>
      </p:sp>
      <p:pic>
        <p:nvPicPr>
          <p:cNvPr id="4" name="Image 0" descr="/Users/rufus/lumen-next/.claude/worktrees/ass-platform/docs/platform/slides/out/pipeline.gif">    </p:cNvPr>
          <p:cNvPicPr>
            <a:picLocks noChangeAspect="1"/>
          </p:cNvPicPr>
          <p:nvPr/>
        </p:nvPicPr>
        <p:blipFill>
          <a:blip r:embed="rId1"/>
          <a:stretch>
            <a:fillRect/>
          </a:stretch>
        </p:blipFill>
        <p:spPr>
          <a:xfrm>
            <a:off x="548640" y="1737360"/>
            <a:ext cx="11091672" cy="4572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t"/>
          <a:lstStyle/>
          <a:p>
            <a:pPr indent="0" marL="0">
              <a:buNone/>
            </a:pPr>
            <a:r>
              <a:rPr lang="en-US" sz="1300" b="1" spc="200" kern="0" dirty="0">
                <a:solidFill>
                  <a:srgbClr val="C8102E"/>
                </a:solidFill>
                <a:latin typeface="Arial" pitchFamily="34" charset="0"/>
                <a:ea typeface="Arial" pitchFamily="34" charset="-122"/>
                <a:cs typeface="Arial" pitchFamily="34" charset="-120"/>
              </a:rPr>
              <a:t>DELIVERY · LIVE DEMO</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200" b="1" dirty="0">
                <a:solidFill>
                  <a:srgbClr val="1A1D23"/>
                </a:solidFill>
                <a:latin typeface="Arial" pitchFamily="34" charset="0"/>
                <a:ea typeface="Arial" pitchFamily="34" charset="-122"/>
                <a:cs typeface="Arial" pitchFamily="34" charset="-120"/>
              </a:rPr>
              <a:t>Now, on the public server</a:t>
            </a:r>
            <a:endParaRPr lang="en-US" sz="3200" dirty="0"/>
          </a:p>
        </p:txBody>
      </p:sp>
      <p:sp>
        <p:nvSpPr>
          <p:cNvPr id="4" name="Shape 2"/>
          <p:cNvSpPr/>
          <p:nvPr/>
        </p:nvSpPr>
        <p:spPr>
          <a:xfrm>
            <a:off x="548640" y="1691640"/>
            <a:ext cx="11091672" cy="868680"/>
          </a:xfrm>
          <a:prstGeom prst="rect">
            <a:avLst/>
          </a:prstGeom>
          <a:solidFill>
            <a:srgbClr val="F2F3F5"/>
          </a:solidFill>
          <a:ln w="15875">
            <a:solidFill>
              <a:srgbClr val="F2F3F5"/>
            </a:solidFill>
            <a:prstDash val="solid"/>
          </a:ln>
        </p:spPr>
      </p:sp>
      <p:sp>
        <p:nvSpPr>
          <p:cNvPr id="5" name="Text 3"/>
          <p:cNvSpPr txBox="1"/>
          <p:nvPr/>
        </p:nvSpPr>
        <p:spPr>
          <a:xfrm>
            <a:off x="548640" y="1691640"/>
            <a:ext cx="11091672" cy="868680"/>
          </a:xfrm>
          <a:prstGeom prst="rect">
            <a:avLst/>
          </a:prstGeom>
          <a:noFill/>
          <a:ln/>
        </p:spPr>
        <p:txBody>
          <a:bodyPr wrap="square" lIns="0" tIns="0" rIns="0" bIns="0" rtlCol="0" anchor="ctr"/>
          <a:lstStyle/>
          <a:p>
            <a:pPr algn="ctr" indent="0" marL="0">
              <a:buNone/>
            </a:pPr>
            <a:r>
              <a:rPr lang="en-US" sz="3000" b="1" dirty="0">
                <a:solidFill>
                  <a:srgbClr val="C8102E"/>
                </a:solidFill>
                <a:latin typeface="Arial" pitchFamily="34" charset="0"/>
                <a:ea typeface="Arial" pitchFamily="34" charset="-122"/>
                <a:cs typeface="Arial" pitchFamily="34" charset="-120"/>
              </a:rPr>
              <a:t>https://lumen.54-179-112-87.sslip.io</a:t>
            </a:r>
            <a:endParaRPr lang="en-US" sz="3000" dirty="0"/>
          </a:p>
        </p:txBody>
      </p:sp>
      <p:sp>
        <p:nvSpPr>
          <p:cNvPr id="6" name="Shape 4"/>
          <p:cNvSpPr/>
          <p:nvPr/>
        </p:nvSpPr>
        <p:spPr>
          <a:xfrm>
            <a:off x="548640" y="2971800"/>
            <a:ext cx="566928" cy="566928"/>
          </a:xfrm>
          <a:prstGeom prst="rect">
            <a:avLst/>
          </a:prstGeom>
          <a:solidFill>
            <a:srgbClr val="C8102E"/>
          </a:solidFill>
          <a:ln w="15875">
            <a:solidFill>
              <a:srgbClr val="C8102E"/>
            </a:solidFill>
            <a:prstDash val="solid"/>
          </a:ln>
        </p:spPr>
      </p:sp>
      <p:sp>
        <p:nvSpPr>
          <p:cNvPr id="7" name="Text 5"/>
          <p:cNvSpPr txBox="1"/>
          <p:nvPr/>
        </p:nvSpPr>
        <p:spPr>
          <a:xfrm>
            <a:off x="548640" y="297180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8" name="Text 6"/>
          <p:cNvSpPr txBox="1"/>
          <p:nvPr/>
        </p:nvSpPr>
        <p:spPr>
          <a:xfrm>
            <a:off x="1325880" y="2971800"/>
            <a:ext cx="10058400" cy="566928"/>
          </a:xfrm>
          <a:prstGeom prst="rect">
            <a:avLst/>
          </a:prstGeom>
          <a:noFill/>
          <a:ln/>
        </p:spPr>
        <p:txBody>
          <a:bodyPr wrap="square" lIns="0" tIns="0" rIns="0" bIns="0" rtlCol="0" anchor="ctr"/>
          <a:lstStyle/>
          <a:p>
            <a:pPr indent="0" marL="0">
              <a:buNone/>
            </a:pPr>
            <a:r>
              <a:rPr lang="en-US" sz="2400" dirty="0">
                <a:solidFill>
                  <a:srgbClr val="1A1D23"/>
                </a:solidFill>
                <a:latin typeface="Arial" pitchFamily="34" charset="0"/>
                <a:ea typeface="Arial" pitchFamily="34" charset="-122"/>
                <a:cs typeface="Arial" pitchFamily="34" charset="-120"/>
              </a:rPr>
              <a:t>Ask a question in the browser</a:t>
            </a:r>
            <a:endParaRPr lang="en-US" sz="2400" dirty="0"/>
          </a:p>
        </p:txBody>
      </p:sp>
      <p:sp>
        <p:nvSpPr>
          <p:cNvPr id="9" name="Shape 7"/>
          <p:cNvSpPr/>
          <p:nvPr/>
        </p:nvSpPr>
        <p:spPr>
          <a:xfrm>
            <a:off x="548640" y="3749040"/>
            <a:ext cx="566928" cy="566928"/>
          </a:xfrm>
          <a:prstGeom prst="rect">
            <a:avLst/>
          </a:prstGeom>
          <a:solidFill>
            <a:srgbClr val="C8102E"/>
          </a:solidFill>
          <a:ln w="15875">
            <a:solidFill>
              <a:srgbClr val="C8102E"/>
            </a:solidFill>
            <a:prstDash val="solid"/>
          </a:ln>
        </p:spPr>
      </p:sp>
      <p:sp>
        <p:nvSpPr>
          <p:cNvPr id="10" name="Text 8"/>
          <p:cNvSpPr txBox="1"/>
          <p:nvPr/>
        </p:nvSpPr>
        <p:spPr>
          <a:xfrm>
            <a:off x="548640" y="37490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1" name="Text 9"/>
          <p:cNvSpPr txBox="1"/>
          <p:nvPr/>
        </p:nvSpPr>
        <p:spPr>
          <a:xfrm>
            <a:off x="1325880" y="3749040"/>
            <a:ext cx="10058400" cy="566928"/>
          </a:xfrm>
          <a:prstGeom prst="rect">
            <a:avLst/>
          </a:prstGeom>
          <a:noFill/>
          <a:ln/>
        </p:spPr>
        <p:txBody>
          <a:bodyPr wrap="square" lIns="0" tIns="0" rIns="0" bIns="0" rtlCol="0" anchor="ctr"/>
          <a:lstStyle/>
          <a:p>
            <a:pPr indent="0" marL="0">
              <a:buNone/>
            </a:pPr>
            <a:r>
              <a:rPr lang="en-US" sz="2400" dirty="0">
                <a:solidFill>
                  <a:srgbClr val="1A1D23"/>
                </a:solidFill>
                <a:latin typeface="Arial" pitchFamily="34" charset="0"/>
                <a:ea typeface="Arial" pitchFamily="34" charset="-122"/>
                <a:cs typeface="Arial" pitchFamily="34" charset="-120"/>
              </a:rPr>
              <a:t>Watch the tree grow</a:t>
            </a:r>
            <a:endParaRPr lang="en-US" sz="2400" dirty="0"/>
          </a:p>
        </p:txBody>
      </p:sp>
      <p:sp>
        <p:nvSpPr>
          <p:cNvPr id="12" name="Shape 10"/>
          <p:cNvSpPr/>
          <p:nvPr/>
        </p:nvSpPr>
        <p:spPr>
          <a:xfrm>
            <a:off x="548640" y="4526280"/>
            <a:ext cx="566928" cy="566928"/>
          </a:xfrm>
          <a:prstGeom prst="rect">
            <a:avLst/>
          </a:prstGeom>
          <a:solidFill>
            <a:srgbClr val="C8102E"/>
          </a:solidFill>
          <a:ln w="15875">
            <a:solidFill>
              <a:srgbClr val="C8102E"/>
            </a:solidFill>
            <a:prstDash val="solid"/>
          </a:ln>
        </p:spPr>
      </p:sp>
      <p:sp>
        <p:nvSpPr>
          <p:cNvPr id="13" name="Text 11"/>
          <p:cNvSpPr txBox="1"/>
          <p:nvPr/>
        </p:nvSpPr>
        <p:spPr>
          <a:xfrm>
            <a:off x="548640" y="45262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14" name="Text 12"/>
          <p:cNvSpPr txBox="1"/>
          <p:nvPr/>
        </p:nvSpPr>
        <p:spPr>
          <a:xfrm>
            <a:off x="1325880" y="4526280"/>
            <a:ext cx="10058400" cy="566928"/>
          </a:xfrm>
          <a:prstGeom prst="rect">
            <a:avLst/>
          </a:prstGeom>
          <a:noFill/>
          <a:ln/>
        </p:spPr>
        <p:txBody>
          <a:bodyPr wrap="square" lIns="0" tIns="0" rIns="0" bIns="0" rtlCol="0" anchor="ctr"/>
          <a:lstStyle/>
          <a:p>
            <a:pPr indent="0" marL="0">
              <a:buNone/>
            </a:pPr>
            <a:r>
              <a:rPr lang="en-US" sz="2400" dirty="0">
                <a:solidFill>
                  <a:srgbClr val="1A1D23"/>
                </a:solidFill>
                <a:latin typeface="Arial" pitchFamily="34" charset="0"/>
                <a:ea typeface="Arial" pitchFamily="34" charset="-122"/>
                <a:cs typeface="Arial" pitchFamily="34" charset="-120"/>
              </a:rPr>
              <a:t>Load: the workers go from 1 to 4</a:t>
            </a:r>
            <a:endParaRPr lang="en-US" sz="2400" dirty="0"/>
          </a:p>
        </p:txBody>
      </p:sp>
      <p:sp>
        <p:nvSpPr>
          <p:cNvPr id="15" name="Shape 13"/>
          <p:cNvSpPr/>
          <p:nvPr/>
        </p:nvSpPr>
        <p:spPr>
          <a:xfrm>
            <a:off x="548640" y="5303520"/>
            <a:ext cx="566928" cy="566928"/>
          </a:xfrm>
          <a:prstGeom prst="rect">
            <a:avLst/>
          </a:prstGeom>
          <a:solidFill>
            <a:srgbClr val="C8102E"/>
          </a:solidFill>
          <a:ln w="15875">
            <a:solidFill>
              <a:srgbClr val="C8102E"/>
            </a:solidFill>
            <a:prstDash val="solid"/>
          </a:ln>
        </p:spPr>
      </p:sp>
      <p:sp>
        <p:nvSpPr>
          <p:cNvPr id="16" name="Text 14"/>
          <p:cNvSpPr txBox="1"/>
          <p:nvPr/>
        </p:nvSpPr>
        <p:spPr>
          <a:xfrm>
            <a:off x="548640" y="5303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17" name="Text 15"/>
          <p:cNvSpPr txBox="1"/>
          <p:nvPr/>
        </p:nvSpPr>
        <p:spPr>
          <a:xfrm>
            <a:off x="1325880" y="5303520"/>
            <a:ext cx="10058400" cy="566928"/>
          </a:xfrm>
          <a:prstGeom prst="rect">
            <a:avLst/>
          </a:prstGeom>
          <a:noFill/>
          <a:ln/>
        </p:spPr>
        <p:txBody>
          <a:bodyPr wrap="square" lIns="0" tIns="0" rIns="0" bIns="0" rtlCol="0" anchor="ctr"/>
          <a:lstStyle/>
          <a:p>
            <a:pPr indent="0" marL="0">
              <a:buNone/>
            </a:pPr>
            <a:r>
              <a:rPr lang="en-US" sz="2400" dirty="0">
                <a:solidFill>
                  <a:srgbClr val="1A1D23"/>
                </a:solidFill>
                <a:latin typeface="Arial" pitchFamily="34" charset="0"/>
                <a:ea typeface="Arial" pitchFamily="34" charset="-122"/>
                <a:cs typeface="Arial" pitchFamily="34" charset="-120"/>
              </a:rPr>
              <a:t>The second app asks through the API</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t"/>
          <a:lstStyle/>
          <a:p>
            <a:pPr indent="0" marL="0">
              <a:buNone/>
            </a:pPr>
            <a:r>
              <a:rPr lang="en-US" sz="1300" b="1" spc="200" kern="0" dirty="0">
                <a:solidFill>
                  <a:srgbClr val="C8102E"/>
                </a:solidFill>
                <a:latin typeface="Arial" pitchFamily="34" charset="0"/>
                <a:ea typeface="Arial" pitchFamily="34" charset="-122"/>
                <a:cs typeface="Arial" pitchFamily="34" charset="-120"/>
              </a:rPr>
              <a:t>WHAT IS NEXT</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200" b="1" dirty="0">
                <a:solidFill>
                  <a:srgbClr val="1A1D23"/>
                </a:solidFill>
                <a:latin typeface="Arial" pitchFamily="34" charset="0"/>
                <a:ea typeface="Arial" pitchFamily="34" charset="-122"/>
                <a:cs typeface="Arial" pitchFamily="34" charset="-120"/>
              </a:rPr>
              <a:t>Three limits, and what we do next</a:t>
            </a:r>
            <a:endParaRPr lang="en-US" sz="3200" dirty="0"/>
          </a:p>
        </p:txBody>
      </p:sp>
      <p:sp>
        <p:nvSpPr>
          <p:cNvPr id="4" name="Shape 2"/>
          <p:cNvSpPr/>
          <p:nvPr/>
        </p:nvSpPr>
        <p:spPr>
          <a:xfrm>
            <a:off x="548640" y="1874520"/>
            <a:ext cx="5120640" cy="960120"/>
          </a:xfrm>
          <a:prstGeom prst="rect">
            <a:avLst/>
          </a:prstGeom>
          <a:solidFill>
            <a:srgbClr val="F2F3F5"/>
          </a:solidFill>
          <a:ln w="15875">
            <a:solidFill>
              <a:srgbClr val="F2F3F5"/>
            </a:solidFill>
            <a:prstDash val="solid"/>
          </a:ln>
        </p:spPr>
      </p:sp>
      <p:sp>
        <p:nvSpPr>
          <p:cNvPr id="5" name="Text 3"/>
          <p:cNvSpPr txBox="1"/>
          <p:nvPr/>
        </p:nvSpPr>
        <p:spPr>
          <a:xfrm>
            <a:off x="777240" y="1874520"/>
            <a:ext cx="4754880" cy="960120"/>
          </a:xfrm>
          <a:prstGeom prst="rect">
            <a:avLst/>
          </a:prstGeom>
          <a:noFill/>
          <a:ln/>
        </p:spPr>
        <p:txBody>
          <a:bodyPr wrap="square" lIns="0" tIns="0" rIns="0" bIns="0" rtlCol="0" anchor="ctr"/>
          <a:lstStyle/>
          <a:p>
            <a:pPr indent="0" marL="0">
              <a:buNone/>
            </a:pPr>
            <a:r>
              <a:rPr lang="en-US" sz="2000" b="1" dirty="0">
                <a:solidFill>
                  <a:srgbClr val="1A1D23"/>
                </a:solidFill>
                <a:latin typeface="Arial" pitchFamily="34" charset="0"/>
                <a:ea typeface="Arial" pitchFamily="34" charset="-122"/>
                <a:cs typeface="Arial" pitchFamily="34" charset="-120"/>
              </a:rPr>
              <a:t>One copy of the session service</a:t>
            </a:r>
            <a:endParaRPr lang="en-US" sz="2000" dirty="0"/>
          </a:p>
        </p:txBody>
      </p:sp>
      <p:sp>
        <p:nvSpPr>
          <p:cNvPr id="6" name="Text 4"/>
          <p:cNvSpPr txBox="1"/>
          <p:nvPr/>
        </p:nvSpPr>
        <p:spPr>
          <a:xfrm>
            <a:off x="5760720" y="1874520"/>
            <a:ext cx="548640" cy="960120"/>
          </a:xfrm>
          <a:prstGeom prst="rect">
            <a:avLst/>
          </a:prstGeom>
          <a:noFill/>
          <a:ln/>
        </p:spPr>
        <p:txBody>
          <a:bodyPr wrap="square" lIns="0" tIns="0" rIns="0" bIns="0" rtlCol="0" anchor="ctr"/>
          <a:lstStyle/>
          <a:p>
            <a:pPr algn="ctr" indent="0" marL="0">
              <a:buNone/>
            </a:pPr>
            <a:r>
              <a:rPr lang="en-US" sz="2800" b="1" dirty="0">
                <a:solidFill>
                  <a:srgbClr val="C8102E"/>
                </a:solidFill>
                <a:latin typeface="Arial" pitchFamily="34" charset="0"/>
                <a:ea typeface="Arial" pitchFamily="34" charset="-122"/>
                <a:cs typeface="Arial" pitchFamily="34" charset="-120"/>
              </a:rPr>
              <a:t>→</a:t>
            </a:r>
            <a:endParaRPr lang="en-US" sz="2800" dirty="0"/>
          </a:p>
        </p:txBody>
      </p:sp>
      <p:sp>
        <p:nvSpPr>
          <p:cNvPr id="7" name="Shape 5"/>
          <p:cNvSpPr/>
          <p:nvPr/>
        </p:nvSpPr>
        <p:spPr>
          <a:xfrm>
            <a:off x="6400800" y="1874520"/>
            <a:ext cx="5239512" cy="960120"/>
          </a:xfrm>
          <a:prstGeom prst="rect">
            <a:avLst/>
          </a:prstGeom>
          <a:solidFill>
            <a:srgbClr val="FFFFFF"/>
          </a:solidFill>
          <a:ln w="15875">
            <a:solidFill>
              <a:srgbClr val="9AA0A8"/>
            </a:solidFill>
            <a:prstDash val="solid"/>
          </a:ln>
        </p:spPr>
      </p:sp>
      <p:sp>
        <p:nvSpPr>
          <p:cNvPr id="8" name="Text 6"/>
          <p:cNvSpPr txBox="1"/>
          <p:nvPr/>
        </p:nvSpPr>
        <p:spPr>
          <a:xfrm>
            <a:off x="6629400" y="1874520"/>
            <a:ext cx="4846320" cy="960120"/>
          </a:xfrm>
          <a:prstGeom prst="rect">
            <a:avLst/>
          </a:prstGeom>
          <a:noFill/>
          <a:ln/>
        </p:spPr>
        <p:txBody>
          <a:bodyPr wrap="square" lIns="0" tIns="0" rIns="0" bIns="0" rtlCol="0" anchor="ctr"/>
          <a:lstStyle/>
          <a:p>
            <a:pPr indent="0" marL="0">
              <a:buNone/>
            </a:pPr>
            <a:r>
              <a:rPr lang="en-US" sz="2000" dirty="0">
                <a:solidFill>
                  <a:srgbClr val="1A1D23"/>
                </a:solidFill>
                <a:latin typeface="Arial" pitchFamily="34" charset="0"/>
                <a:ea typeface="Arial" pitchFamily="34" charset="-122"/>
                <a:cs typeface="Arial" pitchFamily="34" charset="-120"/>
              </a:rPr>
              <a:t>Keep live work in the database, then run many copies</a:t>
            </a:r>
            <a:endParaRPr lang="en-US" sz="2000" dirty="0"/>
          </a:p>
        </p:txBody>
      </p:sp>
      <p:sp>
        <p:nvSpPr>
          <p:cNvPr id="9" name="Shape 7"/>
          <p:cNvSpPr/>
          <p:nvPr/>
        </p:nvSpPr>
        <p:spPr>
          <a:xfrm>
            <a:off x="548640" y="3200400"/>
            <a:ext cx="5120640" cy="960120"/>
          </a:xfrm>
          <a:prstGeom prst="rect">
            <a:avLst/>
          </a:prstGeom>
          <a:solidFill>
            <a:srgbClr val="F2F3F5"/>
          </a:solidFill>
          <a:ln w="15875">
            <a:solidFill>
              <a:srgbClr val="F2F3F5"/>
            </a:solidFill>
            <a:prstDash val="solid"/>
          </a:ln>
        </p:spPr>
      </p:sp>
      <p:sp>
        <p:nvSpPr>
          <p:cNvPr id="10" name="Text 8"/>
          <p:cNvSpPr txBox="1"/>
          <p:nvPr/>
        </p:nvSpPr>
        <p:spPr>
          <a:xfrm>
            <a:off x="777240" y="3200400"/>
            <a:ext cx="4754880" cy="960120"/>
          </a:xfrm>
          <a:prstGeom prst="rect">
            <a:avLst/>
          </a:prstGeom>
          <a:noFill/>
          <a:ln/>
        </p:spPr>
        <p:txBody>
          <a:bodyPr wrap="square" lIns="0" tIns="0" rIns="0" bIns="0" rtlCol="0" anchor="ctr"/>
          <a:lstStyle/>
          <a:p>
            <a:pPr indent="0" marL="0">
              <a:buNone/>
            </a:pPr>
            <a:r>
              <a:rPr lang="en-US" sz="2000" b="1" dirty="0">
                <a:solidFill>
                  <a:srgbClr val="1A1D23"/>
                </a:solidFill>
                <a:latin typeface="Arial" pitchFamily="34" charset="0"/>
                <a:ea typeface="Arial" pitchFamily="34" charset="-122"/>
                <a:cs typeface="Arial" pitchFamily="34" charset="-120"/>
              </a:rPr>
              <a:t>One database for every service</a:t>
            </a:r>
            <a:endParaRPr lang="en-US" sz="2000" dirty="0"/>
          </a:p>
        </p:txBody>
      </p:sp>
      <p:sp>
        <p:nvSpPr>
          <p:cNvPr id="11" name="Text 9"/>
          <p:cNvSpPr txBox="1"/>
          <p:nvPr/>
        </p:nvSpPr>
        <p:spPr>
          <a:xfrm>
            <a:off x="5760720" y="3200400"/>
            <a:ext cx="548640" cy="960120"/>
          </a:xfrm>
          <a:prstGeom prst="rect">
            <a:avLst/>
          </a:prstGeom>
          <a:noFill/>
          <a:ln/>
        </p:spPr>
        <p:txBody>
          <a:bodyPr wrap="square" lIns="0" tIns="0" rIns="0" bIns="0" rtlCol="0" anchor="ctr"/>
          <a:lstStyle/>
          <a:p>
            <a:pPr algn="ctr" indent="0" marL="0">
              <a:buNone/>
            </a:pPr>
            <a:r>
              <a:rPr lang="en-US" sz="2800" b="1" dirty="0">
                <a:solidFill>
                  <a:srgbClr val="C8102E"/>
                </a:solidFill>
                <a:latin typeface="Arial" pitchFamily="34" charset="0"/>
                <a:ea typeface="Arial" pitchFamily="34" charset="-122"/>
                <a:cs typeface="Arial" pitchFamily="34" charset="-120"/>
              </a:rPr>
              <a:t>→</a:t>
            </a:r>
            <a:endParaRPr lang="en-US" sz="2800" dirty="0"/>
          </a:p>
        </p:txBody>
      </p:sp>
      <p:sp>
        <p:nvSpPr>
          <p:cNvPr id="12" name="Shape 10"/>
          <p:cNvSpPr/>
          <p:nvPr/>
        </p:nvSpPr>
        <p:spPr>
          <a:xfrm>
            <a:off x="6400800" y="3200400"/>
            <a:ext cx="5239512" cy="960120"/>
          </a:xfrm>
          <a:prstGeom prst="rect">
            <a:avLst/>
          </a:prstGeom>
          <a:solidFill>
            <a:srgbClr val="FFFFFF"/>
          </a:solidFill>
          <a:ln w="15875">
            <a:solidFill>
              <a:srgbClr val="9AA0A8"/>
            </a:solidFill>
            <a:prstDash val="solid"/>
          </a:ln>
        </p:spPr>
      </p:sp>
      <p:sp>
        <p:nvSpPr>
          <p:cNvPr id="13" name="Text 11"/>
          <p:cNvSpPr txBox="1"/>
          <p:nvPr/>
        </p:nvSpPr>
        <p:spPr>
          <a:xfrm>
            <a:off x="6629400" y="3200400"/>
            <a:ext cx="4846320" cy="960120"/>
          </a:xfrm>
          <a:prstGeom prst="rect">
            <a:avLst/>
          </a:prstGeom>
          <a:noFill/>
          <a:ln/>
        </p:spPr>
        <p:txBody>
          <a:bodyPr wrap="square" lIns="0" tIns="0" rIns="0" bIns="0" rtlCol="0" anchor="ctr"/>
          <a:lstStyle/>
          <a:p>
            <a:pPr indent="0" marL="0">
              <a:buNone/>
            </a:pPr>
            <a:r>
              <a:rPr lang="en-US" sz="2000" dirty="0">
                <a:solidFill>
                  <a:srgbClr val="1A1D23"/>
                </a:solidFill>
                <a:latin typeface="Arial" pitchFamily="34" charset="0"/>
                <a:ea typeface="Arial" pitchFamily="34" charset="-122"/>
                <a:cs typeface="Arial" pitchFamily="34" charset="-120"/>
              </a:rPr>
              <a:t>One database for each service</a:t>
            </a:r>
            <a:endParaRPr lang="en-US" sz="2000" dirty="0"/>
          </a:p>
        </p:txBody>
      </p:sp>
      <p:sp>
        <p:nvSpPr>
          <p:cNvPr id="14" name="Shape 12"/>
          <p:cNvSpPr/>
          <p:nvPr/>
        </p:nvSpPr>
        <p:spPr>
          <a:xfrm>
            <a:off x="548640" y="4526280"/>
            <a:ext cx="5120640" cy="960120"/>
          </a:xfrm>
          <a:prstGeom prst="rect">
            <a:avLst/>
          </a:prstGeom>
          <a:solidFill>
            <a:srgbClr val="F2F3F5"/>
          </a:solidFill>
          <a:ln w="15875">
            <a:solidFill>
              <a:srgbClr val="F2F3F5"/>
            </a:solidFill>
            <a:prstDash val="solid"/>
          </a:ln>
        </p:spPr>
      </p:sp>
      <p:sp>
        <p:nvSpPr>
          <p:cNvPr id="15" name="Text 13"/>
          <p:cNvSpPr txBox="1"/>
          <p:nvPr/>
        </p:nvSpPr>
        <p:spPr>
          <a:xfrm>
            <a:off x="777240" y="4526280"/>
            <a:ext cx="4754880" cy="960120"/>
          </a:xfrm>
          <a:prstGeom prst="rect">
            <a:avLst/>
          </a:prstGeom>
          <a:noFill/>
          <a:ln/>
        </p:spPr>
        <p:txBody>
          <a:bodyPr wrap="square" lIns="0" tIns="0" rIns="0" bIns="0" rtlCol="0" anchor="ctr"/>
          <a:lstStyle/>
          <a:p>
            <a:pPr indent="0" marL="0">
              <a:buNone/>
            </a:pPr>
            <a:r>
              <a:rPr lang="en-US" sz="2000" b="1" dirty="0">
                <a:solidFill>
                  <a:srgbClr val="1A1D23"/>
                </a:solidFill>
                <a:latin typeface="Arial" pitchFamily="34" charset="0"/>
                <a:ea typeface="Arial" pitchFamily="34" charset="-122"/>
                <a:cs typeface="Arial" pitchFamily="34" charset="-120"/>
              </a:rPr>
              <a:t>A killed worker's jobs run twice</a:t>
            </a:r>
            <a:endParaRPr lang="en-US" sz="2000" dirty="0"/>
          </a:p>
        </p:txBody>
      </p:sp>
      <p:sp>
        <p:nvSpPr>
          <p:cNvPr id="16" name="Text 14"/>
          <p:cNvSpPr txBox="1"/>
          <p:nvPr/>
        </p:nvSpPr>
        <p:spPr>
          <a:xfrm>
            <a:off x="5760720" y="4526280"/>
            <a:ext cx="548640" cy="960120"/>
          </a:xfrm>
          <a:prstGeom prst="rect">
            <a:avLst/>
          </a:prstGeom>
          <a:noFill/>
          <a:ln/>
        </p:spPr>
        <p:txBody>
          <a:bodyPr wrap="square" lIns="0" tIns="0" rIns="0" bIns="0" rtlCol="0" anchor="ctr"/>
          <a:lstStyle/>
          <a:p>
            <a:pPr algn="ctr" indent="0" marL="0">
              <a:buNone/>
            </a:pPr>
            <a:r>
              <a:rPr lang="en-US" sz="2800" b="1" dirty="0">
                <a:solidFill>
                  <a:srgbClr val="C8102E"/>
                </a:solidFill>
                <a:latin typeface="Arial" pitchFamily="34" charset="0"/>
                <a:ea typeface="Arial" pitchFamily="34" charset="-122"/>
                <a:cs typeface="Arial" pitchFamily="34" charset="-120"/>
              </a:rPr>
              <a:t>→</a:t>
            </a:r>
            <a:endParaRPr lang="en-US" sz="2800" dirty="0"/>
          </a:p>
        </p:txBody>
      </p:sp>
      <p:sp>
        <p:nvSpPr>
          <p:cNvPr id="17" name="Shape 15"/>
          <p:cNvSpPr/>
          <p:nvPr/>
        </p:nvSpPr>
        <p:spPr>
          <a:xfrm>
            <a:off x="6400800" y="4526280"/>
            <a:ext cx="5239512" cy="960120"/>
          </a:xfrm>
          <a:prstGeom prst="rect">
            <a:avLst/>
          </a:prstGeom>
          <a:solidFill>
            <a:srgbClr val="FFFFFF"/>
          </a:solidFill>
          <a:ln w="15875">
            <a:solidFill>
              <a:srgbClr val="9AA0A8"/>
            </a:solidFill>
            <a:prstDash val="solid"/>
          </a:ln>
        </p:spPr>
      </p:sp>
      <p:sp>
        <p:nvSpPr>
          <p:cNvPr id="18" name="Text 16"/>
          <p:cNvSpPr txBox="1"/>
          <p:nvPr/>
        </p:nvSpPr>
        <p:spPr>
          <a:xfrm>
            <a:off x="6629400" y="4526280"/>
            <a:ext cx="4846320" cy="960120"/>
          </a:xfrm>
          <a:prstGeom prst="rect">
            <a:avLst/>
          </a:prstGeom>
          <a:noFill/>
          <a:ln/>
        </p:spPr>
        <p:txBody>
          <a:bodyPr wrap="square" lIns="0" tIns="0" rIns="0" bIns="0" rtlCol="0" anchor="ctr"/>
          <a:lstStyle/>
          <a:p>
            <a:pPr indent="0" marL="0">
              <a:buNone/>
            </a:pPr>
            <a:r>
              <a:rPr lang="en-US" sz="2000" dirty="0">
                <a:solidFill>
                  <a:srgbClr val="1A1D23"/>
                </a:solidFill>
                <a:latin typeface="Arial" pitchFamily="34" charset="0"/>
                <a:ea typeface="Arial" pitchFamily="34" charset="-122"/>
                <a:cs typeface="Arial" pitchFamily="34" charset="-120"/>
              </a:rPr>
              <a:t>Make every job safe to repeat</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1D23"/>
        </a:solidFill>
      </p:bgPr>
    </p:bg>
    <p:spTree>
      <p:nvGrpSpPr>
        <p:cNvPr id="1" name=""/>
        <p:cNvGrpSpPr/>
        <p:nvPr/>
      </p:nvGrpSpPr>
      <p:grpSpPr>
        <a:xfrm>
          <a:off x="0" y="0"/>
          <a:ext cx="0" cy="0"/>
          <a:chOff x="0" y="0"/>
          <a:chExt cx="0" cy="0"/>
        </a:xfrm>
      </p:grpSpPr>
      <p:sp>
        <p:nvSpPr>
          <p:cNvPr id="2" name="Text 0"/>
          <p:cNvSpPr txBox="1"/>
          <p:nvPr/>
        </p:nvSpPr>
        <p:spPr>
          <a:xfrm>
            <a:off x="731520" y="2194560"/>
            <a:ext cx="10698480" cy="118872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Thank you</a:t>
            </a:r>
            <a:endParaRPr lang="en-US" sz="6000" dirty="0"/>
          </a:p>
        </p:txBody>
      </p:sp>
      <p:sp>
        <p:nvSpPr>
          <p:cNvPr id="3" name="Text 1"/>
          <p:cNvSpPr txBox="1"/>
          <p:nvPr/>
        </p:nvSpPr>
        <p:spPr>
          <a:xfrm>
            <a:off x="731520" y="3520440"/>
            <a:ext cx="10698480" cy="548640"/>
          </a:xfrm>
          <a:prstGeom prst="rect">
            <a:avLst/>
          </a:prstGeom>
          <a:noFill/>
          <a:ln/>
        </p:spPr>
        <p:txBody>
          <a:bodyPr wrap="square" lIns="0" tIns="0" rIns="0" bIns="0" rtlCol="0" anchor="t"/>
          <a:lstStyle/>
          <a:p>
            <a:pPr indent="0" marL="0">
              <a:buNone/>
            </a:pPr>
            <a:r>
              <a:rPr lang="en-US" sz="2600" dirty="0">
                <a:solidFill>
                  <a:srgbClr val="A3A9B1"/>
                </a:solidFill>
                <a:latin typeface="Arial" pitchFamily="34" charset="0"/>
                <a:ea typeface="Arial" pitchFamily="34" charset="-122"/>
                <a:cs typeface="Arial" pitchFamily="34" charset="-120"/>
              </a:rPr>
              <a:t>https://lumen.54-179-112-87.sslip.io</a:t>
            </a:r>
            <a:endParaRPr lang="en-US" sz="2600" dirty="0"/>
          </a:p>
        </p:txBody>
      </p:sp>
      <p:sp>
        <p:nvSpPr>
          <p:cNvPr id="4" name="Text 2"/>
          <p:cNvSpPr txBox="1"/>
          <p:nvPr/>
        </p:nvSpPr>
        <p:spPr>
          <a:xfrm>
            <a:off x="731520" y="4297680"/>
            <a:ext cx="10698480" cy="548640"/>
          </a:xfrm>
          <a:prstGeom prst="rect">
            <a:avLst/>
          </a:prstGeom>
          <a:noFill/>
          <a:ln/>
        </p:spPr>
        <p:txBody>
          <a:bodyPr wrap="square" lIns="0" tIns="0" rIns="0" bIns="0" rtlCol="0" anchor="t"/>
          <a:lstStyle/>
          <a:p>
            <a:pPr indent="0" marL="0">
              <a:buNone/>
            </a:pPr>
            <a:r>
              <a:rPr lang="en-US" sz="2600" b="1" dirty="0">
                <a:solidFill>
                  <a:srgbClr val="C8102E"/>
                </a:solidFill>
                <a:latin typeface="Arial" pitchFamily="34" charset="0"/>
                <a:ea typeface="Arial" pitchFamily="34" charset="-122"/>
                <a:cs typeface="Arial" pitchFamily="34" charset="-120"/>
              </a:rPr>
              <a:t>Questions?</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Lumen Platform</dc:title>
  <dc:subject>PptxGenJS Presentation</dc:subject>
  <dc:creator>Team 15</dc:creator>
  <cp:lastModifiedBy>Team 15</cp:lastModifiedBy>
  <cp:revision>1</cp:revision>
  <dcterms:created xsi:type="dcterms:W3CDTF">2026-10-21T01:40:54Z</dcterms:created>
  <dcterms:modified xsi:type="dcterms:W3CDTF">2026-10-21T01:40:54Z</dcterms:modified>
</cp:coreProperties>
</file>