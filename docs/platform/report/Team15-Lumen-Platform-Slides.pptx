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07a123d7-41ab-f874-f856-7ad93da08e8c}">
          <p14:sldIdLst>
            <p14:sldId id="256"/>
            <p14:sldId id="257"/>
            <p14:sldId id="258"/>
          </p14:sldIdLst>
        </p14:section>
        <p14:section name="Project Conduct" id="{48a95b86-312c-c16d-c8ae-c4c5de14001d}">
          <p14:sldIdLst>
            <p14:sldId id="259"/>
          </p14:sldIdLst>
        </p14:section>
        <p14:section name="Logical Architecture" id="{df8e3457-6e95-3e46-1048-5fbb6748b948}">
          <p14:sldIdLst>
            <p14:sldId id="260"/>
            <p14:sldId id="261"/>
            <p14:sldId id="262"/>
            <p14:sldId id="263"/>
          </p14:sldIdLst>
        </p14:section>
        <p14:section name="Physical Architecture" id="{c4989651-df77-7376-1a83-7d9efc1f9db9}">
          <p14:sldIdLst>
            <p14:sldId id="264"/>
            <p14:sldId id="265"/>
            <p14:sldId id="266"/>
            <p14:sldId id="267"/>
          </p14:sldIdLst>
        </p14:section>
        <p14:section name="DevOps" id="{16604557-18f1-8e56-8b52-6e8515aea3b0}">
          <p14:sldIdLst>
            <p14:sldId id="268"/>
            <p14:sldId id="269"/>
          </p14:sldIdLst>
        </p14:section>
        <p14:section name="Demo" id="{02699500-c91a-0679-f641-dc39535d927c}">
          <p14:sldIdLst>
            <p14:sldId id="270"/>
            <p14:sldId id="271"/>
            <p14:sldId id="272"/>
            <p14:sldId id="273"/>
            <p14:sldId id="274"/>
            <p14:sldId id="275"/>
            <p14:sldId id="276"/>
            <p14:sldId id="277"/>
            <p14:sldId id="278"/>
            <p14:sldId id="279"/>
            <p14:sldId id="280"/>
          </p14:sldIdLst>
        </p14:section>
        <p14:section name="Closing" id="{72c816d0-8940-5226-bd28-13b6842c1f64}">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2E33"/>
                </a:solidFill>
                <a:latin typeface="Arial"/>
              </a:defRPr>
            </a:pPr>
            <a:r>
              <a:rPr sz="1100" b="0" i="0" u="none" strike="noStrike">
                <a:solidFill>
                  <a:srgbClr val="0B2E33"/>
                </a:solidFill>
                <a:latin typeface="Arial"/>
              </a:rPr>
              <a:t>Recorded run on the public host</a:t>
            </a:r>
          </a:p>
        </c:rich>
      </c:tx>
      <c:layout/>
      <c:overlay val="0"/>
    </c:title>
    <c:autoTitleDeleted val="0"/>
    <c:plotArea>
      <c:layout/>
      <c:barChart>
        <c:barDir val="col"/>
        <c:grouping val="clustered"/>
        <c:varyColors val="0"/>
        <c:ser>
          <c:idx val="0"/>
          <c:order val="0"/>
          <c:tx>
            <c:strRef>
              <c:f>Sheet1!$B$1</c:f>
              <c:strCache>
                <c:ptCount val="1"/>
                <c:pt idx="0">
                  <c:v>Turns waiting (ready, depth 0 + 1)</c:v>
                </c:pt>
              </c:strCache>
            </c:strRef>
          </c:tx>
          <c:spPr>
            <a:solidFill>
              <a:srgbClr val="D5E3E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Sheet1!$A$2:$A$19</c:f>
              <c:multiLvlStrCache>
                <c:ptCount val="18"/>
                <c:lvl>
                  <c:pt idx="0">
                    <c:v>19:13</c:v>
                  </c:pt>
                  <c:pt idx="1">
                    <c:v>19:25</c:v>
                  </c:pt>
                  <c:pt idx="2">
                    <c:v>19:37</c:v>
                  </c:pt>
                  <c:pt idx="3">
                    <c:v>19:48</c:v>
                  </c:pt>
                  <c:pt idx="4">
                    <c:v>20:00</c:v>
                  </c:pt>
                  <c:pt idx="5">
                    <c:v>20:14</c:v>
                  </c:pt>
                  <c:pt idx="6">
                    <c:v>20:26</c:v>
                  </c:pt>
                  <c:pt idx="7">
                    <c:v>20:38</c:v>
                  </c:pt>
                  <c:pt idx="8">
                    <c:v>20:50</c:v>
                  </c:pt>
                  <c:pt idx="9">
                    <c:v>21:02</c:v>
                  </c:pt>
                  <c:pt idx="10">
                    <c:v>21:14</c:v>
                  </c:pt>
                  <c:pt idx="11">
                    <c:v>21:26</c:v>
                  </c:pt>
                  <c:pt idx="12">
                    <c:v>21:38</c:v>
                  </c:pt>
                  <c:pt idx="13">
                    <c:v>21:49</c:v>
                  </c:pt>
                  <c:pt idx="14">
                    <c:v>22:00</c:v>
                  </c:pt>
                  <c:pt idx="15">
                    <c:v>22:13</c:v>
                  </c:pt>
                  <c:pt idx="16">
                    <c:v>22:24</c:v>
                  </c:pt>
                  <c:pt idx="17">
                    <c:v>22:36</c:v>
                  </c:pt>
                </c:lvl>
              </c:multiLvlStrCache>
            </c:multiLvlStrRef>
          </c:cat>
          <c:val>
            <c:numRef>
              <c:f>Sheet1!$B$2:$B$19</c:f>
              <c:numCache>
                <c:formatCode>General</c:formatCode>
                <c:ptCount val="18"/>
                <c:pt idx="0">
                  <c:v>0</c:v>
                </c:pt>
                <c:pt idx="1">
                  <c:v>0</c:v>
                </c:pt>
                <c:pt idx="2">
                  <c:v>5</c:v>
                </c:pt>
                <c:pt idx="3">
                  <c:v>12</c:v>
                </c:pt>
                <c:pt idx="4">
                  <c:v>24</c:v>
                </c:pt>
                <c:pt idx="5">
                  <c:v>27</c:v>
                </c:pt>
                <c:pt idx="6">
                  <c:v>22</c:v>
                </c:pt>
                <c:pt idx="7">
                  <c:v>29</c:v>
                </c:pt>
                <c:pt idx="8">
                  <c:v>26</c:v>
                </c:pt>
                <c:pt idx="9">
                  <c:v>23</c:v>
                </c:pt>
                <c:pt idx="10">
                  <c:v>16</c:v>
                </c:pt>
                <c:pt idx="11">
                  <c:v>0</c:v>
                </c:pt>
                <c:pt idx="12">
                  <c:v>0</c:v>
                </c:pt>
                <c:pt idx="13">
                  <c:v>0</c:v>
                </c:pt>
                <c:pt idx="14">
                  <c:v>0</c:v>
                </c:pt>
                <c:pt idx="15">
                  <c:v>0</c:v>
                </c:pt>
                <c:pt idx="16">
                  <c:v>0</c:v>
                </c:pt>
                <c:pt idx="17">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lineChart>
        <c:varyColors val="0"/>
        <c:ser>
          <c:idx val="1"/>
          <c:order val="1"/>
          <c:tx>
            <c:strRef>
              <c:f>Sheet1!$C$1</c:f>
              <c:strCache>
                <c:ptCount val="1"/>
                <c:pt idx="0">
                  <c:v>Worker pods</c:v>
                </c:pt>
              </c:strCache>
            </c:strRef>
          </c:tx>
          <c:spPr>
            <a:solidFill>
              <a:srgbClr val="1B6F6A"/>
            </a:solidFill>
            <a:ln w="38100" cap="flat">
              <a:solidFill>
                <a:srgbClr val="1B6F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6F6A"/>
              </a:solidFill>
              <a:ln w="9525" cap="flat">
                <a:solidFill>
                  <a:srgbClr val="1B6F6A"/>
                </a:solidFill>
                <a:prstDash val="solid"/>
                <a:round/>
              </a:ln>
              <a:effectLst/>
            </c:spPr>
          </c:marker>
          <c:cat>
            <c:multiLvlStrRef>
              <c:f>Sheet1!$A$2:$A$19</c:f>
              <c:multiLvlStrCache>
                <c:ptCount val="18"/>
                <c:lvl>
                  <c:pt idx="0">
                    <c:v>19:13</c:v>
                  </c:pt>
                  <c:pt idx="1">
                    <c:v>19:25</c:v>
                  </c:pt>
                  <c:pt idx="2">
                    <c:v>19:37</c:v>
                  </c:pt>
                  <c:pt idx="3">
                    <c:v>19:48</c:v>
                  </c:pt>
                  <c:pt idx="4">
                    <c:v>20:00</c:v>
                  </c:pt>
                  <c:pt idx="5">
                    <c:v>20:14</c:v>
                  </c:pt>
                  <c:pt idx="6">
                    <c:v>20:26</c:v>
                  </c:pt>
                  <c:pt idx="7">
                    <c:v>20:38</c:v>
                  </c:pt>
                  <c:pt idx="8">
                    <c:v>20:50</c:v>
                  </c:pt>
                  <c:pt idx="9">
                    <c:v>21:02</c:v>
                  </c:pt>
                  <c:pt idx="10">
                    <c:v>21:14</c:v>
                  </c:pt>
                  <c:pt idx="11">
                    <c:v>21:26</c:v>
                  </c:pt>
                  <c:pt idx="12">
                    <c:v>21:38</c:v>
                  </c:pt>
                  <c:pt idx="13">
                    <c:v>21:49</c:v>
                  </c:pt>
                  <c:pt idx="14">
                    <c:v>22:00</c:v>
                  </c:pt>
                  <c:pt idx="15">
                    <c:v>22:13</c:v>
                  </c:pt>
                  <c:pt idx="16">
                    <c:v>22:24</c:v>
                  </c:pt>
                  <c:pt idx="17">
                    <c:v>22:36</c:v>
                  </c:pt>
                </c:lvl>
              </c:multiLvlStrCache>
            </c:multiLvlStrRef>
          </c:cat>
          <c:val>
            <c:numRef>
              <c:f>Sheet1!$C$2:$C$19</c:f>
              <c:numCache>
                <c:formatCode>General</c:formatCode>
                <c:ptCount val="18"/>
                <c:pt idx="0">
                  <c:v>1</c:v>
                </c:pt>
                <c:pt idx="1">
                  <c:v>1</c:v>
                </c:pt>
                <c:pt idx="2">
                  <c:v>1</c:v>
                </c:pt>
                <c:pt idx="3">
                  <c:v>1</c:v>
                </c:pt>
                <c:pt idx="4">
                  <c:v>2</c:v>
                </c:pt>
                <c:pt idx="5">
                  <c:v>3</c:v>
                </c:pt>
                <c:pt idx="6">
                  <c:v>4</c:v>
                </c:pt>
                <c:pt idx="7">
                  <c:v>4</c:v>
                </c:pt>
                <c:pt idx="8">
                  <c:v>4</c:v>
                </c:pt>
                <c:pt idx="9">
                  <c:v>4</c:v>
                </c:pt>
                <c:pt idx="10">
                  <c:v>4</c:v>
                </c:pt>
                <c:pt idx="11">
                  <c:v>4</c:v>
                </c:pt>
                <c:pt idx="12">
                  <c:v>4</c:v>
                </c:pt>
                <c:pt idx="13">
                  <c:v>4</c:v>
                </c:pt>
                <c:pt idx="14">
                  <c:v>4</c:v>
                </c:pt>
                <c:pt idx="15">
                  <c:v>2</c:v>
                </c:pt>
                <c:pt idx="16">
                  <c:v>1</c:v>
                </c:pt>
                <c:pt idx="17">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title>
          <c:tx>
            <c:rich>
              <a:bodyPr/>
              <a:lstStyle/>
              <a:p>
                <a:pPr>
                  <a:defRPr sz="900" b="0" i="0" u="none" strike="noStrike">
                    <a:solidFill>
                      <a:srgbClr val="000000"/>
                    </a:solidFill>
                    <a:latin typeface="Arial"/>
                  </a:defRPr>
                </a:pPr>
                <a:r>
                  <a:rPr sz="900" b="0" i="0" u="none" strike="noStrike">
                    <a:solidFill>
                      <a:srgbClr val="000000"/>
                    </a:solidFill>
                    <a:latin typeface="Arial"/>
                  </a:rPr>
                  <a:t>UTC, 20 Oct 2026 (14:mm:ss)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B6B6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CEB"/>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Turns waiting</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6D"/>
                </a:solidFill>
                <a:latin typeface="Arial"/>
              </a:defRPr>
            </a:pPr>
            <a:endParaRPr lang="en-US"/>
          </a:p>
        </c:txPr>
        <c:crossAx val="2094734554"/>
        <c:crosses val="autoZero"/>
        <c:crossBetween val="between"/>
      </c:valAx>
      <c:valAx>
        <c:axId val="2094734553"/>
        <c:scaling>
          <c:orientation val="minMax"/>
          <c:max val="4"/>
          <c:min val="0"/>
        </c:scaling>
        <c:delete val="0"/>
        <c:axPos val="r"/>
        <c:title>
          <c:tx>
            <c:rich>
              <a:bodyPr/>
              <a:lstStyle/>
              <a:p>
                <a:pPr>
                  <a:defRPr sz="1000" b="0" i="0" u="none" strike="noStrike">
                    <a:solidFill>
                      <a:srgbClr val="000000"/>
                    </a:solidFill>
                    <a:latin typeface="Arial"/>
                  </a:defRPr>
                </a:pPr>
                <a:r>
                  <a:rPr sz="1000" b="0" i="0" u="none" strike="noStrike">
                    <a:solidFill>
                      <a:srgbClr val="000000"/>
                    </a:solidFill>
                    <a:latin typeface="Arial"/>
                  </a:rPr>
                  <a:t>Worker pods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6D"/>
                </a:solidFill>
                <a:latin typeface="Arial"/>
              </a:defRPr>
            </a:pPr>
            <a:endParaRPr lang="en-US"/>
          </a:p>
        </c:txPr>
        <c:crossAx val="2094734555"/>
        <c:crosses val="max"/>
        <c:crossBetween val="between"/>
        <c:majorUnit val="1"/>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15. Our project is Lumen Platform. Research teams now give work to language-model agents, and each team builds the same parts again. Lumen Platform builds these parts once and lets producers publish agents and consumers ask questions. Everything we show today runs at the public address on this slide. You can open it during the talk. Timing: overview 3 minutes, conduct 2, logical 9, physical 9, DevOps 7, demo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every team that runs agents builds a step record with costs, a spending cap, a sandbox and a live view. Our answer is platform thinking. The seed is the run engine: a question runs as a tree of costed, recorded steps under the account cap. Producers are agent authors: they publish an agent in the registry. Consumers are research teams in the web app, and apps that call the public API with a key. The operator is the team, with staff accounts. Two apps run on the platform: the Lumen web app and the literature watch, which uses only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Six use cases from the proposal. UC1, UC2, UC3, UC5 and UC6 are verified on the public host: an API key published an agent, asked with it, read the answer and the usage, and hit the rate limit with 429 after 21 requests; the literature watch ran end to end. UC4, approval over the cap, is deployed from the billing slice. Out of scope from the proposal: producer payouts, multi-region, training, mobile. Moved to phase 2 during the project: the separate stream and model-gateway services, one database per service, and EKS. The limitations slide at the end gives the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The five services run on the public host with HTTPS and autoscaling. The public API, the registry and the literature watch are verified on the host, and a worker was deleted during a question, gracefully and by force. Pipeline run 39441445313 passed every stage; the run before it was stopped by the image scan. Outstanding: the workers still run in demo mode, so we add a model key with a low spending limit before the presentation; and the progress report. Milestones: proposal v1 on 1 October, v2 and the lecturer review on 6 October, the platform commits on 20 October, this demo on 26 October, the report on 16 November. The proposal estimated 10 person-days per member. [TEAM TO FILL: actual hours per member before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decisions shape the logical view. AD-01: each service is an existing slice with a new entry point, so we spent our time on the calls between processes. AD-02: a turn crosses on a durable RabbitMQ queue; the kernel takes a Worker port and we give it a QueueWorker. AD-03: one queue per task depth. A parent turn keeps its slot while its children run; with one queue, parents can fill every slot. AD-04: only session writes the trace, so a dead worker loses nothing. AD-05: steers go on a fanout. AD-06, in amber, is the main trade-off: one shared database. AD-07: a versioned API with hashed keys and scopes. AD-08: an agent is a set of instructions for the lead, not remote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Traefik routes by path prefix to five services and never routes /internal. Identity, project and billing scale on CPU. Session holds the kernel, the live WebSocket stream and the web app; it has one replica. The worker runs the agent loop and scales on queue length. Session publishes turns by depth and steers on a fanout. Workers report each step back to session over internal HTTP with a shared key. Project and worker reach the running kernel through the session directory; billing resumes approved tasks. All five share one PostgreSQL database; tables are grouped by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slice is a bounded context and each service hosts one or two. The seed is the Session context: the Session aggregate owns the Task tree, and steps are values. Billing owns Wallet, LedgerEntry and Approval. Identity owns Account and ApiKey. The Registry owns Agent and the question intent. Contexts talk through ports, not each other's code: the kernel asks a BudgetGuard that billing implements; the worker loop knows only the WorkerReport port. Domain events: step.appended, finding.recorded, task.cost, task.status waiting, approval granted through an outbox row, turn queued and turn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platform meets producers and consumers. A producer publishes an agent with a slug and instructions. A consumer lists agents and asks a question with a chosen agent. The question writes an intent row first, because the root turn can reach a worker before the project request returns; the worker claims the intent and puts the agent instructions in front of the question. The consumer reads the answer, findings and cost. Producers and the operator read usage. Keys are shown once and stored only as a hash, with scopes and a per-key rate limit. The literature watch shows the benefit of building on the platform: about 210 lines of code for a complete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decisions shape the physical view. AD-09 is the big trade-off: one t3.medium with k3s instead of EKS, for cost and time; the same Helm chart runs on a laptop with k3d and on AWS, and can run on EKS later. AD-10: Traefik, which ships with k3s, is our gateway. AD-11: request load shows in CPU, agent load shows in the queues first, so the worker scales with KEDA. AD-12: no registry; the pipeline copies the image. AD-13: the chart generates the core secrets inside the cluster. AD-14: sslip.io and Let's Encrypt give a real HTTPS address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EC2 t3.medium in Singapore: 2 vCPU, 4 GB plus 2 GB swap, a 20 GB disk, an Elastic IP. The security group opens 80 and 443; SSH is for the deploy key; the Kubernetes API port is closed, so kubectl goes through an SSH tunnel. k3s runs Traefik, cert-manager issues the Let's Encrypt certificate. Five Deployments: identity, project and billing with HPA from 1 to 3; session with 1 replica and the Recreate strategy; worker with KEDA from 1 to 4. PostgreSQL and RabbitMQ are StatefulSets with volumes. GitHub Actions deploys over SSH.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persistent data is in one PostgreSQL 16 database on a 2 GB volume; each slice owns its tables, and the migration prefix shows the owner. Money is numeric and every total is a SUM in SQL. Concurrency uses the database: an approval decision locks its row, the approval delivery is an outbox with a 30-second lease and SKIP LOCKED, and the question intent is claimed the same way. A waiting task keeps its blocked operation in JSONB, so a restart loses nothing. Turns live in RabbitMQ and are acknowledged only after the worker reports done. Project files are on a ReadWriteOnce volume, which works only on one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architecturally representative use case: asking a question with a chosen agent. The key guard resolves the key, checks the rate and the scope. The ask route writes the intent row and creates the project with the same request the web app sends. Session opens the root task, checks the budget, and QueueWorker publishes the turn. A worker takes it, claims the intent, and runs the lead with the agent instructions. Every step goes back to session over internal HTTP; session writes it and streams it. Delegate opens three readers as new turns on the depth-1 queue, so any pod can run them; this fan-out is what makes the worker scale. The report also details a second use case: a step over the cap that waits for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monorepo. main holds the monolith, which another module grades, so it stays green. ass/platform is the integration branch; each member works on one branch and opens one pull request. A slice change goes to main first. The pipeline: on every push, verify, SCA with npm audit and SAST with CodeQL run in parallel. Deploy builds one image tagged with the commit, scans it with Trivy and stops on a critical issue with a fix, copies it to the host, runs helm upgrade with wait, and polls the public health check. Then DAST with the ZAP baseline and a smoke load with k6, only in demo worker mode so a push never pays for model calls. Run 39441445313 passed every stage in 12 and a half minutes: SCA 33 seconds, SAST about 3 minutes, verify 5 minutes, deploy 5 and a half minutes including the image scan, DAST 1 minute 40, smoke load 1 minute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First, a deadlock: a parent keeps its worker slot while its children run, so one queue could fill every slot with waiting parents. One queue per depth fixed it. Second, a race: the root turn can reach a worker before the API call that created it returns, so we write the agent choice first as an intent row. Third, KEDA's default scale-in wait is five minutes; we set one minute. Fourth, the pipeline stopped a vulnerable image: run 39439752963 found 5 critical CVEs, in perl-base and in the docker.io package that the monolith carries for its sandbox. The gate failed the deploy before the image reached the host. The fix was a separate platform image without Docker, with security updates installed at build; the next run passed. Fifth, new JavaScript folders outside every tsconfig broke lint. Sixth, the Trivy action had tags force-pushed with malicious code this year, so we pin it to a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public address in the browser and show the lock. The script prints the certificate subject, issuer and expiry, then the health check. Then show run 39441445313 of the Platform deploy workflow on GitHub: every stage passed, and a merge is a deploy. Note for the audience: the workers run in demo mode until we set a model key, so answers are placeholders that show the input the worker received; the steps, costs, queues and scaling are real. [TEAM: if the model key with a low spending limit is set by then, say so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pods are ready: the five services, PostgreSQL and RabbitMQ. kubectl runs on the host over SSH, because the Kubernetes API is not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demo account signs up, signs out and signs in with the password. All of this is the identity service. The cookie works on every service, because each one resolves it over the shared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 a question. The project service creates the project and asks session to start the session over internal HTTP. The answer comes back at once with the session id; the work runs on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 follows the session and prints each step as it lands. The lead plans, delegates to three readers, and replies. Each step was written by a worker pod and reported to session. In the browser the same steps arrive over the WebSocket.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 one more question and look at the queues at once. There are three queues, one per depth. Messages that are unacknowledged are in a worker's hands. This is decision AD-03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load. k6 runs the short profile in the background: up to 10 virtual users for about two minutes, against workers in demo mode, so no model is called and it costs nothing. Watch the ScaledObject and the pods: KEDA adds workers when a queue holds more than 5 turns. The chart is our recorded run on the public host on 20 October: the workers went from 1 to 4 in about 40 seconds; 135 questions all came to rest; the median time to rest was 6.1 seconds and p95 9.3 seconds; no request failed. If the live run is slow, use this slide as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 another question and delete a worker pod while it holds a turn. The turn was not acknowledged, so RabbitMQ gives it to another worker, and the question still finishes. We tested both cases on the public host. A graceful delete: the pod finished its turns in hand and the question ended with USD 0.03 and 3 findings, the same as an undisturbed question. A hard kill: the unacknowledged turns went back on their queues, the new pod took them, and the question ended 12.6 seconds after it started, but with USD 0.08 and 8 findings, because the redelivered turns ran again from their start. That is limitation AISS-04.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k6 profile ends after about two minutes. The script prints the k6 summary. Once the queues are empty, KEDA scales the workers back to one after the 60-second window. In the recorded run the workers went from 4 to 1 within about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app. The literature watch uses only the public API with a scoped key. It asks with the agent literature-scout, which a producer published, polls for the answer and prints a digest with the cost. On the public host it ran end to end: status ended, USD 0.01, 5 seconds, exit code 0. The step needs LUMEN_API_KEY set; without it the script skips the step. [TEAM: set the key in the shell before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the wallet. Every step was costed and recorded in the ledger, and checked against the account cap. The script ends with one summary line: the number of questions, the peak worker count, the k6 p95 time to rest, and the spend against the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close with what we know is not done, before you point it out. Session has one replica, because the kernel keeps running tasks in memory; the fix is the stream service from the proposal and the task state in the database. All five services share one database; the fix is one schema per service, then one database each. One EC2 node; the same chart moves to EKS with node autoscaling. A redelivered turn runs again from the start; turns must become idempotent. And no network policies or tracing yet. AISS-11, the public API not yet on the host, is closed: it is verified. Before the talk we add a model key with a low spending limit, so the answers are real. The report lists thirteen limitations, AISS-01 to AISS-13, each with an owner and a resolution.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E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914400"/>
          </a:xfrm>
          <a:prstGeom prst="rect">
            <a:avLst/>
          </a:prstGeom>
          <a:noFill/>
          <a:ln/>
        </p:spPr>
        <p:txBody>
          <a:bodyPr wrap="square" rtlCol="0"/>
          <a:lstStyle>
            <a:lvl1pPr indent="0" marL="0">
              <a:buNone/>
              <a:defRPr lang="en-US" sz="4000" b="1" dirty="0">
                <a:solidFill>
                  <a:srgbClr val="FFFFFF"/>
                </a:solidFill>
              </a:defRPr>
            </a:lvl1pPr>
          </a:lstStyle>
          <a:p>
            <a:pPr indent="0" marL="0">
              <a:buNone/>
            </a:pPr>
            <a:endParaRPr lang="en-US" sz="4000" dirty="0"/>
          </a:p>
        </p:txBody>
      </p:sp>
      <p:sp>
        <p:nvSpPr>
          <p:cNvPr id="3" name="Text 0"/>
          <p:cNvSpPr/>
          <p:nvPr>
            <p:ph idx="101" type="body" hasCustomPrompt="1"/>
          </p:nvPr>
        </p:nvSpPr>
        <p:spPr>
          <a:xfrm>
            <a:off x="548640" y="2240280"/>
            <a:ext cx="8046720" cy="2194560"/>
          </a:xfrm>
          <a:prstGeom prst="rect">
            <a:avLst/>
          </a:prstGeom>
          <a:noFill/>
          <a:ln/>
        </p:spPr>
        <p:txBody>
          <a:bodyPr wrap="square" rtlCol="0"/>
          <a:lstStyle>
            <a:lvl1pPr indent="0" marL="0">
              <a:buNone/>
              <a:defRPr lang="en-US" sz="1600" dirty="0">
                <a:solidFill>
                  <a:srgbClr val="D7E9E6"/>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2E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566928"/>
          </a:xfrm>
          <a:prstGeom prst="rect">
            <a:avLst/>
          </a:prstGeom>
          <a:noFill/>
          <a:ln/>
        </p:spPr>
        <p:txBody>
          <a:bodyPr wrap="square" rtlCol="0"/>
          <a:lstStyle>
            <a:lvl1pPr indent="0" marL="0">
              <a:buNone/>
              <a:defRPr lang="en-US" sz="2800" b="1" dirty="0">
                <a:solidFill>
                  <a:srgbClr val="FFFFFF"/>
                </a:solidFill>
              </a:defRPr>
            </a:lvl1pPr>
          </a:lstStyle>
          <a:p>
            <a:pPr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rtlCol="0"/>
          <a:lstStyle>
            <a:lvl1pPr indent="0" marL="0">
              <a:buNone/>
              <a:defRPr lang="en-US" sz="2600" b="1" dirty="0">
                <a:solidFill>
                  <a:srgbClr val="0B2E33"/>
                </a:solidFill>
              </a:defRPr>
            </a:lvl1pPr>
          </a:lstStyle>
          <a:p>
            <a:pPr indent="0" marL="0">
              <a:buNone/>
            </a:pPr>
            <a:endParaRPr lang="en-US" sz="2600" dirty="0"/>
          </a:p>
        </p:txBody>
      </p:sp>
      <p:sp>
        <p:nvSpPr>
          <p:cNvPr id="3"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rgbClr val="5B6B6D"/>
                </a:solidFill>
              </a:rPr>
              <a:t>Team 15 · Lumen Platform</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M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25880" y="274320"/>
            <a:ext cx="7360920" cy="566928"/>
          </a:xfrm>
          <a:prstGeom prst="rect">
            <a:avLst/>
          </a:prstGeom>
          <a:noFill/>
          <a:ln/>
        </p:spPr>
        <p:txBody>
          <a:bodyPr wrap="square" rtlCol="0"/>
          <a:lstStyle>
            <a:lvl1pPr indent="0" marL="0">
              <a:buNone/>
              <a:defRPr lang="en-US" sz="2400" b="1" dirty="0">
                <a:solidFill>
                  <a:srgbClr val="0B2E33"/>
                </a:solidFill>
              </a:defRPr>
            </a:lvl1pPr>
          </a:lstStyle>
          <a:p>
            <a:pPr indent="0" marL="0">
              <a:buNone/>
            </a:pPr>
            <a:endParaRPr lang="en-US" sz="2400" dirty="0"/>
          </a:p>
        </p:txBody>
      </p:sp>
      <p:sp>
        <p:nvSpPr>
          <p:cNvPr id="3" name="Text 0"/>
          <p:cNvSpPr/>
          <p:nvPr/>
        </p:nvSpPr>
        <p:spPr>
          <a:xfrm>
            <a:off x="457200" y="4828032"/>
            <a:ext cx="6400800" cy="228600"/>
          </a:xfrm>
          <a:prstGeom prst="rect">
            <a:avLst/>
          </a:prstGeom>
          <a:noFill/>
          <a:ln/>
        </p:spPr>
        <p:txBody>
          <a:bodyPr wrap="square" lIns="0" tIns="0" rIns="0" bIns="0" rtlCol="0" anchor="ctr"/>
          <a:lstStyle/>
          <a:p>
            <a:pPr indent="0" marL="0">
              <a:buNone/>
            </a:pPr>
            <a:r>
              <a:rPr lang="en-US" sz="900" dirty="0">
                <a:solidFill>
                  <a:srgbClr val="5B6B6D"/>
                </a:solidFill>
              </a:rPr>
              <a:t>Demo · https://lumen.54-179-112-87.sslip.io · deploy/k8s/demo.sh</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914400"/>
          </a:xfrm>
          <a:prstGeom prst="rect">
            <a:avLst/>
          </a:prstGeom>
          <a:noFill/>
          <a:ln/>
        </p:spPr>
        <p:txBody>
          <a:bodyPr wrap="square" lIns="0" tIns="0" rIns="0" bIns="0" rtlCol="0" anchor="b"/>
          <a:lstStyle/>
          <a:p>
            <a:pPr indent="0" marL="0">
              <a:buNone/>
            </a:pPr>
            <a:r>
              <a:rPr lang="en-US" sz="4000" b="1" dirty="0">
                <a:solidFill>
                  <a:srgbClr val="FFFFFF"/>
                </a:solidFill>
              </a:rPr>
              <a:t>Lumen Platform</a:t>
            </a:r>
            <a:endParaRPr lang="en-US" sz="4000" dirty="0"/>
          </a:p>
        </p:txBody>
      </p:sp>
      <p:sp>
        <p:nvSpPr>
          <p:cNvPr id="3" name="Text 0"/>
          <p:cNvSpPr/>
          <p:nvPr>
            <p:ph idx="101" type="body" hasCustomPrompt="1"/>
          </p:nvPr>
        </p:nvSpPr>
        <p:spPr>
          <a:xfrm>
            <a:off x="548640" y="2240280"/>
            <a:ext cx="8046720" cy="2194560"/>
          </a:xfrm>
          <a:prstGeom prst="rect">
            <a:avLst/>
          </a:prstGeom>
          <a:noFill/>
          <a:ln/>
        </p:spPr>
        <p:txBody>
          <a:bodyPr wrap="square" lIns="0" tIns="0" rIns="0" bIns="0" rtlCol="0" anchor="t"/>
          <a:lstStyle/>
          <a:p>
            <a:pPr indent="0" marL="0">
              <a:buNone/>
            </a:pPr>
            <a:r>
              <a:rPr lang="en-US" sz="1800" dirty="0">
                <a:solidFill>
                  <a:srgbClr val="FFFFFF"/>
                </a:solidFill>
              </a:rPr>
              <a:t>A platform for research agents: one engine, many producers and consumers</a:t>
            </a:r>
            <a:endParaRPr lang="en-US" sz="1600" dirty="0"/>
          </a:p>
          <a:p>
            <a:pPr indent="0" marL="0">
              <a:buNone/>
            </a:pPr>
            <a:r>
              <a:rPr lang="en-US" sz="1000" dirty="0">
                <a:solidFill>
                  <a:srgbClr val="D7E9E6"/>
                </a:solidFill>
              </a:rPr>
              <a:t> </a:t>
            </a:r>
            <a:endParaRPr lang="en-US" sz="1600" dirty="0"/>
          </a:p>
          <a:p>
            <a:pPr indent="0" marL="0">
              <a:buNone/>
            </a:pPr>
            <a:r>
              <a:rPr lang="en-US" sz="1400" dirty="0">
                <a:solidFill>
                  <a:srgbClr val="D7E9E6"/>
                </a:solidFill>
              </a:rPr>
              <a:t>Team 15: HE RONG, LI ZHUOYANG, LIU ZIYANG, LU YI, PENG XUJIAN</a:t>
            </a:r>
            <a:endParaRPr lang="en-US" sz="1600" dirty="0"/>
          </a:p>
          <a:p>
            <a:pPr indent="0" marL="0">
              <a:buNone/>
            </a:pPr>
            <a:r>
              <a:rPr lang="en-US" sz="1400" dirty="0">
                <a:solidFill>
                  <a:srgbClr val="D7E9E6"/>
                </a:solidFill>
              </a:rPr>
              <a:t>Graduate Certificate in Architecting Scalable Systems, practice module, 26 October 2026</a:t>
            </a:r>
            <a:endParaRPr lang="en-US" sz="1600" dirty="0"/>
          </a:p>
          <a:p>
            <a:pPr indent="0" marL="0">
              <a:buNone/>
            </a:pPr>
            <a:r>
              <a:rPr lang="en-US" sz="1000" dirty="0">
                <a:solidFill>
                  <a:srgbClr val="D7E9E6"/>
                </a:solidFill>
              </a:rPr>
              <a:t> </a:t>
            </a:r>
            <a:endParaRPr lang="en-US" sz="1600" dirty="0"/>
          </a:p>
          <a:p>
            <a:pPr indent="0" marL="0">
              <a:buNone/>
            </a:pPr>
            <a:r>
              <a:rPr lang="en-US" sz="1400" b="1" dirty="0">
                <a:solidFill>
                  <a:srgbClr val="E8A33D"/>
                </a:solidFill>
              </a:rPr>
              <a:t>https://lumen.54-179-112-87.sslip.io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Every team rebuilds the same agent parts</a:t>
            </a:r>
            <a:endParaRPr lang="en-US" sz="2600" dirty="0"/>
          </a:p>
        </p:txBody>
      </p:sp>
      <p:sp>
        <p:nvSpPr>
          <p:cNvPr id="3" name="chip Step record with cost"/>
          <p:cNvSpPr/>
          <p:nvPr/>
        </p:nvSpPr>
        <p:spPr>
          <a:xfrm>
            <a:off x="457200" y="914400"/>
            <a:ext cx="1920240" cy="457200"/>
          </a:xfrm>
          <a:prstGeom prst="roundRect">
            <a:avLst>
              <a:gd name="adj" fmla="val 20000"/>
            </a:avLst>
          </a:prstGeom>
          <a:solidFill>
            <a:srgbClr val="E6F2F0"/>
          </a:solidFill>
          <a:ln w="12700">
            <a:solidFill>
              <a:srgbClr val="E6F2F0"/>
            </a:solidFill>
            <a:prstDash val="solid"/>
          </a:ln>
        </p:spPr>
      </p:sp>
      <p:sp>
        <p:nvSpPr>
          <p:cNvPr id="4" name="Text 2"/>
          <p:cNvSpPr txBox="1"/>
          <p:nvPr/>
        </p:nvSpPr>
        <p:spPr>
          <a:xfrm>
            <a:off x="457200" y="914400"/>
            <a:ext cx="1920240" cy="457200"/>
          </a:xfrm>
          <a:prstGeom prst="rect">
            <a:avLst/>
          </a:prstGeom>
          <a:noFill/>
          <a:ln/>
        </p:spPr>
        <p:txBody>
          <a:bodyPr wrap="square" lIns="0" tIns="0" rIns="0" bIns="0" rtlCol="0" anchor="ctr"/>
          <a:lstStyle/>
          <a:p>
            <a:pPr algn="ctr" indent="0" marL="0">
              <a:buNone/>
            </a:pPr>
            <a:r>
              <a:rPr lang="en-US" sz="1300" b="1" dirty="0">
                <a:solidFill>
                  <a:srgbClr val="0B2E33"/>
                </a:solidFill>
              </a:rPr>
              <a:t>Step record with cost</a:t>
            </a:r>
            <a:endParaRPr lang="en-US" sz="1300" dirty="0"/>
          </a:p>
        </p:txBody>
      </p:sp>
      <p:sp>
        <p:nvSpPr>
          <p:cNvPr id="5" name="chip Spending cap"/>
          <p:cNvSpPr/>
          <p:nvPr/>
        </p:nvSpPr>
        <p:spPr>
          <a:xfrm>
            <a:off x="2542032" y="914400"/>
            <a:ext cx="1920240" cy="457200"/>
          </a:xfrm>
          <a:prstGeom prst="roundRect">
            <a:avLst>
              <a:gd name="adj" fmla="val 20000"/>
            </a:avLst>
          </a:prstGeom>
          <a:solidFill>
            <a:srgbClr val="E6F2F0"/>
          </a:solidFill>
          <a:ln w="12700">
            <a:solidFill>
              <a:srgbClr val="E6F2F0"/>
            </a:solidFill>
            <a:prstDash val="solid"/>
          </a:ln>
        </p:spPr>
      </p:sp>
      <p:sp>
        <p:nvSpPr>
          <p:cNvPr id="6" name="Text 4"/>
          <p:cNvSpPr txBox="1"/>
          <p:nvPr/>
        </p:nvSpPr>
        <p:spPr>
          <a:xfrm>
            <a:off x="2542032" y="914400"/>
            <a:ext cx="1920240" cy="457200"/>
          </a:xfrm>
          <a:prstGeom prst="rect">
            <a:avLst/>
          </a:prstGeom>
          <a:noFill/>
          <a:ln/>
        </p:spPr>
        <p:txBody>
          <a:bodyPr wrap="square" lIns="0" tIns="0" rIns="0" bIns="0" rtlCol="0" anchor="ctr"/>
          <a:lstStyle/>
          <a:p>
            <a:pPr algn="ctr" indent="0" marL="0">
              <a:buNone/>
            </a:pPr>
            <a:r>
              <a:rPr lang="en-US" sz="1300" b="1" dirty="0">
                <a:solidFill>
                  <a:srgbClr val="0B2E33"/>
                </a:solidFill>
              </a:rPr>
              <a:t>Spending cap</a:t>
            </a:r>
            <a:endParaRPr lang="en-US" sz="1300" dirty="0"/>
          </a:p>
        </p:txBody>
      </p:sp>
      <p:sp>
        <p:nvSpPr>
          <p:cNvPr id="7" name="chip Sandbox for commands"/>
          <p:cNvSpPr/>
          <p:nvPr/>
        </p:nvSpPr>
        <p:spPr>
          <a:xfrm>
            <a:off x="4626864" y="914400"/>
            <a:ext cx="1920240" cy="457200"/>
          </a:xfrm>
          <a:prstGeom prst="roundRect">
            <a:avLst>
              <a:gd name="adj" fmla="val 20000"/>
            </a:avLst>
          </a:prstGeom>
          <a:solidFill>
            <a:srgbClr val="E6F2F0"/>
          </a:solidFill>
          <a:ln w="12700">
            <a:solidFill>
              <a:srgbClr val="E6F2F0"/>
            </a:solidFill>
            <a:prstDash val="solid"/>
          </a:ln>
        </p:spPr>
      </p:sp>
      <p:sp>
        <p:nvSpPr>
          <p:cNvPr id="8" name="Text 6"/>
          <p:cNvSpPr txBox="1"/>
          <p:nvPr/>
        </p:nvSpPr>
        <p:spPr>
          <a:xfrm>
            <a:off x="4626864" y="914400"/>
            <a:ext cx="1920240" cy="457200"/>
          </a:xfrm>
          <a:prstGeom prst="rect">
            <a:avLst/>
          </a:prstGeom>
          <a:noFill/>
          <a:ln/>
        </p:spPr>
        <p:txBody>
          <a:bodyPr wrap="square" lIns="0" tIns="0" rIns="0" bIns="0" rtlCol="0" anchor="ctr"/>
          <a:lstStyle/>
          <a:p>
            <a:pPr algn="ctr" indent="0" marL="0">
              <a:buNone/>
            </a:pPr>
            <a:r>
              <a:rPr lang="en-US" sz="1300" b="1" dirty="0">
                <a:solidFill>
                  <a:srgbClr val="0B2E33"/>
                </a:solidFill>
              </a:rPr>
              <a:t>Sandbox for commands</a:t>
            </a:r>
            <a:endParaRPr lang="en-US" sz="1300" dirty="0"/>
          </a:p>
        </p:txBody>
      </p:sp>
      <p:sp>
        <p:nvSpPr>
          <p:cNvPr id="9" name="chip Live view of the run"/>
          <p:cNvSpPr/>
          <p:nvPr/>
        </p:nvSpPr>
        <p:spPr>
          <a:xfrm>
            <a:off x="6711696" y="914400"/>
            <a:ext cx="1920240" cy="457200"/>
          </a:xfrm>
          <a:prstGeom prst="roundRect">
            <a:avLst>
              <a:gd name="adj" fmla="val 20000"/>
            </a:avLst>
          </a:prstGeom>
          <a:solidFill>
            <a:srgbClr val="E6F2F0"/>
          </a:solidFill>
          <a:ln w="12700">
            <a:solidFill>
              <a:srgbClr val="E6F2F0"/>
            </a:solidFill>
            <a:prstDash val="solid"/>
          </a:ln>
        </p:spPr>
      </p:sp>
      <p:sp>
        <p:nvSpPr>
          <p:cNvPr id="10" name="Text 8"/>
          <p:cNvSpPr txBox="1"/>
          <p:nvPr/>
        </p:nvSpPr>
        <p:spPr>
          <a:xfrm>
            <a:off x="6711696" y="914400"/>
            <a:ext cx="1920240" cy="457200"/>
          </a:xfrm>
          <a:prstGeom prst="rect">
            <a:avLst/>
          </a:prstGeom>
          <a:noFill/>
          <a:ln/>
        </p:spPr>
        <p:txBody>
          <a:bodyPr wrap="square" lIns="0" tIns="0" rIns="0" bIns="0" rtlCol="0" anchor="ctr"/>
          <a:lstStyle/>
          <a:p>
            <a:pPr algn="ctr" indent="0" marL="0">
              <a:buNone/>
            </a:pPr>
            <a:r>
              <a:rPr lang="en-US" sz="1300" b="1" dirty="0">
                <a:solidFill>
                  <a:srgbClr val="0B2E33"/>
                </a:solidFill>
              </a:rPr>
              <a:t>Live view of the run</a:t>
            </a:r>
            <a:endParaRPr lang="en-US" sz="1300" dirty="0"/>
          </a:p>
        </p:txBody>
      </p:sp>
      <p:pic>
        <p:nvPicPr>
          <p:cNvPr id="11" name="Platform context diagram" descr="Platform context diagram">    </p:cNvPr>
          <p:cNvPicPr>
            <a:picLocks noChangeAspect="1"/>
          </p:cNvPicPr>
          <p:nvPr/>
        </p:nvPicPr>
        <p:blipFill>
          <a:blip r:embed="rId1"/>
          <a:stretch>
            <a:fillRect/>
          </a:stretch>
        </p:blipFill>
        <p:spPr>
          <a:xfrm>
            <a:off x="465088" y="1508760"/>
            <a:ext cx="8213824" cy="3246120"/>
          </a:xfrm>
          <a:prstGeom prst="rect">
            <a:avLst/>
          </a:prstGeom>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Scope: six use cases, five services, one public host</a:t>
            </a:r>
            <a:endParaRPr lang="en-US" sz="2600" dirty="0"/>
          </a:p>
        </p:txBody>
      </p:sp>
      <p:sp>
        <p:nvSpPr>
          <p:cNvPr id="3" name="Text 1"/>
          <p:cNvSpPr txBox="1"/>
          <p:nvPr/>
        </p:nvSpPr>
        <p:spPr>
          <a:xfrm>
            <a:off x="457200" y="914400"/>
            <a:ext cx="5486400" cy="274320"/>
          </a:xfrm>
          <a:prstGeom prst="rect">
            <a:avLst/>
          </a:prstGeom>
          <a:noFill/>
          <a:ln/>
        </p:spPr>
        <p:txBody>
          <a:bodyPr wrap="square" lIns="0" tIns="0" rIns="0" bIns="0" rtlCol="0" anchor="ctr"/>
          <a:lstStyle/>
          <a:p>
            <a:pPr indent="0" marL="0">
              <a:buNone/>
            </a:pPr>
            <a:r>
              <a:rPr lang="en-US" sz="1300" b="1" dirty="0">
                <a:solidFill>
                  <a:srgbClr val="1B6F6A"/>
                </a:solidFill>
              </a:rPr>
              <a:t>In scope (status on 20 October 2026)</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394960" cy="914400"/>
        </p:xfrm>
        <a:graphic>
          <a:graphicData uri="http://schemas.openxmlformats.org/drawingml/2006/table">
            <a:tbl>
              <a:tblPr/>
              <a:tblGrid>
                <a:gridCol w="2514600"/>
                <a:gridCol w="1325880"/>
                <a:gridCol w="15544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Use case</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Actor</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UC1 Publish an agent</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Producer</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Verified on host</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UC2 Ask with a chosen agent (API)</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Consumer</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Verified on host</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UC3 API keys, scopes, 429</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Consumer</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Verified on host</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UC4 Approve a step over the cap</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Consumer</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Deployed</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UC5 Usage per account and agent</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Operator, producer</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Verified on host</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UC6 Literature watch (second app)</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Consumer</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Verified on host</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r>
            </a:tbl>
          </a:graphicData>
        </a:graphic>
      </p:graphicFrame>
      <p:sp>
        <p:nvSpPr>
          <p:cNvPr id="5" name="Text 2"/>
          <p:cNvSpPr txBox="1"/>
          <p:nvPr/>
        </p:nvSpPr>
        <p:spPr>
          <a:xfrm>
            <a:off x="6172200" y="914400"/>
            <a:ext cx="2514600" cy="274320"/>
          </a:xfrm>
          <a:prstGeom prst="rect">
            <a:avLst/>
          </a:prstGeom>
          <a:noFill/>
          <a:ln/>
        </p:spPr>
        <p:txBody>
          <a:bodyPr wrap="square" lIns="0" tIns="0" rIns="0" bIns="0" rtlCol="0" anchor="ctr"/>
          <a:lstStyle/>
          <a:p>
            <a:pPr indent="0" marL="0">
              <a:buNone/>
            </a:pPr>
            <a:r>
              <a:rPr lang="en-US" sz="1300" b="1" dirty="0">
                <a:solidFill>
                  <a:srgbClr val="1B6F6A"/>
                </a:solidFill>
              </a:rPr>
              <a:t>Out of scope</a:t>
            </a:r>
            <a:endParaRPr lang="en-US" sz="1300" dirty="0"/>
          </a:p>
        </p:txBody>
      </p:sp>
      <p:sp>
        <p:nvSpPr>
          <p:cNvPr id="6" name="Text 3"/>
          <p:cNvSpPr txBox="1"/>
          <p:nvPr/>
        </p:nvSpPr>
        <p:spPr>
          <a:xfrm>
            <a:off x="6172200" y="1234440"/>
            <a:ext cx="2514600" cy="3383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C2B2D"/>
                </a:solidFill>
              </a:rPr>
              <a:t>Payouts to producers</a:t>
            </a:r>
            <a:endParaRPr lang="en-US" sz="1300" dirty="0"/>
          </a:p>
          <a:p>
            <a:pPr marL="177800" indent="-177800">
              <a:spcAft>
                <a:spcPts val="500"/>
              </a:spcAft>
              <a:buSzPct val="100000"/>
              <a:buChar char="•"/>
            </a:pPr>
            <a:r>
              <a:rPr lang="en-US" sz="1300" dirty="0">
                <a:solidFill>
                  <a:srgbClr val="1C2B2D"/>
                </a:solidFill>
              </a:rPr>
              <a:t>More than one region</a:t>
            </a:r>
            <a:endParaRPr lang="en-US" sz="1300" dirty="0"/>
          </a:p>
          <a:p>
            <a:pPr marL="177800" indent="-177800">
              <a:spcAft>
                <a:spcPts val="500"/>
              </a:spcAft>
              <a:buSzPct val="100000"/>
              <a:buChar char="•"/>
            </a:pPr>
            <a:r>
              <a:rPr lang="en-US" sz="1300" dirty="0">
                <a:solidFill>
                  <a:srgbClr val="1C2B2D"/>
                </a:solidFill>
              </a:rPr>
              <a:t>Model training</a:t>
            </a:r>
            <a:endParaRPr lang="en-US" sz="1300" dirty="0"/>
          </a:p>
          <a:p>
            <a:pPr marL="177800" indent="-177800">
              <a:spcAft>
                <a:spcPts val="500"/>
              </a:spcAft>
              <a:buSzPct val="100000"/>
              <a:buChar char="•"/>
            </a:pPr>
            <a:r>
              <a:rPr lang="en-US" sz="1300" dirty="0">
                <a:solidFill>
                  <a:srgbClr val="1C2B2D"/>
                </a:solidFill>
              </a:rPr>
              <a:t>Mobile client</a:t>
            </a:r>
            <a:endParaRPr lang="en-US" sz="1300" dirty="0"/>
          </a:p>
          <a:p>
            <a:pPr marL="177800" indent="-177800">
              <a:spcAft>
                <a:spcPts val="500"/>
              </a:spcAft>
              <a:buSzPct val="100000"/>
              <a:buChar char="•"/>
            </a:pPr>
            <a:r>
              <a:rPr lang="en-US" sz="1300" dirty="0">
                <a:solidFill>
                  <a:srgbClr val="1C2B2D"/>
                </a:solidFill>
              </a:rPr>
              <a:t>Moved to phase 2: stream and model-gateway services, one database per service, EKS</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Project conduct: status, milestones, effort</a:t>
            </a:r>
            <a:endParaRPr lang="en-US" sz="2600" dirty="0"/>
          </a:p>
        </p:txBody>
      </p:sp>
      <p:sp>
        <p:nvSpPr>
          <p:cNvPr id="3" name="card Done and deployed"/>
          <p:cNvSpPr/>
          <p:nvPr/>
        </p:nvSpPr>
        <p:spPr>
          <a:xfrm>
            <a:off x="457200" y="914400"/>
            <a:ext cx="2651760" cy="2148840"/>
          </a:xfrm>
          <a:prstGeom prst="roundRect">
            <a:avLst>
              <a:gd name="adj" fmla="val 3404"/>
            </a:avLst>
          </a:prstGeom>
          <a:solidFill>
            <a:srgbClr val="E6F2F0"/>
          </a:solidFill>
          <a:ln w="12700">
            <a:solidFill>
              <a:srgbClr val="E6F2F0"/>
            </a:solidFill>
            <a:prstDash val="solid"/>
          </a:ln>
        </p:spPr>
      </p:sp>
      <p:sp>
        <p:nvSpPr>
          <p:cNvPr id="4" name="card text Done and deployed"/>
          <p:cNvSpPr txBox="1"/>
          <p:nvPr/>
        </p:nvSpPr>
        <p:spPr>
          <a:xfrm>
            <a:off x="566928" y="987552"/>
            <a:ext cx="2432304" cy="200253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Done and deployed</a:t>
            </a:r>
            <a:endParaRPr lang="en-US" sz="1400" dirty="0"/>
          </a:p>
          <a:p>
            <a:pPr indent="0" marL="0">
              <a:spcAft>
                <a:spcPts val="300"/>
              </a:spcAft>
              <a:buNone/>
            </a:pPr>
            <a:r>
              <a:rPr lang="en-US" sz="1300" dirty="0">
                <a:solidFill>
                  <a:srgbClr val="1C2B2D"/>
                </a:solidFill>
              </a:rPr>
              <a:t>Five services on k3s with HTTPS; HPA and KEDA; API v1, registry and watch verified; worker-kill tested</a:t>
            </a:r>
            <a:endParaRPr lang="en-US" sz="1400" dirty="0"/>
          </a:p>
        </p:txBody>
      </p:sp>
      <p:sp>
        <p:nvSpPr>
          <p:cNvPr id="5" name="card Pipeline"/>
          <p:cNvSpPr/>
          <p:nvPr/>
        </p:nvSpPr>
        <p:spPr>
          <a:xfrm>
            <a:off x="3246120" y="914400"/>
            <a:ext cx="2651760" cy="2148840"/>
          </a:xfrm>
          <a:prstGeom prst="roundRect">
            <a:avLst>
              <a:gd name="adj" fmla="val 3404"/>
            </a:avLst>
          </a:prstGeom>
          <a:solidFill>
            <a:srgbClr val="E6F2F0"/>
          </a:solidFill>
          <a:ln w="12700">
            <a:solidFill>
              <a:srgbClr val="E6F2F0"/>
            </a:solidFill>
            <a:prstDash val="solid"/>
          </a:ln>
        </p:spPr>
      </p:sp>
      <p:sp>
        <p:nvSpPr>
          <p:cNvPr id="6" name="card text Pipeline"/>
          <p:cNvSpPr txBox="1"/>
          <p:nvPr/>
        </p:nvSpPr>
        <p:spPr>
          <a:xfrm>
            <a:off x="3355848" y="987552"/>
            <a:ext cx="2432304" cy="200253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Pipeline</a:t>
            </a:r>
            <a:endParaRPr lang="en-US" sz="1400" dirty="0"/>
          </a:p>
          <a:p>
            <a:pPr indent="0" marL="0">
              <a:spcAft>
                <a:spcPts val="300"/>
              </a:spcAft>
              <a:buNone/>
            </a:pPr>
            <a:r>
              <a:rPr lang="en-US" sz="1300" dirty="0">
                <a:solidFill>
                  <a:srgbClr val="1C2B2D"/>
                </a:solidFill>
              </a:rPr>
              <a:t>Run 39441445313 passed all 7 stages. The run before it was stopped by the image scan</a:t>
            </a:r>
            <a:endParaRPr lang="en-US" sz="1400" dirty="0"/>
          </a:p>
        </p:txBody>
      </p:sp>
      <p:sp>
        <p:nvSpPr>
          <p:cNvPr id="7" name="card Outstanding"/>
          <p:cNvSpPr/>
          <p:nvPr/>
        </p:nvSpPr>
        <p:spPr>
          <a:xfrm>
            <a:off x="6035040" y="914400"/>
            <a:ext cx="2651760" cy="2148840"/>
          </a:xfrm>
          <a:prstGeom prst="roundRect">
            <a:avLst>
              <a:gd name="adj" fmla="val 3404"/>
            </a:avLst>
          </a:prstGeom>
          <a:solidFill>
            <a:srgbClr val="FBEFD9"/>
          </a:solidFill>
          <a:ln w="12700">
            <a:solidFill>
              <a:srgbClr val="FBEFD9"/>
            </a:solidFill>
            <a:prstDash val="solid"/>
          </a:ln>
        </p:spPr>
      </p:sp>
      <p:sp>
        <p:nvSpPr>
          <p:cNvPr id="8" name="card text Outstanding"/>
          <p:cNvSpPr txBox="1"/>
          <p:nvPr/>
        </p:nvSpPr>
        <p:spPr>
          <a:xfrm>
            <a:off x="6144768" y="987552"/>
            <a:ext cx="2432304" cy="200253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Outstanding</a:t>
            </a:r>
            <a:endParaRPr lang="en-US" sz="1400" dirty="0"/>
          </a:p>
          <a:p>
            <a:pPr indent="0" marL="0">
              <a:spcAft>
                <a:spcPts val="300"/>
              </a:spcAft>
              <a:buNone/>
            </a:pPr>
            <a:r>
              <a:rPr lang="en-US" sz="1300" dirty="0">
                <a:solidFill>
                  <a:srgbClr val="1C2B2D"/>
                </a:solidFill>
              </a:rPr>
              <a:t>A model key with a low spending limit (workers in demo mode now); progress report [TEAM TO FILL]</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8229600" cy="914400"/>
        </p:xfrm>
        <a:graphic>
          <a:graphicData uri="http://schemas.openxmlformats.org/drawingml/2006/table">
            <a:tbl>
              <a:tblPr/>
              <a:tblGrid>
                <a:gridCol w="731520"/>
                <a:gridCol w="1499616"/>
                <a:gridCol w="1499616"/>
                <a:gridCol w="1499616"/>
                <a:gridCol w="1499616"/>
                <a:gridCol w="1499616"/>
              </a:tblGrid>
              <a:tr h="0">
                <a:tc>
                  <a:txBody>
                    <a:bodyPr/>
                    <a:lstStyle/>
                    <a:p>
                      <a:pPr indent="0" marL="0">
                        <a:buNone/>
                      </a:pP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HE RONG</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LI ZHUOYANG</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LIU ZIYANG</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LU YI</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PENG XUJIAN</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r>
              <a:tr h="0">
                <a:tc>
                  <a:txBody>
                    <a:bodyPr/>
                    <a:lstStyle/>
                    <a:p>
                      <a:pPr indent="0" marL="0">
                        <a:buNone/>
                      </a:pPr>
                      <a:r>
                        <a:rPr lang="en-US" sz="1100" dirty="0">
                          <a:solidFill>
                            <a:srgbClr val="1C2B2D"/>
                          </a:solidFill>
                          <a:latin typeface="Arial" pitchFamily="34" charset="0"/>
                          <a:ea typeface="Arial" pitchFamily="34" charset="-122"/>
                          <a:cs typeface="Arial" pitchFamily="34" charset="-120"/>
                        </a:rPr>
                        <a:t>Owns</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1C2B2D"/>
                          </a:solidFill>
                          <a:latin typeface="Arial" pitchFamily="34" charset="0"/>
                          <a:ea typeface="Arial" pitchFamily="34" charset="-122"/>
                          <a:cs typeface="Arial" pitchFamily="34" charset="-120"/>
                        </a:rPr>
                        <a:t>billing, chart, AWS, CI/CD</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1C2B2D"/>
                          </a:solidFill>
                          <a:latin typeface="Arial" pitchFamily="34" charset="0"/>
                          <a:ea typeface="Arial" pitchFamily="34" charset="-122"/>
                          <a:cs typeface="Arial" pitchFamily="34" charset="-120"/>
                        </a:rPr>
                        <a:t>worker, queues</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1C2B2D"/>
                          </a:solidFill>
                          <a:latin typeface="Arial" pitchFamily="34" charset="0"/>
                          <a:ea typeface="Arial" pitchFamily="34" charset="-122"/>
                          <a:cs typeface="Arial" pitchFamily="34" charset="-120"/>
                        </a:rPr>
                        <a:t>session, contracts, demo</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1C2B2D"/>
                          </a:solidFill>
                          <a:latin typeface="Arial" pitchFamily="34" charset="0"/>
                          <a:ea typeface="Arial" pitchFamily="34" charset="-122"/>
                          <a:cs typeface="Arial" pitchFamily="34" charset="-120"/>
                        </a:rPr>
                        <a:t>identity, ingress, keys</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100" dirty="0">
                          <a:solidFill>
                            <a:srgbClr val="1C2B2D"/>
                          </a:solidFill>
                          <a:latin typeface="Arial" pitchFamily="34" charset="0"/>
                          <a:ea typeface="Arial" pitchFamily="34" charset="-122"/>
                          <a:cs typeface="Arial" pitchFamily="34" charset="-120"/>
                        </a:rPr>
                        <a:t>project, registry, k6, watch</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C2B2D"/>
                          </a:solidFill>
                          <a:latin typeface="Arial" pitchFamily="34" charset="0"/>
                          <a:ea typeface="Arial" pitchFamily="34" charset="-122"/>
                          <a:cs typeface="Arial" pitchFamily="34" charset="-120"/>
                        </a:rPr>
                        <a:t>Hours</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100" dirty="0">
                          <a:solidFill>
                            <a:srgbClr val="1C2B2D"/>
                          </a:solidFill>
                          <a:latin typeface="Arial" pitchFamily="34" charset="0"/>
                          <a:ea typeface="Arial" pitchFamily="34" charset="-122"/>
                          <a:cs typeface="Arial" pitchFamily="34" charset="-120"/>
                        </a:rPr>
                        <a:t>[TEAM TO FILL]</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100" dirty="0">
                          <a:solidFill>
                            <a:srgbClr val="1C2B2D"/>
                          </a:solidFill>
                          <a:latin typeface="Arial" pitchFamily="34" charset="0"/>
                          <a:ea typeface="Arial" pitchFamily="34" charset="-122"/>
                          <a:cs typeface="Arial" pitchFamily="34" charset="-120"/>
                        </a:rPr>
                        <a:t>[TEAM TO FILL]</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100" dirty="0">
                          <a:solidFill>
                            <a:srgbClr val="1C2B2D"/>
                          </a:solidFill>
                          <a:latin typeface="Arial" pitchFamily="34" charset="0"/>
                          <a:ea typeface="Arial" pitchFamily="34" charset="-122"/>
                          <a:cs typeface="Arial" pitchFamily="34" charset="-120"/>
                        </a:rPr>
                        <a:t>[TEAM TO FILL]</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100" dirty="0">
                          <a:solidFill>
                            <a:srgbClr val="1C2B2D"/>
                          </a:solidFill>
                          <a:latin typeface="Arial" pitchFamily="34" charset="0"/>
                          <a:ea typeface="Arial" pitchFamily="34" charset="-122"/>
                          <a:cs typeface="Arial" pitchFamily="34" charset="-120"/>
                        </a:rPr>
                        <a:t>[TEAM TO FILL]</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100" dirty="0">
                          <a:solidFill>
                            <a:srgbClr val="1C2B2D"/>
                          </a:solidFill>
                          <a:latin typeface="Arial" pitchFamily="34" charset="0"/>
                          <a:ea typeface="Arial" pitchFamily="34" charset="-122"/>
                          <a:cs typeface="Arial" pitchFamily="34" charset="-120"/>
                        </a:rPr>
                        <a:t>[TEAM TO FILL]</a:t>
                      </a:r>
                      <a:endParaRPr lang="en-US" sz="11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r>
            </a:tbl>
          </a:graphicData>
        </a:graphic>
      </p:graphicFrame>
      <p:sp>
        <p:nvSpPr>
          <p:cNvPr id="10" name="Text 7"/>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200" dirty="0">
                <a:solidFill>
                  <a:srgbClr val="5B6B6D"/>
                </a:solidFill>
              </a:rPr>
              <a:t>Proposal v1 1 Oct → v2 and review 6 Oct → platform commits 20 Oct → demo 26 Oct → report 16 Nov</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Key decisions in the logical architecture</a:t>
            </a:r>
            <a:endParaRPr lang="en-US" sz="2600" dirty="0"/>
          </a:p>
        </p:txBody>
      </p:sp>
      <p:sp>
        <p:nvSpPr>
          <p:cNvPr id="3" name="card AD-01 Slices become services"/>
          <p:cNvSpPr/>
          <p:nvPr/>
        </p:nvSpPr>
        <p:spPr>
          <a:xfrm>
            <a:off x="457200" y="914400"/>
            <a:ext cx="1938528" cy="1783080"/>
          </a:xfrm>
          <a:prstGeom prst="roundRect">
            <a:avLst>
              <a:gd name="adj" fmla="val 4103"/>
            </a:avLst>
          </a:prstGeom>
          <a:solidFill>
            <a:srgbClr val="E6F2F0"/>
          </a:solidFill>
          <a:ln w="12700">
            <a:solidFill>
              <a:srgbClr val="E6F2F0"/>
            </a:solidFill>
            <a:prstDash val="solid"/>
          </a:ln>
        </p:spPr>
      </p:sp>
      <p:sp>
        <p:nvSpPr>
          <p:cNvPr id="4" name="card text AD-01 Slices become services"/>
          <p:cNvSpPr txBox="1"/>
          <p:nvPr/>
        </p:nvSpPr>
        <p:spPr>
          <a:xfrm>
            <a:off x="566928" y="987552"/>
            <a:ext cx="1719072" cy="163677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AD-01 Slices become services</a:t>
            </a:r>
            <a:endParaRPr lang="en-US" sz="1400" dirty="0"/>
          </a:p>
          <a:p>
            <a:pPr indent="0" marL="0">
              <a:spcAft>
                <a:spcPts val="300"/>
              </a:spcAft>
              <a:buNone/>
            </a:pPr>
            <a:r>
              <a:rPr lang="en-US" sz="1400" dirty="0">
                <a:solidFill>
                  <a:srgbClr val="1C2B2D"/>
                </a:solidFill>
              </a:rPr>
              <a:t>Five services from existing slices; reuse, not rewrite</a:t>
            </a:r>
            <a:endParaRPr lang="en-US" sz="1400" dirty="0"/>
          </a:p>
        </p:txBody>
      </p:sp>
      <p:sp>
        <p:nvSpPr>
          <p:cNvPr id="5" name="card AD-02 Turns on RabbitMQ"/>
          <p:cNvSpPr/>
          <p:nvPr/>
        </p:nvSpPr>
        <p:spPr>
          <a:xfrm>
            <a:off x="2542032" y="914400"/>
            <a:ext cx="1938528" cy="1783080"/>
          </a:xfrm>
          <a:prstGeom prst="roundRect">
            <a:avLst>
              <a:gd name="adj" fmla="val 4103"/>
            </a:avLst>
          </a:prstGeom>
          <a:solidFill>
            <a:srgbClr val="E6F2F0"/>
          </a:solidFill>
          <a:ln w="12700">
            <a:solidFill>
              <a:srgbClr val="E6F2F0"/>
            </a:solidFill>
            <a:prstDash val="solid"/>
          </a:ln>
        </p:spPr>
      </p:sp>
      <p:sp>
        <p:nvSpPr>
          <p:cNvPr id="6" name="card text AD-02 Turns on RabbitMQ"/>
          <p:cNvSpPr txBox="1"/>
          <p:nvPr/>
        </p:nvSpPr>
        <p:spPr>
          <a:xfrm>
            <a:off x="2651760" y="987552"/>
            <a:ext cx="1719072" cy="163677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AD-02 Turns on RabbitMQ</a:t>
            </a:r>
            <a:endParaRPr lang="en-US" sz="1400" dirty="0"/>
          </a:p>
          <a:p>
            <a:pPr indent="0" marL="0">
              <a:spcAft>
                <a:spcPts val="300"/>
              </a:spcAft>
              <a:buNone/>
            </a:pPr>
            <a:r>
              <a:rPr lang="en-US" sz="1400" dirty="0">
                <a:solidFill>
                  <a:srgbClr val="1C2B2D"/>
                </a:solidFill>
              </a:rPr>
              <a:t>QueueWorker replaces the in-process worker; kernel unchanged</a:t>
            </a:r>
            <a:endParaRPr lang="en-US" sz="1400" dirty="0"/>
          </a:p>
        </p:txBody>
      </p:sp>
      <p:sp>
        <p:nvSpPr>
          <p:cNvPr id="7" name="card AD-03 One queue per depth"/>
          <p:cNvSpPr/>
          <p:nvPr/>
        </p:nvSpPr>
        <p:spPr>
          <a:xfrm>
            <a:off x="4626864" y="914400"/>
            <a:ext cx="1938528" cy="1783080"/>
          </a:xfrm>
          <a:prstGeom prst="roundRect">
            <a:avLst>
              <a:gd name="adj" fmla="val 4103"/>
            </a:avLst>
          </a:prstGeom>
          <a:solidFill>
            <a:srgbClr val="E6F2F0"/>
          </a:solidFill>
          <a:ln w="12700">
            <a:solidFill>
              <a:srgbClr val="E6F2F0"/>
            </a:solidFill>
            <a:prstDash val="solid"/>
          </a:ln>
        </p:spPr>
      </p:sp>
      <p:sp>
        <p:nvSpPr>
          <p:cNvPr id="8" name="card text AD-03 One queue per depth"/>
          <p:cNvSpPr txBox="1"/>
          <p:nvPr/>
        </p:nvSpPr>
        <p:spPr>
          <a:xfrm>
            <a:off x="4736592" y="987552"/>
            <a:ext cx="1719072" cy="163677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AD-03 One queue per depth</a:t>
            </a:r>
            <a:endParaRPr lang="en-US" sz="1400" dirty="0"/>
          </a:p>
          <a:p>
            <a:pPr indent="0" marL="0">
              <a:spcAft>
                <a:spcPts val="300"/>
              </a:spcAft>
              <a:buNone/>
            </a:pPr>
            <a:r>
              <a:rPr lang="en-US" sz="1400" dirty="0">
                <a:solidFill>
                  <a:srgbClr val="1C2B2D"/>
                </a:solidFill>
              </a:rPr>
              <a:t>Waiting parents cannot block their children</a:t>
            </a:r>
            <a:endParaRPr lang="en-US" sz="1400" dirty="0"/>
          </a:p>
        </p:txBody>
      </p:sp>
      <p:sp>
        <p:nvSpPr>
          <p:cNvPr id="9" name="card AD-04 Session writes the trace"/>
          <p:cNvSpPr/>
          <p:nvPr/>
        </p:nvSpPr>
        <p:spPr>
          <a:xfrm>
            <a:off x="6711696" y="914400"/>
            <a:ext cx="1938528" cy="1783080"/>
          </a:xfrm>
          <a:prstGeom prst="roundRect">
            <a:avLst>
              <a:gd name="adj" fmla="val 4103"/>
            </a:avLst>
          </a:prstGeom>
          <a:solidFill>
            <a:srgbClr val="E6F2F0"/>
          </a:solidFill>
          <a:ln w="12700">
            <a:solidFill>
              <a:srgbClr val="E6F2F0"/>
            </a:solidFill>
            <a:prstDash val="solid"/>
          </a:ln>
        </p:spPr>
      </p:sp>
      <p:sp>
        <p:nvSpPr>
          <p:cNvPr id="10" name="card text AD-04 Session writes the trace"/>
          <p:cNvSpPr txBox="1"/>
          <p:nvPr/>
        </p:nvSpPr>
        <p:spPr>
          <a:xfrm>
            <a:off x="6821424" y="987552"/>
            <a:ext cx="1719072" cy="163677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AD-04 Session writes the trace</a:t>
            </a:r>
            <a:endParaRPr lang="en-US" sz="1400" dirty="0"/>
          </a:p>
          <a:p>
            <a:pPr indent="0" marL="0">
              <a:spcAft>
                <a:spcPts val="300"/>
              </a:spcAft>
              <a:buNone/>
            </a:pPr>
            <a:r>
              <a:rPr lang="en-US" sz="1400" dirty="0">
                <a:solidFill>
                  <a:srgbClr val="1C2B2D"/>
                </a:solidFill>
              </a:rPr>
              <a:t>Worker reports over HTTP; a dead worker loses nothing</a:t>
            </a:r>
            <a:endParaRPr lang="en-US" sz="1400" dirty="0"/>
          </a:p>
        </p:txBody>
      </p:sp>
      <p:sp>
        <p:nvSpPr>
          <p:cNvPr id="11" name="card AD-05 Steer fanout"/>
          <p:cNvSpPr/>
          <p:nvPr/>
        </p:nvSpPr>
        <p:spPr>
          <a:xfrm>
            <a:off x="457200" y="2834640"/>
            <a:ext cx="1938528" cy="1783080"/>
          </a:xfrm>
          <a:prstGeom prst="roundRect">
            <a:avLst>
              <a:gd name="adj" fmla="val 4103"/>
            </a:avLst>
          </a:prstGeom>
          <a:solidFill>
            <a:srgbClr val="E6F2F0"/>
          </a:solidFill>
          <a:ln w="12700">
            <a:solidFill>
              <a:srgbClr val="E6F2F0"/>
            </a:solidFill>
            <a:prstDash val="solid"/>
          </a:ln>
        </p:spPr>
      </p:sp>
      <p:sp>
        <p:nvSpPr>
          <p:cNvPr id="12" name="card text AD-05 Steer fanout"/>
          <p:cNvSpPr txBox="1"/>
          <p:nvPr/>
        </p:nvSpPr>
        <p:spPr>
          <a:xfrm>
            <a:off x="566928" y="2907792"/>
            <a:ext cx="1719072" cy="163677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AD-05 Steer fanout</a:t>
            </a:r>
            <a:endParaRPr lang="en-US" sz="1400" dirty="0"/>
          </a:p>
          <a:p>
            <a:pPr indent="0" marL="0">
              <a:spcAft>
                <a:spcPts val="300"/>
              </a:spcAft>
              <a:buNone/>
            </a:pPr>
            <a:r>
              <a:rPr lang="en-US" sz="1400" dirty="0">
                <a:solidFill>
                  <a:srgbClr val="1C2B2D"/>
                </a:solidFill>
              </a:rPr>
              <a:t>Every worker pod gets steers; no routing table</a:t>
            </a:r>
            <a:endParaRPr lang="en-US" sz="1400" dirty="0"/>
          </a:p>
        </p:txBody>
      </p:sp>
      <p:sp>
        <p:nvSpPr>
          <p:cNvPr id="13" name="card AD-06 One shared database"/>
          <p:cNvSpPr/>
          <p:nvPr/>
        </p:nvSpPr>
        <p:spPr>
          <a:xfrm>
            <a:off x="2542032" y="2834640"/>
            <a:ext cx="1938528" cy="1783080"/>
          </a:xfrm>
          <a:prstGeom prst="roundRect">
            <a:avLst>
              <a:gd name="adj" fmla="val 4103"/>
            </a:avLst>
          </a:prstGeom>
          <a:solidFill>
            <a:srgbClr val="FBEFD9"/>
          </a:solidFill>
          <a:ln w="12700">
            <a:solidFill>
              <a:srgbClr val="FBEFD9"/>
            </a:solidFill>
            <a:prstDash val="solid"/>
          </a:ln>
        </p:spPr>
      </p:sp>
      <p:sp>
        <p:nvSpPr>
          <p:cNvPr id="14" name="card text AD-06 One shared database"/>
          <p:cNvSpPr txBox="1"/>
          <p:nvPr/>
        </p:nvSpPr>
        <p:spPr>
          <a:xfrm>
            <a:off x="2651760" y="2907792"/>
            <a:ext cx="1719072" cy="163677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AD-06 One shared database</a:t>
            </a:r>
            <a:endParaRPr lang="en-US" sz="1400" dirty="0"/>
          </a:p>
          <a:p>
            <a:pPr indent="0" marL="0">
              <a:spcAft>
                <a:spcPts val="300"/>
              </a:spcAft>
              <a:buNone/>
            </a:pPr>
            <a:r>
              <a:rPr lang="en-US" sz="1400" dirty="0">
                <a:solidFill>
                  <a:srgbClr val="1C2B2D"/>
                </a:solidFill>
              </a:rPr>
              <a:t>Fast to build; split per service is phase 2</a:t>
            </a:r>
            <a:endParaRPr lang="en-US" sz="1400" dirty="0"/>
          </a:p>
        </p:txBody>
      </p:sp>
      <p:sp>
        <p:nvSpPr>
          <p:cNvPr id="15" name="card AD-07 API v1 with keys"/>
          <p:cNvSpPr/>
          <p:nvPr/>
        </p:nvSpPr>
        <p:spPr>
          <a:xfrm>
            <a:off x="4626864" y="2834640"/>
            <a:ext cx="1938528" cy="1783080"/>
          </a:xfrm>
          <a:prstGeom prst="roundRect">
            <a:avLst>
              <a:gd name="adj" fmla="val 4103"/>
            </a:avLst>
          </a:prstGeom>
          <a:solidFill>
            <a:srgbClr val="E6F2F0"/>
          </a:solidFill>
          <a:ln w="12700">
            <a:solidFill>
              <a:srgbClr val="E6F2F0"/>
            </a:solidFill>
            <a:prstDash val="solid"/>
          </a:ln>
        </p:spPr>
      </p:sp>
      <p:sp>
        <p:nvSpPr>
          <p:cNvPr id="16" name="card text AD-07 API v1 with keys"/>
          <p:cNvSpPr txBox="1"/>
          <p:nvPr/>
        </p:nvSpPr>
        <p:spPr>
          <a:xfrm>
            <a:off x="4736592" y="2907792"/>
            <a:ext cx="1719072" cy="163677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AD-07 API v1 with keys</a:t>
            </a:r>
            <a:endParaRPr lang="en-US" sz="1400" dirty="0"/>
          </a:p>
          <a:p>
            <a:pPr indent="0" marL="0">
              <a:spcAft>
                <a:spcPts val="300"/>
              </a:spcAft>
              <a:buNone/>
            </a:pPr>
            <a:r>
              <a:rPr lang="en-US" sz="1400" dirty="0">
                <a:solidFill>
                  <a:srgbClr val="1C2B2D"/>
                </a:solidFill>
              </a:rPr>
              <a:t>SHA-256 keys, scopes, 60/min per key, OpenAPI</a:t>
            </a:r>
            <a:endParaRPr lang="en-US" sz="1400" dirty="0"/>
          </a:p>
        </p:txBody>
      </p:sp>
      <p:sp>
        <p:nvSpPr>
          <p:cNvPr id="17" name="card AD-08 Agent = instructions"/>
          <p:cNvSpPr/>
          <p:nvPr/>
        </p:nvSpPr>
        <p:spPr>
          <a:xfrm>
            <a:off x="6711696" y="2834640"/>
            <a:ext cx="1938528" cy="1783080"/>
          </a:xfrm>
          <a:prstGeom prst="roundRect">
            <a:avLst>
              <a:gd name="adj" fmla="val 4103"/>
            </a:avLst>
          </a:prstGeom>
          <a:solidFill>
            <a:srgbClr val="E6F2F0"/>
          </a:solidFill>
          <a:ln w="12700">
            <a:solidFill>
              <a:srgbClr val="E6F2F0"/>
            </a:solidFill>
            <a:prstDash val="solid"/>
          </a:ln>
        </p:spPr>
      </p:sp>
      <p:sp>
        <p:nvSpPr>
          <p:cNvPr id="18" name="card text AD-08 Agent = instructions"/>
          <p:cNvSpPr txBox="1"/>
          <p:nvPr/>
        </p:nvSpPr>
        <p:spPr>
          <a:xfrm>
            <a:off x="6821424" y="2907792"/>
            <a:ext cx="1719072" cy="163677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AD-08 Agent = instructions</a:t>
            </a:r>
            <a:endParaRPr lang="en-US" sz="1400" dirty="0"/>
          </a:p>
          <a:p>
            <a:pPr indent="0" marL="0">
              <a:spcAft>
                <a:spcPts val="300"/>
              </a:spcAft>
              <a:buNone/>
            </a:pPr>
            <a:r>
              <a:rPr lang="en-US" sz="1400" dirty="0">
                <a:solidFill>
                  <a:srgbClr val="1C2B2D"/>
                </a:solidFill>
              </a:rPr>
              <a:t>Chosen per question; no untrusted code</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Five services, two queues of work, one database</a:t>
            </a:r>
            <a:endParaRPr lang="en-US" sz="2600" dirty="0"/>
          </a:p>
        </p:txBody>
      </p:sp>
      <p:pic>
        <p:nvPicPr>
          <p:cNvPr id="3" name="Logical architecture diagram" descr="Logical architecture diagram">    </p:cNvPr>
          <p:cNvPicPr>
            <a:picLocks noChangeAspect="1"/>
          </p:cNvPicPr>
          <p:nvPr/>
        </p:nvPicPr>
        <p:blipFill>
          <a:blip r:embed="rId1"/>
          <a:stretch>
            <a:fillRect/>
          </a:stretch>
        </p:blipFill>
        <p:spPr>
          <a:xfrm>
            <a:off x="369462" y="868680"/>
            <a:ext cx="8405076" cy="3931920"/>
          </a:xfrm>
          <a:prstGeom prst="rect">
            <a:avLst/>
          </a:prstGeom>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Domain-driven design: contexts, aggregates, events</a:t>
            </a:r>
            <a:endParaRPr lang="en-US" sz="2600" dirty="0"/>
          </a:p>
        </p:txBody>
      </p:sp>
      <p:pic>
        <p:nvPicPr>
          <p:cNvPr id="3" name="Domain model diagram" descr="Domain model diagram">    </p:cNvPr>
          <p:cNvPicPr>
            <a:picLocks noChangeAspect="1"/>
          </p:cNvPicPr>
          <p:nvPr/>
        </p:nvPicPr>
        <p:blipFill>
          <a:blip r:embed="rId1"/>
          <a:stretch>
            <a:fillRect/>
          </a:stretch>
        </p:blipFill>
        <p:spPr>
          <a:xfrm>
            <a:off x="950976" y="868680"/>
            <a:ext cx="7242048" cy="3931920"/>
          </a:xfrm>
          <a:prstGeom prst="rect">
            <a:avLst/>
          </a:prstGeom>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How producers and consumers use the platform</a:t>
            </a:r>
            <a:endParaRPr lang="en-US" sz="2600" dirty="0"/>
          </a:p>
        </p:txBody>
      </p:sp>
      <p:sp>
        <p:nvSpPr>
          <p:cNvPr id="3" name="step circle 1"/>
          <p:cNvSpPr/>
          <p:nvPr/>
        </p:nvSpPr>
        <p:spPr>
          <a:xfrm>
            <a:off x="457200" y="960120"/>
            <a:ext cx="402336" cy="402336"/>
          </a:xfrm>
          <a:prstGeom prst="ellipse">
            <a:avLst/>
          </a:prstGeom>
          <a:solidFill>
            <a:srgbClr val="E8A33D"/>
          </a:solidFill>
          <a:ln w="12700">
            <a:solidFill>
              <a:srgbClr val="E8A33D"/>
            </a:solidFill>
            <a:prstDash val="solid"/>
          </a:ln>
        </p:spPr>
      </p:sp>
      <p:sp>
        <p:nvSpPr>
          <p:cNvPr id="4" name="Text 2"/>
          <p:cNvSpPr txBox="1"/>
          <p:nvPr/>
        </p:nvSpPr>
        <p:spPr>
          <a:xfrm>
            <a:off x="457200" y="960120"/>
            <a:ext cx="402336" cy="402336"/>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5" name="Text 3"/>
          <p:cNvSpPr txBox="1"/>
          <p:nvPr/>
        </p:nvSpPr>
        <p:spPr>
          <a:xfrm>
            <a:off x="1005840" y="914400"/>
            <a:ext cx="4480560" cy="530352"/>
          </a:xfrm>
          <a:prstGeom prst="rect">
            <a:avLst/>
          </a:prstGeom>
          <a:noFill/>
          <a:ln/>
        </p:spPr>
        <p:txBody>
          <a:bodyPr wrap="square" lIns="0" tIns="0" rIns="0" bIns="0" rtlCol="0" anchor="ctr"/>
          <a:lstStyle/>
          <a:p>
            <a:pPr indent="0" marL="0">
              <a:buNone/>
            </a:pPr>
            <a:r>
              <a:rPr lang="en-US" sz="1300" b="1" dirty="0">
                <a:solidFill>
                  <a:srgbClr val="0B2E33"/>
                </a:solidFill>
              </a:rPr>
              <a:t>Producer</a:t>
            </a:r>
            <a:endParaRPr lang="en-US" sz="1300" dirty="0"/>
          </a:p>
          <a:p>
            <a:pPr indent="0" marL="0">
              <a:buNone/>
            </a:pPr>
            <a:r>
              <a:rPr lang="en-US" sz="1200" dirty="0">
                <a:solidFill>
                  <a:srgbClr val="1C2B2D"/>
                </a:solidFill>
              </a:rPr>
              <a:t>POST /api/v1/agents (slug, instructions)</a:t>
            </a:r>
            <a:endParaRPr lang="en-US" sz="1300" dirty="0"/>
          </a:p>
        </p:txBody>
      </p:sp>
      <p:sp>
        <p:nvSpPr>
          <p:cNvPr id="6" name="step circle 2"/>
          <p:cNvSpPr/>
          <p:nvPr/>
        </p:nvSpPr>
        <p:spPr>
          <a:xfrm>
            <a:off x="457200" y="1563624"/>
            <a:ext cx="402336" cy="402336"/>
          </a:xfrm>
          <a:prstGeom prst="ellipse">
            <a:avLst/>
          </a:prstGeom>
          <a:solidFill>
            <a:srgbClr val="1B6F6A"/>
          </a:solidFill>
          <a:ln w="12700">
            <a:solidFill>
              <a:srgbClr val="1B6F6A"/>
            </a:solidFill>
            <a:prstDash val="solid"/>
          </a:ln>
        </p:spPr>
      </p:sp>
      <p:sp>
        <p:nvSpPr>
          <p:cNvPr id="7" name="Text 5"/>
          <p:cNvSpPr txBox="1"/>
          <p:nvPr/>
        </p:nvSpPr>
        <p:spPr>
          <a:xfrm>
            <a:off x="457200" y="1563624"/>
            <a:ext cx="402336" cy="402336"/>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8" name="Text 6"/>
          <p:cNvSpPr txBox="1"/>
          <p:nvPr/>
        </p:nvSpPr>
        <p:spPr>
          <a:xfrm>
            <a:off x="1005840" y="1517904"/>
            <a:ext cx="4480560" cy="530352"/>
          </a:xfrm>
          <a:prstGeom prst="rect">
            <a:avLst/>
          </a:prstGeom>
          <a:noFill/>
          <a:ln/>
        </p:spPr>
        <p:txBody>
          <a:bodyPr wrap="square" lIns="0" tIns="0" rIns="0" bIns="0" rtlCol="0" anchor="ctr"/>
          <a:lstStyle/>
          <a:p>
            <a:pPr indent="0" marL="0">
              <a:buNone/>
            </a:pPr>
            <a:r>
              <a:rPr lang="en-US" sz="1300" b="1" dirty="0">
                <a:solidFill>
                  <a:srgbClr val="0B2E33"/>
                </a:solidFill>
              </a:rPr>
              <a:t>Consumer</a:t>
            </a:r>
            <a:endParaRPr lang="en-US" sz="1300" dirty="0"/>
          </a:p>
          <a:p>
            <a:pPr indent="0" marL="0">
              <a:buNone/>
            </a:pPr>
            <a:r>
              <a:rPr lang="en-US" sz="1200" dirty="0">
                <a:solidFill>
                  <a:srgbClr val="1C2B2D"/>
                </a:solidFill>
              </a:rPr>
              <a:t>GET /api/v1/agents</a:t>
            </a:r>
            <a:endParaRPr lang="en-US" sz="1300" dirty="0"/>
          </a:p>
        </p:txBody>
      </p:sp>
      <p:sp>
        <p:nvSpPr>
          <p:cNvPr id="9" name="step circle 3"/>
          <p:cNvSpPr/>
          <p:nvPr/>
        </p:nvSpPr>
        <p:spPr>
          <a:xfrm>
            <a:off x="457200" y="2167128"/>
            <a:ext cx="402336" cy="402336"/>
          </a:xfrm>
          <a:prstGeom prst="ellipse">
            <a:avLst/>
          </a:prstGeom>
          <a:solidFill>
            <a:srgbClr val="1B6F6A"/>
          </a:solidFill>
          <a:ln w="12700">
            <a:solidFill>
              <a:srgbClr val="1B6F6A"/>
            </a:solidFill>
            <a:prstDash val="solid"/>
          </a:ln>
        </p:spPr>
      </p:sp>
      <p:sp>
        <p:nvSpPr>
          <p:cNvPr id="10" name="Text 8"/>
          <p:cNvSpPr txBox="1"/>
          <p:nvPr/>
        </p:nvSpPr>
        <p:spPr>
          <a:xfrm>
            <a:off x="457200" y="2167128"/>
            <a:ext cx="402336" cy="402336"/>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1" name="Text 9"/>
          <p:cNvSpPr txBox="1"/>
          <p:nvPr/>
        </p:nvSpPr>
        <p:spPr>
          <a:xfrm>
            <a:off x="1005840" y="2121408"/>
            <a:ext cx="4480560" cy="530352"/>
          </a:xfrm>
          <a:prstGeom prst="rect">
            <a:avLst/>
          </a:prstGeom>
          <a:noFill/>
          <a:ln/>
        </p:spPr>
        <p:txBody>
          <a:bodyPr wrap="square" lIns="0" tIns="0" rIns="0" bIns="0" rtlCol="0" anchor="ctr"/>
          <a:lstStyle/>
          <a:p>
            <a:pPr indent="0" marL="0">
              <a:buNone/>
            </a:pPr>
            <a:r>
              <a:rPr lang="en-US" sz="1300" b="1" dirty="0">
                <a:solidFill>
                  <a:srgbClr val="0B2E33"/>
                </a:solidFill>
              </a:rPr>
              <a:t>Consumer</a:t>
            </a:r>
            <a:endParaRPr lang="en-US" sz="1300" dirty="0"/>
          </a:p>
          <a:p>
            <a:pPr indent="0" marL="0">
              <a:buNone/>
            </a:pPr>
            <a:r>
              <a:rPr lang="en-US" sz="1200" dirty="0">
                <a:solidFill>
                  <a:srgbClr val="1C2B2D"/>
                </a:solidFill>
              </a:rPr>
              <a:t>POST /api/v1/questions {question, agent}</a:t>
            </a:r>
            <a:endParaRPr lang="en-US" sz="1300" dirty="0"/>
          </a:p>
        </p:txBody>
      </p:sp>
      <p:sp>
        <p:nvSpPr>
          <p:cNvPr id="12" name="step circle 4"/>
          <p:cNvSpPr/>
          <p:nvPr/>
        </p:nvSpPr>
        <p:spPr>
          <a:xfrm>
            <a:off x="457200" y="2770632"/>
            <a:ext cx="402336" cy="402336"/>
          </a:xfrm>
          <a:prstGeom prst="ellipse">
            <a:avLst/>
          </a:prstGeom>
          <a:solidFill>
            <a:srgbClr val="1B6F6A"/>
          </a:solidFill>
          <a:ln w="12700">
            <a:solidFill>
              <a:srgbClr val="1B6F6A"/>
            </a:solidFill>
            <a:prstDash val="solid"/>
          </a:ln>
        </p:spPr>
      </p:sp>
      <p:sp>
        <p:nvSpPr>
          <p:cNvPr id="13" name="Text 11"/>
          <p:cNvSpPr txBox="1"/>
          <p:nvPr/>
        </p:nvSpPr>
        <p:spPr>
          <a:xfrm>
            <a:off x="457200" y="2770632"/>
            <a:ext cx="402336" cy="402336"/>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14" name="Text 12"/>
          <p:cNvSpPr txBox="1"/>
          <p:nvPr/>
        </p:nvSpPr>
        <p:spPr>
          <a:xfrm>
            <a:off x="1005840" y="2724912"/>
            <a:ext cx="4480560" cy="530352"/>
          </a:xfrm>
          <a:prstGeom prst="rect">
            <a:avLst/>
          </a:prstGeom>
          <a:noFill/>
          <a:ln/>
        </p:spPr>
        <p:txBody>
          <a:bodyPr wrap="square" lIns="0" tIns="0" rIns="0" bIns="0" rtlCol="0" anchor="ctr"/>
          <a:lstStyle/>
          <a:p>
            <a:pPr indent="0" marL="0">
              <a:buNone/>
            </a:pPr>
            <a:r>
              <a:rPr lang="en-US" sz="1300" b="1" dirty="0">
                <a:solidFill>
                  <a:srgbClr val="0B2E33"/>
                </a:solidFill>
              </a:rPr>
              <a:t>Platform</a:t>
            </a:r>
            <a:endParaRPr lang="en-US" sz="1300" dirty="0"/>
          </a:p>
          <a:p>
            <a:pPr indent="0" marL="0">
              <a:buNone/>
            </a:pPr>
            <a:r>
              <a:rPr lang="en-US" sz="1200" dirty="0">
                <a:solidFill>
                  <a:srgbClr val="1C2B2D"/>
                </a:solidFill>
              </a:rPr>
              <a:t>Worker claims the intent; lead runs with the agent's instructions</a:t>
            </a:r>
            <a:endParaRPr lang="en-US" sz="1300" dirty="0"/>
          </a:p>
        </p:txBody>
      </p:sp>
      <p:sp>
        <p:nvSpPr>
          <p:cNvPr id="15" name="step circle 5"/>
          <p:cNvSpPr/>
          <p:nvPr/>
        </p:nvSpPr>
        <p:spPr>
          <a:xfrm>
            <a:off x="457200" y="3374136"/>
            <a:ext cx="402336" cy="402336"/>
          </a:xfrm>
          <a:prstGeom prst="ellipse">
            <a:avLst/>
          </a:prstGeom>
          <a:solidFill>
            <a:srgbClr val="1B6F6A"/>
          </a:solidFill>
          <a:ln w="12700">
            <a:solidFill>
              <a:srgbClr val="1B6F6A"/>
            </a:solidFill>
            <a:prstDash val="solid"/>
          </a:ln>
        </p:spPr>
      </p:sp>
      <p:sp>
        <p:nvSpPr>
          <p:cNvPr id="16" name="Text 14"/>
          <p:cNvSpPr txBox="1"/>
          <p:nvPr/>
        </p:nvSpPr>
        <p:spPr>
          <a:xfrm>
            <a:off x="457200" y="3374136"/>
            <a:ext cx="402336" cy="402336"/>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17" name="Text 15"/>
          <p:cNvSpPr txBox="1"/>
          <p:nvPr/>
        </p:nvSpPr>
        <p:spPr>
          <a:xfrm>
            <a:off x="1005840" y="3328416"/>
            <a:ext cx="4480560" cy="530352"/>
          </a:xfrm>
          <a:prstGeom prst="rect">
            <a:avLst/>
          </a:prstGeom>
          <a:noFill/>
          <a:ln/>
        </p:spPr>
        <p:txBody>
          <a:bodyPr wrap="square" lIns="0" tIns="0" rIns="0" bIns="0" rtlCol="0" anchor="ctr"/>
          <a:lstStyle/>
          <a:p>
            <a:pPr indent="0" marL="0">
              <a:buNone/>
            </a:pPr>
            <a:r>
              <a:rPr lang="en-US" sz="1300" b="1" dirty="0">
                <a:solidFill>
                  <a:srgbClr val="0B2E33"/>
                </a:solidFill>
              </a:rPr>
              <a:t>Consumer</a:t>
            </a:r>
            <a:endParaRPr lang="en-US" sz="1300" dirty="0"/>
          </a:p>
          <a:p>
            <a:pPr indent="0" marL="0">
              <a:buNone/>
            </a:pPr>
            <a:r>
              <a:rPr lang="en-US" sz="1200" dirty="0">
                <a:solidFill>
                  <a:srgbClr val="1C2B2D"/>
                </a:solidFill>
              </a:rPr>
              <a:t>GET /api/v1/questions/:id: answer, findings, cost</a:t>
            </a:r>
            <a:endParaRPr lang="en-US" sz="1300" dirty="0"/>
          </a:p>
        </p:txBody>
      </p:sp>
      <p:sp>
        <p:nvSpPr>
          <p:cNvPr id="18" name="step circle 6"/>
          <p:cNvSpPr/>
          <p:nvPr/>
        </p:nvSpPr>
        <p:spPr>
          <a:xfrm>
            <a:off x="457200" y="3977640"/>
            <a:ext cx="402336" cy="402336"/>
          </a:xfrm>
          <a:prstGeom prst="ellipse">
            <a:avLst/>
          </a:prstGeom>
          <a:solidFill>
            <a:srgbClr val="E8A33D"/>
          </a:solidFill>
          <a:ln w="12700">
            <a:solidFill>
              <a:srgbClr val="E8A33D"/>
            </a:solidFill>
            <a:prstDash val="solid"/>
          </a:ln>
        </p:spPr>
      </p:sp>
      <p:sp>
        <p:nvSpPr>
          <p:cNvPr id="19" name="Text 17"/>
          <p:cNvSpPr txBox="1"/>
          <p:nvPr/>
        </p:nvSpPr>
        <p:spPr>
          <a:xfrm>
            <a:off x="457200" y="3977640"/>
            <a:ext cx="402336" cy="402336"/>
          </a:xfrm>
          <a:prstGeom prst="rect">
            <a:avLst/>
          </a:prstGeom>
          <a:noFill/>
          <a:ln/>
        </p:spPr>
        <p:txBody>
          <a:bodyPr wrap="square" lIns="0" tIns="0" rIns="0" bIns="0" rtlCol="0" anchor="ctr"/>
          <a:lstStyle/>
          <a:p>
            <a:pPr algn="ctr" indent="0" marL="0">
              <a:buNone/>
            </a:pPr>
            <a:r>
              <a:rPr lang="en-US" sz="2200" b="1" dirty="0">
                <a:solidFill>
                  <a:srgbClr val="FFFFFF"/>
                </a:solidFill>
              </a:rPr>
              <a:t>6</a:t>
            </a:r>
            <a:endParaRPr lang="en-US" sz="2200" dirty="0"/>
          </a:p>
        </p:txBody>
      </p:sp>
      <p:sp>
        <p:nvSpPr>
          <p:cNvPr id="20" name="Text 18"/>
          <p:cNvSpPr txBox="1"/>
          <p:nvPr/>
        </p:nvSpPr>
        <p:spPr>
          <a:xfrm>
            <a:off x="1005840" y="3931920"/>
            <a:ext cx="4480560" cy="530352"/>
          </a:xfrm>
          <a:prstGeom prst="rect">
            <a:avLst/>
          </a:prstGeom>
          <a:noFill/>
          <a:ln/>
        </p:spPr>
        <p:txBody>
          <a:bodyPr wrap="square" lIns="0" tIns="0" rIns="0" bIns="0" rtlCol="0" anchor="ctr"/>
          <a:lstStyle/>
          <a:p>
            <a:pPr indent="0" marL="0">
              <a:buNone/>
            </a:pPr>
            <a:r>
              <a:rPr lang="en-US" sz="1300" b="1" dirty="0">
                <a:solidFill>
                  <a:srgbClr val="0B2E33"/>
                </a:solidFill>
              </a:rPr>
              <a:t>Producer, operator</a:t>
            </a:r>
            <a:endParaRPr lang="en-US" sz="1300" dirty="0"/>
          </a:p>
          <a:p>
            <a:pPr indent="0" marL="0">
              <a:buNone/>
            </a:pPr>
            <a:r>
              <a:rPr lang="en-US" sz="1200" dirty="0">
                <a:solidFill>
                  <a:srgbClr val="1C2B2D"/>
                </a:solidFill>
              </a:rPr>
              <a:t>GET /api/v1/usage: sessions, cost, median time</a:t>
            </a:r>
            <a:endParaRPr lang="en-US" sz="1300" dirty="0"/>
          </a:p>
        </p:txBody>
      </p:sp>
      <p:sp>
        <p:nvSpPr>
          <p:cNvPr id="21" name="card API keys"/>
          <p:cNvSpPr/>
          <p:nvPr/>
        </p:nvSpPr>
        <p:spPr>
          <a:xfrm>
            <a:off x="5760720" y="914400"/>
            <a:ext cx="2926080" cy="2057400"/>
          </a:xfrm>
          <a:prstGeom prst="roundRect">
            <a:avLst>
              <a:gd name="adj" fmla="val 3556"/>
            </a:avLst>
          </a:prstGeom>
          <a:solidFill>
            <a:srgbClr val="E6F2F0"/>
          </a:solidFill>
          <a:ln w="12700">
            <a:solidFill>
              <a:srgbClr val="E6F2F0"/>
            </a:solidFill>
            <a:prstDash val="solid"/>
          </a:ln>
        </p:spPr>
      </p:sp>
      <p:sp>
        <p:nvSpPr>
          <p:cNvPr id="22" name="card text API keys"/>
          <p:cNvSpPr txBox="1"/>
          <p:nvPr/>
        </p:nvSpPr>
        <p:spPr>
          <a:xfrm>
            <a:off x="5870448" y="987552"/>
            <a:ext cx="2706624" cy="1911096"/>
          </a:xfrm>
          <a:prstGeom prst="rect">
            <a:avLst/>
          </a:prstGeom>
          <a:noFill/>
          <a:ln/>
        </p:spPr>
        <p:txBody>
          <a:bodyPr wrap="square" lIns="0" tIns="0" rIns="0" bIns="0" rtlCol="0" anchor="t"/>
          <a:lstStyle/>
          <a:p>
            <a:pPr indent="0" marL="0">
              <a:spcAft>
                <a:spcPts val="300"/>
              </a:spcAft>
              <a:buNone/>
            </a:pPr>
            <a:r>
              <a:rPr lang="en-US" sz="1400" b="1" dirty="0">
                <a:solidFill>
                  <a:srgbClr val="0B2E33"/>
                </a:solidFill>
              </a:rPr>
              <a:t>API keys</a:t>
            </a:r>
            <a:endParaRPr lang="en-US" sz="1400" dirty="0"/>
          </a:p>
          <a:p>
            <a:pPr indent="0" marL="0">
              <a:spcAft>
                <a:spcPts val="300"/>
              </a:spcAft>
              <a:buNone/>
            </a:pPr>
            <a:r>
              <a:rPr lang="en-US" sz="1200" dirty="0">
                <a:solidFill>
                  <a:srgbClr val="1C2B2D"/>
                </a:solidFill>
              </a:rPr>
              <a:t>lmn_&lt;prefix&gt;_&lt;secret&gt;, shown once, stored as SHA-256. Five scopes. Only on /api/v1. 60 a minute, burst 20, then 429.</a:t>
            </a:r>
            <a:endParaRPr lang="en-US" sz="1400" dirty="0"/>
          </a:p>
        </p:txBody>
      </p:sp>
      <p:sp>
        <p:nvSpPr>
          <p:cNvPr id="23" name="watch stat"/>
          <p:cNvSpPr/>
          <p:nvPr/>
        </p:nvSpPr>
        <p:spPr>
          <a:xfrm>
            <a:off x="5760720" y="3108960"/>
            <a:ext cx="2926080" cy="1463040"/>
          </a:xfrm>
          <a:prstGeom prst="roundRect">
            <a:avLst>
              <a:gd name="adj" fmla="val 5000"/>
            </a:avLst>
          </a:prstGeom>
          <a:solidFill>
            <a:srgbClr val="0B2E33"/>
          </a:solidFill>
          <a:ln w="12700">
            <a:solidFill>
              <a:srgbClr val="0B2E33"/>
            </a:solidFill>
            <a:prstDash val="solid"/>
          </a:ln>
        </p:spPr>
      </p:sp>
      <p:sp>
        <p:nvSpPr>
          <p:cNvPr id="24" name="Text 22"/>
          <p:cNvSpPr txBox="1"/>
          <p:nvPr/>
        </p:nvSpPr>
        <p:spPr>
          <a:xfrm>
            <a:off x="5897880" y="3200400"/>
            <a:ext cx="2651760" cy="1280160"/>
          </a:xfrm>
          <a:prstGeom prst="rect">
            <a:avLst/>
          </a:prstGeom>
          <a:noFill/>
          <a:ln/>
        </p:spPr>
        <p:txBody>
          <a:bodyPr wrap="square" lIns="0" tIns="0" rIns="0" bIns="0" rtlCol="0" anchor="t"/>
          <a:lstStyle/>
          <a:p>
            <a:pPr indent="0" marL="0">
              <a:buNone/>
            </a:pPr>
            <a:r>
              <a:rPr lang="en-US" sz="3000" b="1" dirty="0">
                <a:solidFill>
                  <a:srgbClr val="E8A33D"/>
                </a:solidFill>
              </a:rPr>
              <a:t>~210 lines</a:t>
            </a:r>
            <a:endParaRPr lang="en-US" sz="3000" dirty="0"/>
          </a:p>
          <a:p>
            <a:pPr indent="0" marL="0">
              <a:buNone/>
            </a:pPr>
            <a:r>
              <a:rPr lang="en-US" sz="1200" dirty="0">
                <a:solidFill>
                  <a:srgbClr val="FFFFFF"/>
                </a:solidFill>
              </a:rPr>
              <a:t>The whole literature watch. No database, model, sandbox or billing of its own.</a:t>
            </a:r>
            <a:endParaRPr lang="en-US" sz="3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Key decisions in the physical architecture</a:t>
            </a:r>
            <a:endParaRPr lang="en-US" sz="2600" dirty="0"/>
          </a:p>
        </p:txBody>
      </p:sp>
      <p:sp>
        <p:nvSpPr>
          <p:cNvPr id="3" name="card AD-09 k3s on one EC2, not EKS"/>
          <p:cNvSpPr/>
          <p:nvPr/>
        </p:nvSpPr>
        <p:spPr>
          <a:xfrm>
            <a:off x="457200" y="914400"/>
            <a:ext cx="2651760" cy="1783080"/>
          </a:xfrm>
          <a:prstGeom prst="roundRect">
            <a:avLst>
              <a:gd name="adj" fmla="val 4103"/>
            </a:avLst>
          </a:prstGeom>
          <a:solidFill>
            <a:srgbClr val="FBEFD9"/>
          </a:solidFill>
          <a:ln w="12700">
            <a:solidFill>
              <a:srgbClr val="FBEFD9"/>
            </a:solidFill>
            <a:prstDash val="solid"/>
          </a:ln>
        </p:spPr>
      </p:sp>
      <p:sp>
        <p:nvSpPr>
          <p:cNvPr id="4" name="card text AD-09 k3s on one EC2, not EKS"/>
          <p:cNvSpPr txBox="1"/>
          <p:nvPr/>
        </p:nvSpPr>
        <p:spPr>
          <a:xfrm>
            <a:off x="566928" y="98755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AD-09 k3s on one EC2, not EKS</a:t>
            </a:r>
            <a:endParaRPr lang="en-US" sz="1600" dirty="0"/>
          </a:p>
          <a:p>
            <a:pPr indent="0" marL="0">
              <a:spcAft>
                <a:spcPts val="300"/>
              </a:spcAft>
              <a:buNone/>
            </a:pPr>
            <a:r>
              <a:rPr lang="en-US" sz="1500" dirty="0">
                <a:solidFill>
                  <a:srgbClr val="1C2B2D"/>
                </a:solidFill>
              </a:rPr>
              <a:t>About USD 1.3 a day; same chart on k3d and AWS; one node is one failure domain</a:t>
            </a:r>
            <a:endParaRPr lang="en-US" sz="1600" dirty="0"/>
          </a:p>
        </p:txBody>
      </p:sp>
      <p:sp>
        <p:nvSpPr>
          <p:cNvPr id="5" name="card AD-10 Traefik is the gateway"/>
          <p:cNvSpPr/>
          <p:nvPr/>
        </p:nvSpPr>
        <p:spPr>
          <a:xfrm>
            <a:off x="3246120" y="914400"/>
            <a:ext cx="2651760" cy="1783080"/>
          </a:xfrm>
          <a:prstGeom prst="roundRect">
            <a:avLst>
              <a:gd name="adj" fmla="val 4103"/>
            </a:avLst>
          </a:prstGeom>
          <a:solidFill>
            <a:srgbClr val="E6F2F0"/>
          </a:solidFill>
          <a:ln w="12700">
            <a:solidFill>
              <a:srgbClr val="E6F2F0"/>
            </a:solidFill>
            <a:prstDash val="solid"/>
          </a:ln>
        </p:spPr>
      </p:sp>
      <p:sp>
        <p:nvSpPr>
          <p:cNvPr id="6" name="card text AD-10 Traefik is the gateway"/>
          <p:cNvSpPr txBox="1"/>
          <p:nvPr/>
        </p:nvSpPr>
        <p:spPr>
          <a:xfrm>
            <a:off x="3355848" y="98755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AD-10 Traefik is the gateway</a:t>
            </a:r>
            <a:endParaRPr lang="en-US" sz="1600" dirty="0"/>
          </a:p>
          <a:p>
            <a:pPr indent="0" marL="0">
              <a:spcAft>
                <a:spcPts val="300"/>
              </a:spcAft>
              <a:buNone/>
            </a:pPr>
            <a:r>
              <a:rPr lang="en-US" sz="1500" dirty="0">
                <a:solidFill>
                  <a:srgbClr val="1C2B2D"/>
                </a:solidFill>
              </a:rPr>
              <a:t>Path routing, TLS, /api/auth rate limit; no gateway service</a:t>
            </a:r>
            <a:endParaRPr lang="en-US" sz="1600" dirty="0"/>
          </a:p>
        </p:txBody>
      </p:sp>
      <p:sp>
        <p:nvSpPr>
          <p:cNvPr id="7" name="card AD-11 Two autoscalers"/>
          <p:cNvSpPr/>
          <p:nvPr/>
        </p:nvSpPr>
        <p:spPr>
          <a:xfrm>
            <a:off x="6035040" y="914400"/>
            <a:ext cx="2651760" cy="1783080"/>
          </a:xfrm>
          <a:prstGeom prst="roundRect">
            <a:avLst>
              <a:gd name="adj" fmla="val 4103"/>
            </a:avLst>
          </a:prstGeom>
          <a:solidFill>
            <a:srgbClr val="E6F2F0"/>
          </a:solidFill>
          <a:ln w="12700">
            <a:solidFill>
              <a:srgbClr val="E6F2F0"/>
            </a:solidFill>
            <a:prstDash val="solid"/>
          </a:ln>
        </p:spPr>
      </p:sp>
      <p:sp>
        <p:nvSpPr>
          <p:cNvPr id="8" name="card text AD-11 Two autoscalers"/>
          <p:cNvSpPr txBox="1"/>
          <p:nvPr/>
        </p:nvSpPr>
        <p:spPr>
          <a:xfrm>
            <a:off x="6144768" y="98755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AD-11 Two autoscalers</a:t>
            </a:r>
            <a:endParaRPr lang="en-US" sz="1600" dirty="0"/>
          </a:p>
          <a:p>
            <a:pPr indent="0" marL="0">
              <a:spcAft>
                <a:spcPts val="300"/>
              </a:spcAft>
              <a:buNone/>
            </a:pPr>
            <a:r>
              <a:rPr lang="en-US" sz="1500" dirty="0">
                <a:solidFill>
                  <a:srgbClr val="1C2B2D"/>
                </a:solidFill>
              </a:rPr>
              <a:t>HPA on CPU for identity, project, billing; KEDA on queue length for worker</a:t>
            </a:r>
            <a:endParaRPr lang="en-US" sz="1600" dirty="0"/>
          </a:p>
        </p:txBody>
      </p:sp>
      <p:sp>
        <p:nvSpPr>
          <p:cNvPr id="9" name="card AD-12 No image registry"/>
          <p:cNvSpPr/>
          <p:nvPr/>
        </p:nvSpPr>
        <p:spPr>
          <a:xfrm>
            <a:off x="457200" y="2834640"/>
            <a:ext cx="2651760" cy="1783080"/>
          </a:xfrm>
          <a:prstGeom prst="roundRect">
            <a:avLst>
              <a:gd name="adj" fmla="val 4103"/>
            </a:avLst>
          </a:prstGeom>
          <a:solidFill>
            <a:srgbClr val="E6F2F0"/>
          </a:solidFill>
          <a:ln w="12700">
            <a:solidFill>
              <a:srgbClr val="E6F2F0"/>
            </a:solidFill>
            <a:prstDash val="solid"/>
          </a:ln>
        </p:spPr>
      </p:sp>
      <p:sp>
        <p:nvSpPr>
          <p:cNvPr id="10" name="card text AD-12 No image registry"/>
          <p:cNvSpPr txBox="1"/>
          <p:nvPr/>
        </p:nvSpPr>
        <p:spPr>
          <a:xfrm>
            <a:off x="566928" y="290779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AD-12 No image registry</a:t>
            </a:r>
            <a:endParaRPr lang="en-US" sz="1600" dirty="0"/>
          </a:p>
          <a:p>
            <a:pPr indent="0" marL="0">
              <a:spcAft>
                <a:spcPts val="300"/>
              </a:spcAft>
              <a:buNone/>
            </a:pPr>
            <a:r>
              <a:rPr lang="en-US" sz="1500" dirty="0">
                <a:solidFill>
                  <a:srgbClr val="1C2B2D"/>
                </a:solidFill>
              </a:rPr>
              <a:t>Image tagged with the commit SHA, copied by scp, imported into k3s</a:t>
            </a:r>
            <a:endParaRPr lang="en-US" sz="1600" dirty="0"/>
          </a:p>
        </p:txBody>
      </p:sp>
      <p:sp>
        <p:nvSpPr>
          <p:cNvPr id="11" name="card AD-13 Secrets made in the cluster"/>
          <p:cNvSpPr/>
          <p:nvPr/>
        </p:nvSpPr>
        <p:spPr>
          <a:xfrm>
            <a:off x="3246120" y="2834640"/>
            <a:ext cx="2651760" cy="1783080"/>
          </a:xfrm>
          <a:prstGeom prst="roundRect">
            <a:avLst>
              <a:gd name="adj" fmla="val 4103"/>
            </a:avLst>
          </a:prstGeom>
          <a:solidFill>
            <a:srgbClr val="E6F2F0"/>
          </a:solidFill>
          <a:ln w="12700">
            <a:solidFill>
              <a:srgbClr val="E6F2F0"/>
            </a:solidFill>
            <a:prstDash val="solid"/>
          </a:ln>
        </p:spPr>
      </p:sp>
      <p:sp>
        <p:nvSpPr>
          <p:cNvPr id="12" name="card text AD-13 Secrets made in the cluster"/>
          <p:cNvSpPr txBox="1"/>
          <p:nvPr/>
        </p:nvSpPr>
        <p:spPr>
          <a:xfrm>
            <a:off x="3355848" y="290779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AD-13 Secrets made in the cluster</a:t>
            </a:r>
            <a:endParaRPr lang="en-US" sz="1600" dirty="0"/>
          </a:p>
          <a:p>
            <a:pPr indent="0" marL="0">
              <a:spcAft>
                <a:spcPts val="300"/>
              </a:spcAft>
              <a:buNone/>
            </a:pPr>
            <a:r>
              <a:rPr lang="en-US" sz="1500" dirty="0">
                <a:solidFill>
                  <a:srgbClr val="1C2B2D"/>
                </a:solidFill>
              </a:rPr>
              <a:t>DB, RabbitMQ and internal keys never leave the cluster</a:t>
            </a:r>
            <a:endParaRPr lang="en-US" sz="1600" dirty="0"/>
          </a:p>
        </p:txBody>
      </p:sp>
      <p:sp>
        <p:nvSpPr>
          <p:cNvPr id="13" name="card AD-14 sslip.io + Let's Encrypt"/>
          <p:cNvSpPr/>
          <p:nvPr/>
        </p:nvSpPr>
        <p:spPr>
          <a:xfrm>
            <a:off x="6035040" y="2834640"/>
            <a:ext cx="2651760" cy="1783080"/>
          </a:xfrm>
          <a:prstGeom prst="roundRect">
            <a:avLst>
              <a:gd name="adj" fmla="val 4103"/>
            </a:avLst>
          </a:prstGeom>
          <a:solidFill>
            <a:srgbClr val="E6F2F0"/>
          </a:solidFill>
          <a:ln w="12700">
            <a:solidFill>
              <a:srgbClr val="E6F2F0"/>
            </a:solidFill>
            <a:prstDash val="solid"/>
          </a:ln>
        </p:spPr>
      </p:sp>
      <p:sp>
        <p:nvSpPr>
          <p:cNvPr id="14" name="card text AD-14 sslip.io + Let's Encrypt"/>
          <p:cNvSpPr txBox="1"/>
          <p:nvPr/>
        </p:nvSpPr>
        <p:spPr>
          <a:xfrm>
            <a:off x="6144768" y="290779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AD-14 sslip.io + Let's Encrypt</a:t>
            </a:r>
            <a:endParaRPr lang="en-US" sz="1600" dirty="0"/>
          </a:p>
          <a:p>
            <a:pPr indent="0" marL="0">
              <a:spcAft>
                <a:spcPts val="300"/>
              </a:spcAft>
              <a:buNone/>
            </a:pPr>
            <a:r>
              <a:rPr lang="en-US" sz="1500" dirty="0">
                <a:solidFill>
                  <a:srgbClr val="1C2B2D"/>
                </a:solidFill>
              </a:rPr>
              <a:t>Real certificate, stable name, no domain to buy</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Physical deployment on AWS ap-southeast-1</a:t>
            </a:r>
            <a:endParaRPr lang="en-US" sz="2600" dirty="0"/>
          </a:p>
        </p:txBody>
      </p:sp>
      <p:pic>
        <p:nvPicPr>
          <p:cNvPr id="3" name="Physical deployment diagram" descr="Physical deployment diagram">    </p:cNvPr>
          <p:cNvPicPr>
            <a:picLocks noChangeAspect="1"/>
          </p:cNvPicPr>
          <p:nvPr/>
        </p:nvPicPr>
        <p:blipFill>
          <a:blip r:embed="rId1"/>
          <a:stretch>
            <a:fillRect/>
          </a:stretch>
        </p:blipFill>
        <p:spPr>
          <a:xfrm>
            <a:off x="365760" y="869604"/>
            <a:ext cx="8412480" cy="3930073"/>
          </a:xfrm>
          <a:prstGeom prst="rect">
            <a:avLst/>
          </a:prstGeom>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Persistence design</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377440"/>
                <a:gridCol w="1737360"/>
                <a:gridCol w="411480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Data group</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Store</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Key controls</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1B6F6A"/>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Accounts, auth sessions</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PostgreSQL</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scrypt hashes; HTTP-only cookie; Origin check</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API keys</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PostgreSQL</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SHA-256 of the key only; scopes; revoke</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Agents, question intents</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PostgreSQL</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Withdrawn, never deleted; claim with SKIP LOCKED</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Sessions, tasks, steps, findings</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PostgreSQL</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Owner or staff only; JSONB step detail</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Wallet, ledger, approvals</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PostgreSQL</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numeric(12,6); approval outbox with a lease</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Turns and steers</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RabbitMQ</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Durable, persistent, acknowledged after /done</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3F8F7"/>
                    </a:solidFill>
                  </a:tcPr>
                </a:tc>
              </a:tr>
              <a:tr h="0">
                <a:tc>
                  <a:txBody>
                    <a:bodyPr/>
                    <a:lstStyle/>
                    <a:p>
                      <a:pPr indent="0" marL="0">
                        <a:buNone/>
                      </a:pPr>
                      <a:r>
                        <a:rPr lang="en-US" sz="1200" dirty="0">
                          <a:solidFill>
                            <a:srgbClr val="1C2B2D"/>
                          </a:solidFill>
                          <a:latin typeface="Arial" pitchFamily="34" charset="0"/>
                          <a:ea typeface="Arial" pitchFamily="34" charset="-122"/>
                          <a:cs typeface="Arial" pitchFamily="34" charset="-120"/>
                        </a:rPr>
                        <a:t>Project files</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PVC 2Gi, ReadWriteOnce</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c>
                  <a:txBody>
                    <a:bodyPr/>
                    <a:lstStyle/>
                    <a:p>
                      <a:pPr indent="0" marL="0">
                        <a:buNone/>
                      </a:pPr>
                      <a:r>
                        <a:rPr lang="en-US" sz="1200" dirty="0">
                          <a:solidFill>
                            <a:srgbClr val="1C2B2D"/>
                          </a:solidFill>
                          <a:latin typeface="Arial" pitchFamily="34" charset="0"/>
                          <a:ea typeface="Arial" pitchFamily="34" charset="-122"/>
                          <a:cs typeface="Arial" pitchFamily="34" charset="-120"/>
                        </a:rPr>
                        <a:t>One node only; EFS or S3 on EKS</a:t>
                      </a:r>
                      <a:endParaRPr lang="en-US" sz="1200" dirty="0">
                        <a:latin typeface="Arial" charset="0"/>
                        <a:ea typeface="Arial" charset="0"/>
                        <a:cs typeface="Arial" charset="0"/>
                      </a:endParaRPr>
                    </a:p>
                  </a:txBody>
                  <a:tcPr marL="63500" marR="63500" marT="38100" marB="38100" anchor="ctr">
                    <a:lnL w="6350" cap="flat" cmpd="sng" algn="ctr">
                      <a:solidFill>
                        <a:srgbClr val="D5E3E1"/>
                      </a:solidFill>
                      <a:prstDash val="solid"/>
                      <a:round/>
                      <a:headEnd type="none" w="med" len="med"/>
                      <a:tailEnd type="none" w="med" len="med"/>
                    </a:lnL>
                    <a:lnR w="6350" cap="flat" cmpd="sng" algn="ctr">
                      <a:solidFill>
                        <a:srgbClr val="D5E3E1"/>
                      </a:solidFill>
                      <a:prstDash val="solid"/>
                      <a:round/>
                      <a:headEnd type="none" w="med" len="med"/>
                      <a:tailEnd type="none" w="med" len="med"/>
                    </a:lnR>
                    <a:lnT w="6350" cap="flat" cmpd="sng" algn="ctr">
                      <a:solidFill>
                        <a:srgbClr val="D5E3E1"/>
                      </a:solidFill>
                      <a:prstDash val="solid"/>
                      <a:round/>
                      <a:headEnd type="none" w="med" len="med"/>
                      <a:tailEnd type="none" w="med" len="med"/>
                    </a:lnT>
                    <a:lnB w="6350" cap="flat" cmpd="sng" algn="ctr">
                      <a:solidFill>
                        <a:srgbClr val="D5E3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Use case: one question with a chosen agent</a:t>
            </a:r>
            <a:endParaRPr lang="en-US" sz="2600" dirty="0"/>
          </a:p>
        </p:txBody>
      </p:sp>
      <p:pic>
        <p:nvPicPr>
          <p:cNvPr id="3" name="Sequence diagram of one question" descr="Sequence diagram of one question">    </p:cNvPr>
          <p:cNvPicPr>
            <a:picLocks noChangeAspect="1"/>
          </p:cNvPicPr>
          <p:nvPr/>
        </p:nvPicPr>
        <p:blipFill>
          <a:blip r:embed="rId1"/>
          <a:stretch>
            <a:fillRect/>
          </a:stretch>
        </p:blipFill>
        <p:spPr>
          <a:xfrm>
            <a:off x="365760" y="921702"/>
            <a:ext cx="5029200" cy="3825875"/>
          </a:xfrm>
          <a:prstGeom prst="rect">
            <a:avLst/>
          </a:prstGeom>
        </p:spPr>
      </p:pic>
      <p:sp>
        <p:nvSpPr>
          <p:cNvPr id="4" name="Text 1"/>
          <p:cNvSpPr txBox="1"/>
          <p:nvPr/>
        </p:nvSpPr>
        <p:spPr>
          <a:xfrm>
            <a:off x="5577840" y="914400"/>
            <a:ext cx="3108960" cy="3840480"/>
          </a:xfrm>
          <a:prstGeom prst="rect">
            <a:avLst/>
          </a:prstGeom>
          <a:noFill/>
          <a:ln/>
        </p:spPr>
        <p:txBody>
          <a:bodyPr wrap="square" lIns="0" tIns="0" rIns="0" bIns="0" rtlCol="0" anchor="t"/>
          <a:lstStyle/>
          <a:p>
            <a:pPr indent="0" marL="0">
              <a:spcAft>
                <a:spcPts val="500"/>
              </a:spcAft>
              <a:buNone/>
            </a:pPr>
            <a:r>
              <a:rPr lang="en-US" sz="1400" b="1" dirty="0">
                <a:solidFill>
                  <a:srgbClr val="1B6F6A"/>
                </a:solidFill>
              </a:rPr>
              <a:t>Through the API</a:t>
            </a:r>
            <a:endParaRPr lang="en-US" sz="1300" dirty="0"/>
          </a:p>
          <a:p>
            <a:pPr marL="177800" indent="-177800">
              <a:spcAft>
                <a:spcPts val="500"/>
              </a:spcAft>
              <a:buSzPct val="100000"/>
              <a:buChar char="•"/>
            </a:pPr>
            <a:r>
              <a:rPr lang="en-US" sz="1300" dirty="0">
                <a:solidFill>
                  <a:srgbClr val="1C2B2D"/>
                </a:solidFill>
              </a:rPr>
              <a:t>keyGuard checks key, rate, scope</a:t>
            </a:r>
            <a:endParaRPr lang="en-US" sz="1300" dirty="0"/>
          </a:p>
          <a:p>
            <a:pPr marL="177800" indent="-177800">
              <a:spcAft>
                <a:spcPts val="500"/>
              </a:spcAft>
              <a:buSzPct val="100000"/>
              <a:buChar char="•"/>
            </a:pPr>
            <a:r>
              <a:rPr lang="en-US" sz="1300" dirty="0">
                <a:solidFill>
                  <a:srgbClr val="1C2B2D"/>
                </a:solidFill>
              </a:rPr>
              <a:t>askRoutes writes the intent, then injects POST /api/projects</a:t>
            </a:r>
            <a:endParaRPr lang="en-US" sz="1300" dirty="0"/>
          </a:p>
          <a:p>
            <a:pPr marL="177800" indent="-177800">
              <a:spcAft>
                <a:spcPts val="500"/>
              </a:spcAft>
              <a:buSzPct val="100000"/>
              <a:buChar char="•"/>
            </a:pPr>
            <a:r>
              <a:rPr lang="en-US" sz="1300" dirty="0">
                <a:solidFill>
                  <a:srgbClr val="1C2B2D"/>
                </a:solidFill>
              </a:rPr>
              <a:t>QueueWorker publishes the root turn on lumen.turns.0</a:t>
            </a:r>
            <a:endParaRPr lang="en-US" sz="1300" dirty="0"/>
          </a:p>
          <a:p>
            <a:pPr marL="177800" indent="-177800">
              <a:spcAft>
                <a:spcPts val="500"/>
              </a:spcAft>
              <a:buSzPct val="100000"/>
              <a:buChar char="•"/>
            </a:pPr>
            <a:r>
              <a:rPr lang="en-US" sz="1300" dirty="0">
                <a:solidFill>
                  <a:srgbClr val="1C2B2D"/>
                </a:solidFill>
              </a:rPr>
              <a:t>Worker claims the intent; RemoteReport sends each step to session</a:t>
            </a:r>
            <a:endParaRPr lang="en-US" sz="1300" dirty="0"/>
          </a:p>
          <a:p>
            <a:pPr marL="177800" indent="-177800">
              <a:spcAft>
                <a:spcPts val="500"/>
              </a:spcAft>
              <a:buSzPct val="100000"/>
              <a:buChar char="•"/>
            </a:pPr>
            <a:r>
              <a:rPr lang="en-US" sz="1300" dirty="0">
                <a:solidFill>
                  <a:srgbClr val="1C2B2D"/>
                </a:solidFill>
              </a:rPr>
              <a:t>delegate puts 3 readers on lumen.turns.1: any pod takes them</a:t>
            </a:r>
            <a:endParaRPr lang="en-US" sz="1300" dirty="0"/>
          </a:p>
          <a:p>
            <a:pPr marL="177800" indent="-177800">
              <a:spcAft>
                <a:spcPts val="500"/>
              </a:spcAft>
              <a:buSzPct val="100000"/>
              <a:buChar char="•"/>
            </a:pPr>
            <a:r>
              <a:rPr lang="en-US" sz="1300" dirty="0">
                <a:solidFill>
                  <a:srgbClr val="1C2B2D"/>
                </a:solidFill>
              </a:rPr>
              <a:t>GET /api/v1/questions/:id returns answer and cost</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Source control and the DevSecOps pipeline</a:t>
            </a:r>
            <a:endParaRPr lang="en-US" sz="2600" dirty="0"/>
          </a:p>
        </p:txBody>
      </p:sp>
      <p:sp>
        <p:nvSpPr>
          <p:cNvPr id="3" name="Text 1"/>
          <p:cNvSpPr txBox="1"/>
          <p:nvPr/>
        </p:nvSpPr>
        <p:spPr>
          <a:xfrm>
            <a:off x="457200" y="914400"/>
            <a:ext cx="2743200" cy="3749040"/>
          </a:xfrm>
          <a:prstGeom prst="rect">
            <a:avLst/>
          </a:prstGeom>
          <a:noFill/>
          <a:ln/>
        </p:spPr>
        <p:txBody>
          <a:bodyPr wrap="square" lIns="0" tIns="0" rIns="0" bIns="0" rtlCol="0" anchor="t"/>
          <a:lstStyle/>
          <a:p>
            <a:pPr indent="0" marL="0">
              <a:spcAft>
                <a:spcPts val="500"/>
              </a:spcAft>
              <a:buNone/>
            </a:pPr>
            <a:r>
              <a:rPr lang="en-US" sz="1400" b="1" dirty="0">
                <a:solidFill>
                  <a:srgbClr val="1B6F6A"/>
                </a:solidFill>
              </a:rPr>
              <a:t>Branches</a:t>
            </a:r>
            <a:endParaRPr lang="en-US" sz="1300" dirty="0"/>
          </a:p>
          <a:p>
            <a:pPr marL="177800" indent="-177800">
              <a:spcAft>
                <a:spcPts val="500"/>
              </a:spcAft>
              <a:buSzPct val="100000"/>
              <a:buChar char="•"/>
            </a:pPr>
            <a:r>
              <a:rPr lang="en-US" sz="1300" dirty="0">
                <a:solidFill>
                  <a:srgbClr val="1C2B2D"/>
                </a:solidFill>
              </a:rPr>
              <a:t>main: the monolith, kept green</a:t>
            </a:r>
            <a:endParaRPr lang="en-US" sz="1300" dirty="0"/>
          </a:p>
          <a:p>
            <a:pPr marL="177800" indent="-177800">
              <a:spcAft>
                <a:spcPts val="500"/>
              </a:spcAft>
              <a:buSzPct val="100000"/>
              <a:buChar char="•"/>
            </a:pPr>
            <a:r>
              <a:rPr lang="en-US" sz="1300" dirty="0">
                <a:solidFill>
                  <a:srgbClr val="1C2B2D"/>
                </a:solidFill>
              </a:rPr>
              <a:t>ass/platform: integration; a merge is a deploy</a:t>
            </a:r>
            <a:endParaRPr lang="en-US" sz="1300" dirty="0"/>
          </a:p>
          <a:p>
            <a:pPr marL="177800" indent="-177800">
              <a:spcAft>
                <a:spcPts val="500"/>
              </a:spcAft>
              <a:buSzPct val="100000"/>
              <a:buChar char="•"/>
            </a:pPr>
            <a:r>
              <a:rPr lang="en-US" sz="1300" dirty="0">
                <a:solidFill>
                  <a:srgbClr val="1C2B2D"/>
                </a:solidFill>
              </a:rPr>
              <a:t>One branch and one PR per member</a:t>
            </a:r>
            <a:endParaRPr lang="en-US" sz="1300" dirty="0"/>
          </a:p>
          <a:p>
            <a:pPr indent="0" marL="0">
              <a:spcAft>
                <a:spcPts val="500"/>
              </a:spcAft>
              <a:buNone/>
            </a:pPr>
            <a:r>
              <a:rPr lang="en-US" sz="1400" b="1" dirty="0">
                <a:solidFill>
                  <a:srgbClr val="1B6F6A"/>
                </a:solidFill>
              </a:rPr>
              <a:t>Artefacts</a:t>
            </a:r>
            <a:endParaRPr lang="en-US" sz="1300" dirty="0"/>
          </a:p>
          <a:p>
            <a:pPr marL="177800" indent="-177800">
              <a:spcAft>
                <a:spcPts val="500"/>
              </a:spcAft>
              <a:buSzPct val="100000"/>
              <a:buChar char="•"/>
            </a:pPr>
            <a:r>
              <a:rPr lang="en-US" sz="1300" dirty="0">
                <a:solidFill>
                  <a:srgbClr val="1C2B2D"/>
                </a:solidFill>
              </a:rPr>
              <a:t>Image lumen-next:&lt;commit sha&gt;</a:t>
            </a:r>
            <a:endParaRPr lang="en-US" sz="1300" dirty="0"/>
          </a:p>
          <a:p>
            <a:pPr marL="177800" indent="-177800">
              <a:spcAft>
                <a:spcPts val="500"/>
              </a:spcAft>
              <a:buSzPct val="100000"/>
              <a:buChar char="•"/>
            </a:pPr>
            <a:r>
              <a:rPr lang="en-US" sz="1300" dirty="0">
                <a:solidFill>
                  <a:srgbClr val="1C2B2D"/>
                </a:solidFill>
              </a:rPr>
              <a:t>CodeQL, Trivy, ZAP, k6 reports kept per run</a:t>
            </a:r>
            <a:endParaRPr lang="en-US" sz="1300" dirty="0"/>
          </a:p>
        </p:txBody>
      </p:sp>
      <p:pic>
        <p:nvPicPr>
          <p:cNvPr id="4" name="CI/CD pipeline diagram" descr="CI/CD pipeline diagram">    </p:cNvPr>
          <p:cNvPicPr>
            <a:picLocks noChangeAspect="1"/>
          </p:cNvPicPr>
          <p:nvPr/>
        </p:nvPicPr>
        <p:blipFill>
          <a:blip r:embed="rId1"/>
          <a:stretch>
            <a:fillRect/>
          </a:stretch>
        </p:blipFill>
        <p:spPr>
          <a:xfrm>
            <a:off x="3291840" y="1422670"/>
            <a:ext cx="5394960" cy="2778221"/>
          </a:xfrm>
          <a:prstGeom prst="rect">
            <a:avLst/>
          </a:prstGeom>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66928"/>
          </a:xfrm>
          <a:prstGeom prst="rect">
            <a:avLst/>
          </a:prstGeom>
          <a:noFill/>
          <a:ln/>
        </p:spPr>
        <p:txBody>
          <a:bodyPr wrap="square" lIns="0" tIns="0" rIns="0" bIns="0" rtlCol="0" anchor="ctr"/>
          <a:lstStyle/>
          <a:p>
            <a:pPr indent="0" marL="0">
              <a:buNone/>
            </a:pPr>
            <a:r>
              <a:rPr lang="en-US" sz="2600" b="1" dirty="0">
                <a:solidFill>
                  <a:srgbClr val="0B2E33"/>
                </a:solidFill>
              </a:rPr>
              <a:t>Technical findings and issues</a:t>
            </a:r>
            <a:endParaRPr lang="en-US" sz="2600" dirty="0"/>
          </a:p>
        </p:txBody>
      </p:sp>
      <p:sp>
        <p:nvSpPr>
          <p:cNvPr id="3" name="card Deadlock with one queue"/>
          <p:cNvSpPr/>
          <p:nvPr/>
        </p:nvSpPr>
        <p:spPr>
          <a:xfrm>
            <a:off x="457200" y="914400"/>
            <a:ext cx="2651760" cy="1783080"/>
          </a:xfrm>
          <a:prstGeom prst="roundRect">
            <a:avLst>
              <a:gd name="adj" fmla="val 4103"/>
            </a:avLst>
          </a:prstGeom>
          <a:solidFill>
            <a:srgbClr val="E6F2F0"/>
          </a:solidFill>
          <a:ln w="12700">
            <a:solidFill>
              <a:srgbClr val="E6F2F0"/>
            </a:solidFill>
            <a:prstDash val="solid"/>
          </a:ln>
        </p:spPr>
      </p:sp>
      <p:sp>
        <p:nvSpPr>
          <p:cNvPr id="4" name="card text Deadlock with one queue"/>
          <p:cNvSpPr txBox="1"/>
          <p:nvPr/>
        </p:nvSpPr>
        <p:spPr>
          <a:xfrm>
            <a:off x="566928" y="98755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Deadlock with one queue</a:t>
            </a:r>
            <a:endParaRPr lang="en-US" sz="1600" dirty="0"/>
          </a:p>
          <a:p>
            <a:pPr indent="0" marL="0">
              <a:spcAft>
                <a:spcPts val="300"/>
              </a:spcAft>
              <a:buNone/>
            </a:pPr>
            <a:r>
              <a:rPr lang="en-US" sz="1400" dirty="0">
                <a:solidFill>
                  <a:srgbClr val="1C2B2D"/>
                </a:solidFill>
              </a:rPr>
              <a:t>Waiting parents held every slot. Fix: one queue per depth.</a:t>
            </a:r>
            <a:endParaRPr lang="en-US" sz="1600" dirty="0"/>
          </a:p>
        </p:txBody>
      </p:sp>
      <p:sp>
        <p:nvSpPr>
          <p:cNvPr id="5" name="card Agent choice races the turn"/>
          <p:cNvSpPr/>
          <p:nvPr/>
        </p:nvSpPr>
        <p:spPr>
          <a:xfrm>
            <a:off x="3246120" y="914400"/>
            <a:ext cx="2651760" cy="1783080"/>
          </a:xfrm>
          <a:prstGeom prst="roundRect">
            <a:avLst>
              <a:gd name="adj" fmla="val 4103"/>
            </a:avLst>
          </a:prstGeom>
          <a:solidFill>
            <a:srgbClr val="E6F2F0"/>
          </a:solidFill>
          <a:ln w="12700">
            <a:solidFill>
              <a:srgbClr val="E6F2F0"/>
            </a:solidFill>
            <a:prstDash val="solid"/>
          </a:ln>
        </p:spPr>
      </p:sp>
      <p:sp>
        <p:nvSpPr>
          <p:cNvPr id="6" name="card text Agent choice races the turn"/>
          <p:cNvSpPr txBox="1"/>
          <p:nvPr/>
        </p:nvSpPr>
        <p:spPr>
          <a:xfrm>
            <a:off x="3355848" y="98755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Agent choice races the turn</a:t>
            </a:r>
            <a:endParaRPr lang="en-US" sz="1600" dirty="0"/>
          </a:p>
          <a:p>
            <a:pPr indent="0" marL="0">
              <a:spcAft>
                <a:spcPts val="300"/>
              </a:spcAft>
              <a:buNone/>
            </a:pPr>
            <a:r>
              <a:rPr lang="en-US" sz="1400" dirty="0">
                <a:solidFill>
                  <a:srgbClr val="1C2B2D"/>
                </a:solidFill>
              </a:rPr>
              <a:t>The root turn can start before the API call returns. Fix: intent row first.</a:t>
            </a:r>
            <a:endParaRPr lang="en-US" sz="1600" dirty="0"/>
          </a:p>
        </p:txBody>
      </p:sp>
      <p:sp>
        <p:nvSpPr>
          <p:cNvPr id="7" name="card KEDA waits 300 s to scale in"/>
          <p:cNvSpPr/>
          <p:nvPr/>
        </p:nvSpPr>
        <p:spPr>
          <a:xfrm>
            <a:off x="6035040" y="914400"/>
            <a:ext cx="2651760" cy="1783080"/>
          </a:xfrm>
          <a:prstGeom prst="roundRect">
            <a:avLst>
              <a:gd name="adj" fmla="val 4103"/>
            </a:avLst>
          </a:prstGeom>
          <a:solidFill>
            <a:srgbClr val="E6F2F0"/>
          </a:solidFill>
          <a:ln w="12700">
            <a:solidFill>
              <a:srgbClr val="E6F2F0"/>
            </a:solidFill>
            <a:prstDash val="solid"/>
          </a:ln>
        </p:spPr>
      </p:sp>
      <p:sp>
        <p:nvSpPr>
          <p:cNvPr id="8" name="card text KEDA waits 300 s to scale in"/>
          <p:cNvSpPr txBox="1"/>
          <p:nvPr/>
        </p:nvSpPr>
        <p:spPr>
          <a:xfrm>
            <a:off x="6144768" y="98755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KEDA waits 300 s to scale in</a:t>
            </a:r>
            <a:endParaRPr lang="en-US" sz="1600" dirty="0"/>
          </a:p>
          <a:p>
            <a:pPr indent="0" marL="0">
              <a:spcAft>
                <a:spcPts val="300"/>
              </a:spcAft>
              <a:buNone/>
            </a:pPr>
            <a:r>
              <a:rPr lang="en-US" sz="1400" dirty="0">
                <a:solidFill>
                  <a:srgbClr val="1C2B2D"/>
                </a:solidFill>
              </a:rPr>
              <a:t>Chart sets a 60 s window, so the demo shows scale-in.</a:t>
            </a:r>
            <a:endParaRPr lang="en-US" sz="1600" dirty="0"/>
          </a:p>
        </p:txBody>
      </p:sp>
      <p:sp>
        <p:nvSpPr>
          <p:cNvPr id="9" name="card Image scan stopped a deploy"/>
          <p:cNvSpPr/>
          <p:nvPr/>
        </p:nvSpPr>
        <p:spPr>
          <a:xfrm>
            <a:off x="457200" y="2834640"/>
            <a:ext cx="2651760" cy="1783080"/>
          </a:xfrm>
          <a:prstGeom prst="roundRect">
            <a:avLst>
              <a:gd name="adj" fmla="val 4103"/>
            </a:avLst>
          </a:prstGeom>
          <a:solidFill>
            <a:srgbClr val="FBEFD9"/>
          </a:solidFill>
          <a:ln w="12700">
            <a:solidFill>
              <a:srgbClr val="FBEFD9"/>
            </a:solidFill>
            <a:prstDash val="solid"/>
          </a:ln>
        </p:spPr>
      </p:sp>
      <p:sp>
        <p:nvSpPr>
          <p:cNvPr id="10" name="card text Image scan stopped a deploy"/>
          <p:cNvSpPr txBox="1"/>
          <p:nvPr/>
        </p:nvSpPr>
        <p:spPr>
          <a:xfrm>
            <a:off x="566928" y="290779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Image scan stopped a deploy</a:t>
            </a:r>
            <a:endParaRPr lang="en-US" sz="1600" dirty="0"/>
          </a:p>
          <a:p>
            <a:pPr indent="0" marL="0">
              <a:spcAft>
                <a:spcPts val="300"/>
              </a:spcAft>
              <a:buNone/>
            </a:pPr>
            <a:r>
              <a:rPr lang="en-US" sz="1400" dirty="0">
                <a:solidFill>
                  <a:srgbClr val="1C2B2D"/>
                </a:solidFill>
              </a:rPr>
              <a:t>5 critical CVEs (perl-base, docker.io). Fix: platform image without Docker, patched at build.</a:t>
            </a:r>
            <a:endParaRPr lang="en-US" sz="1600" dirty="0"/>
          </a:p>
        </p:txBody>
      </p:sp>
      <p:sp>
        <p:nvSpPr>
          <p:cNvPr id="11" name="card Lint on new folders"/>
          <p:cNvSpPr/>
          <p:nvPr/>
        </p:nvSpPr>
        <p:spPr>
          <a:xfrm>
            <a:off x="3246120" y="2834640"/>
            <a:ext cx="2651760" cy="1783080"/>
          </a:xfrm>
          <a:prstGeom prst="roundRect">
            <a:avLst>
              <a:gd name="adj" fmla="val 4103"/>
            </a:avLst>
          </a:prstGeom>
          <a:solidFill>
            <a:srgbClr val="E6F2F0"/>
          </a:solidFill>
          <a:ln w="12700">
            <a:solidFill>
              <a:srgbClr val="E6F2F0"/>
            </a:solidFill>
            <a:prstDash val="solid"/>
          </a:ln>
        </p:spPr>
      </p:sp>
      <p:sp>
        <p:nvSpPr>
          <p:cNvPr id="12" name="card text Lint on new folders"/>
          <p:cNvSpPr txBox="1"/>
          <p:nvPr/>
        </p:nvSpPr>
        <p:spPr>
          <a:xfrm>
            <a:off x="3355848" y="290779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Lint on new folders</a:t>
            </a:r>
            <a:endParaRPr lang="en-US" sz="1600" dirty="0"/>
          </a:p>
          <a:p>
            <a:pPr indent="0" marL="0">
              <a:spcAft>
                <a:spcPts val="300"/>
              </a:spcAft>
              <a:buNone/>
            </a:pPr>
            <a:r>
              <a:rPr lang="en-US" sz="1400" dirty="0">
                <a:solidFill>
                  <a:srgbClr val="1C2B2D"/>
                </a:solidFill>
              </a:rPr>
              <a:t>k6 script and watch app are in no tsconfig: ignore entries needed.</a:t>
            </a:r>
            <a:endParaRPr lang="en-US" sz="1600" dirty="0"/>
          </a:p>
        </p:txBody>
      </p:sp>
      <p:sp>
        <p:nvSpPr>
          <p:cNvPr id="13" name="card Supply chain"/>
          <p:cNvSpPr/>
          <p:nvPr/>
        </p:nvSpPr>
        <p:spPr>
          <a:xfrm>
            <a:off x="6035040" y="2834640"/>
            <a:ext cx="2651760" cy="1783080"/>
          </a:xfrm>
          <a:prstGeom prst="roundRect">
            <a:avLst>
              <a:gd name="adj" fmla="val 4103"/>
            </a:avLst>
          </a:prstGeom>
          <a:solidFill>
            <a:srgbClr val="E6F2F0"/>
          </a:solidFill>
          <a:ln w="12700">
            <a:solidFill>
              <a:srgbClr val="E6F2F0"/>
            </a:solidFill>
            <a:prstDash val="solid"/>
          </a:ln>
        </p:spPr>
      </p:sp>
      <p:sp>
        <p:nvSpPr>
          <p:cNvPr id="14" name="card text Supply chain"/>
          <p:cNvSpPr txBox="1"/>
          <p:nvPr/>
        </p:nvSpPr>
        <p:spPr>
          <a:xfrm>
            <a:off x="6144768" y="2907792"/>
            <a:ext cx="2432304" cy="1636776"/>
          </a:xfrm>
          <a:prstGeom prst="rect">
            <a:avLst/>
          </a:prstGeom>
          <a:noFill/>
          <a:ln/>
        </p:spPr>
        <p:txBody>
          <a:bodyPr wrap="square" lIns="0" tIns="0" rIns="0" bIns="0" rtlCol="0" anchor="t"/>
          <a:lstStyle/>
          <a:p>
            <a:pPr indent="0" marL="0">
              <a:spcAft>
                <a:spcPts val="300"/>
              </a:spcAft>
              <a:buNone/>
            </a:pPr>
            <a:r>
              <a:rPr lang="en-US" sz="1600" b="1" dirty="0">
                <a:solidFill>
                  <a:srgbClr val="0B2E33"/>
                </a:solidFill>
              </a:rPr>
              <a:t>Supply chain</a:t>
            </a:r>
            <a:endParaRPr lang="en-US" sz="1600" dirty="0"/>
          </a:p>
          <a:p>
            <a:pPr indent="0" marL="0">
              <a:spcAft>
                <a:spcPts val="300"/>
              </a:spcAft>
              <a:buNone/>
            </a:pPr>
            <a:r>
              <a:rPr lang="en-US" sz="1400" dirty="0">
                <a:solidFill>
                  <a:srgbClr val="1C2B2D"/>
                </a:solidFill>
              </a:rPr>
              <a:t>Trivy action tags were force-pushed in 2026: pinned to a commit.</a:t>
            </a:r>
            <a:endParaRPr lang="en-US" sz="16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tep circle 1"/>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The public address and its certificate</a:t>
            </a:r>
            <a:endParaRPr lang="en-US" sz="2400" dirty="0"/>
          </a:p>
        </p:txBody>
      </p:sp>
      <p:sp>
        <p:nvSpPr>
          <p:cNvPr id="5" name="command box"/>
          <p:cNvSpPr/>
          <p:nvPr/>
        </p:nvSpPr>
        <p:spPr>
          <a:xfrm>
            <a:off x="457200" y="1051560"/>
            <a:ext cx="8229600" cy="1005840"/>
          </a:xfrm>
          <a:prstGeom prst="roundRect">
            <a:avLst>
              <a:gd name="adj" fmla="val 5455"/>
            </a:avLst>
          </a:prstGeom>
          <a:solidFill>
            <a:srgbClr val="0B2E33"/>
          </a:solidFill>
          <a:ln w="12700">
            <a:solidFill>
              <a:srgbClr val="0B2E33"/>
            </a:solidFill>
            <a:prstDash val="solid"/>
          </a:ln>
        </p:spPr>
      </p:sp>
      <p:sp>
        <p:nvSpPr>
          <p:cNvPr id="6" name="command text"/>
          <p:cNvSpPr txBox="1"/>
          <p:nvPr/>
        </p:nvSpPr>
        <p:spPr>
          <a:xfrm>
            <a:off x="594360" y="1124712"/>
            <a:ext cx="7955280" cy="859536"/>
          </a:xfrm>
          <a:prstGeom prst="rect">
            <a:avLst/>
          </a:prstGeom>
          <a:noFill/>
          <a:ln/>
        </p:spPr>
        <p:txBody>
          <a:bodyPr wrap="square" lIns="0" tIns="0" rIns="0" bIns="0" rtlCol="0" anchor="t"/>
          <a:lstStyle/>
          <a:p>
            <a:pPr indent="0" marL="0">
              <a:buNone/>
            </a:pPr>
            <a:r>
              <a:rPr lang="en-US" sz="1400" dirty="0">
                <a:solidFill>
                  <a:srgbClr val="E6F2F0"/>
                </a:solidFill>
                <a:latin typeface="Courier New" pitchFamily="34" charset="0"/>
                <a:ea typeface="Courier New" pitchFamily="34" charset="-122"/>
                <a:cs typeface="Courier New" pitchFamily="34" charset="-120"/>
              </a:rPr>
              <a:t>curl -sI $LUMEN_URL/</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curl -sv ... | grep -E 'subject:|issuer:|expire date:'</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curl $LUMEN_URL/api/health</a:t>
            </a:r>
            <a:endParaRPr lang="en-US" sz="1400" dirty="0"/>
          </a:p>
        </p:txBody>
      </p:sp>
      <p:sp>
        <p:nvSpPr>
          <p:cNvPr id="7" name="Text 5"/>
          <p:cNvSpPr txBox="1"/>
          <p:nvPr/>
        </p:nvSpPr>
        <p:spPr>
          <a:xfrm>
            <a:off x="457200" y="2377440"/>
            <a:ext cx="3657600" cy="274320"/>
          </a:xfrm>
          <a:prstGeom prst="rect">
            <a:avLst/>
          </a:prstGeom>
          <a:noFill/>
          <a:ln/>
        </p:spPr>
        <p:txBody>
          <a:bodyPr wrap="square" lIns="0" tIns="0" rIns="0" bIns="0" rtlCol="0" anchor="ctr"/>
          <a:lstStyle/>
          <a:p>
            <a:pPr indent="0" marL="0">
              <a:buNone/>
            </a:pPr>
            <a:r>
              <a:rPr lang="en-US" sz="1400" b="1" dirty="0">
                <a:solidFill>
                  <a:srgbClr val="1B6F6A"/>
                </a:solidFill>
              </a:rPr>
              <a:t>Watch for</a:t>
            </a:r>
            <a:endParaRPr lang="en-US" sz="1400" dirty="0"/>
          </a:p>
        </p:txBody>
      </p:sp>
      <p:sp>
        <p:nvSpPr>
          <p:cNvPr id="8" name="Text 6"/>
          <p:cNvSpPr txBox="1"/>
          <p:nvPr/>
        </p:nvSpPr>
        <p:spPr>
          <a:xfrm>
            <a:off x="457200" y="2743200"/>
            <a:ext cx="8229600" cy="1920240"/>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1C2B2D"/>
                </a:solidFill>
              </a:rPr>
              <a:t>The padlock and the Let's Encrypt issuer</a:t>
            </a:r>
            <a:endParaRPr lang="en-US" sz="1800" dirty="0"/>
          </a:p>
          <a:p>
            <a:pPr marL="177800" indent="-177800">
              <a:spcAft>
                <a:spcPts val="500"/>
              </a:spcAft>
              <a:buSzPct val="100000"/>
              <a:buChar char="•"/>
            </a:pPr>
            <a:r>
              <a:rPr lang="en-US" sz="1800" dirty="0">
                <a:solidFill>
                  <a:srgbClr val="1C2B2D"/>
                </a:solidFill>
              </a:rPr>
              <a:t>Health answers from the session service</a:t>
            </a:r>
            <a:endParaRPr lang="en-US" sz="1800" dirty="0"/>
          </a:p>
          <a:p>
            <a:pPr marL="177800" indent="-177800">
              <a:spcAft>
                <a:spcPts val="500"/>
              </a:spcAft>
              <a:buSzPct val="100000"/>
              <a:buChar char="•"/>
            </a:pPr>
            <a:r>
              <a:rPr lang="en-US" sz="1800" dirty="0">
                <a:solidFill>
                  <a:srgbClr val="1C2B2D"/>
                </a:solidFill>
              </a:rPr>
              <a:t>GitHub: run 39441445313, every stage passed</a:t>
            </a:r>
            <a:endParaRPr lang="en-US" sz="1800" dirty="0"/>
          </a:p>
          <a:p>
            <a:pPr marL="177800" indent="-177800">
              <a:spcAft>
                <a:spcPts val="500"/>
              </a:spcAft>
              <a:buSzPct val="100000"/>
              <a:buChar char="•"/>
            </a:pPr>
            <a:r>
              <a:rPr lang="en-US" sz="1800" dirty="0">
                <a:solidFill>
                  <a:srgbClr val="1C2B2D"/>
                </a:solidFill>
              </a:rPr>
              <a:t>Workers in demo mode until the model key is set: placeholder answers</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tep circle 2"/>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Every service is running</a:t>
            </a:r>
            <a:endParaRPr lang="en-US" sz="2400" dirty="0"/>
          </a:p>
        </p:txBody>
      </p:sp>
      <p:sp>
        <p:nvSpPr>
          <p:cNvPr id="5" name="command box"/>
          <p:cNvSpPr/>
          <p:nvPr/>
        </p:nvSpPr>
        <p:spPr>
          <a:xfrm>
            <a:off x="457200" y="1051560"/>
            <a:ext cx="8229600" cy="731520"/>
          </a:xfrm>
          <a:prstGeom prst="roundRect">
            <a:avLst>
              <a:gd name="adj" fmla="val 7500"/>
            </a:avLst>
          </a:prstGeom>
          <a:solidFill>
            <a:srgbClr val="0B2E33"/>
          </a:solidFill>
          <a:ln w="12700">
            <a:solidFill>
              <a:srgbClr val="0B2E33"/>
            </a:solidFill>
            <a:prstDash val="solid"/>
          </a:ln>
        </p:spPr>
      </p:sp>
      <p:sp>
        <p:nvSpPr>
          <p:cNvPr id="6" name="command text"/>
          <p:cNvSpPr txBox="1"/>
          <p:nvPr/>
        </p:nvSpPr>
        <p:spPr>
          <a:xfrm>
            <a:off x="594360" y="1124712"/>
            <a:ext cx="7955280" cy="585216"/>
          </a:xfrm>
          <a:prstGeom prst="rect">
            <a:avLst/>
          </a:prstGeom>
          <a:noFill/>
          <a:ln/>
        </p:spPr>
        <p:txBody>
          <a:bodyPr wrap="square" lIns="0" tIns="0" rIns="0" bIns="0" rtlCol="0" anchor="t"/>
          <a:lstStyle/>
          <a:p>
            <a:pPr indent="0" marL="0">
              <a:buNone/>
            </a:pPr>
            <a:r>
              <a:rPr lang="en-US" sz="1400" dirty="0">
                <a:solidFill>
                  <a:srgbClr val="E6F2F0"/>
                </a:solidFill>
                <a:latin typeface="Courier New" pitchFamily="34" charset="0"/>
                <a:ea typeface="Courier New" pitchFamily="34" charset="-122"/>
                <a:cs typeface="Courier New" pitchFamily="34" charset="-120"/>
              </a:rPr>
              <a:t>ssh ubuntu@&lt;host&gt; kubectl get pods,svc -n lumen</a:t>
            </a:r>
            <a:endParaRPr lang="en-US" sz="1400" dirty="0"/>
          </a:p>
        </p:txBody>
      </p:sp>
      <p:sp>
        <p:nvSpPr>
          <p:cNvPr id="7" name="Text 5"/>
          <p:cNvSpPr txBox="1"/>
          <p:nvPr/>
        </p:nvSpPr>
        <p:spPr>
          <a:xfrm>
            <a:off x="457200" y="2103120"/>
            <a:ext cx="3657600" cy="274320"/>
          </a:xfrm>
          <a:prstGeom prst="rect">
            <a:avLst/>
          </a:prstGeom>
          <a:noFill/>
          <a:ln/>
        </p:spPr>
        <p:txBody>
          <a:bodyPr wrap="square" lIns="0" tIns="0" rIns="0" bIns="0" rtlCol="0" anchor="ctr"/>
          <a:lstStyle/>
          <a:p>
            <a:pPr indent="0" marL="0">
              <a:buNone/>
            </a:pPr>
            <a:r>
              <a:rPr lang="en-US" sz="1400" b="1" dirty="0">
                <a:solidFill>
                  <a:srgbClr val="1B6F6A"/>
                </a:solidFill>
              </a:rPr>
              <a:t>Watch for</a:t>
            </a:r>
            <a:endParaRPr lang="en-US" sz="1400" dirty="0"/>
          </a:p>
        </p:txBody>
      </p:sp>
      <p:sp>
        <p:nvSpPr>
          <p:cNvPr id="8" name="Text 6"/>
          <p:cNvSpPr txBox="1"/>
          <p:nvPr/>
        </p:nvSpPr>
        <p:spPr>
          <a:xfrm>
            <a:off x="457200" y="2468880"/>
            <a:ext cx="8229600" cy="2194560"/>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1C2B2D"/>
                </a:solidFill>
              </a:rPr>
              <a:t>identity, project, session, worker, billing</a:t>
            </a:r>
            <a:endParaRPr lang="en-US" sz="1800" dirty="0"/>
          </a:p>
          <a:p>
            <a:pPr marL="177800" indent="-177800">
              <a:spcAft>
                <a:spcPts val="500"/>
              </a:spcAft>
              <a:buSzPct val="100000"/>
              <a:buChar char="•"/>
            </a:pPr>
            <a:r>
              <a:rPr lang="en-US" sz="1800" dirty="0">
                <a:solidFill>
                  <a:srgbClr val="1C2B2D"/>
                </a:solidFill>
              </a:rPr>
              <a:t>postgres-0 and rabbitmq-0 StatefulSets</a:t>
            </a:r>
            <a:endParaRPr lang="en-US" sz="1800" dirty="0"/>
          </a:p>
          <a:p>
            <a:pPr marL="177800" indent="-177800">
              <a:spcAft>
                <a:spcPts val="500"/>
              </a:spcAft>
              <a:buSzPct val="100000"/>
              <a:buChar char="•"/>
            </a:pPr>
            <a:r>
              <a:rPr lang="en-US" sz="1800" dirty="0">
                <a:solidFill>
                  <a:srgbClr val="1C2B2D"/>
                </a:solidFill>
              </a:rPr>
              <a:t>kubectl only through SSH: port 6443 is closed</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tep circle 3"/>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Sign up and sign in</a:t>
            </a:r>
            <a:endParaRPr lang="en-US" sz="2400" dirty="0"/>
          </a:p>
        </p:txBody>
      </p:sp>
      <p:sp>
        <p:nvSpPr>
          <p:cNvPr id="5" name="command box"/>
          <p:cNvSpPr/>
          <p:nvPr/>
        </p:nvSpPr>
        <p:spPr>
          <a:xfrm>
            <a:off x="457200" y="1051560"/>
            <a:ext cx="8229600" cy="1243584"/>
          </a:xfrm>
          <a:prstGeom prst="roundRect">
            <a:avLst>
              <a:gd name="adj" fmla="val 4412"/>
            </a:avLst>
          </a:prstGeom>
          <a:solidFill>
            <a:srgbClr val="0B2E33"/>
          </a:solidFill>
          <a:ln w="12700">
            <a:solidFill>
              <a:srgbClr val="0B2E33"/>
            </a:solidFill>
            <a:prstDash val="solid"/>
          </a:ln>
        </p:spPr>
      </p:sp>
      <p:sp>
        <p:nvSpPr>
          <p:cNvPr id="6" name="command text"/>
          <p:cNvSpPr txBox="1"/>
          <p:nvPr/>
        </p:nvSpPr>
        <p:spPr>
          <a:xfrm>
            <a:off x="594360" y="1124712"/>
            <a:ext cx="7955280" cy="1097280"/>
          </a:xfrm>
          <a:prstGeom prst="rect">
            <a:avLst/>
          </a:prstGeom>
          <a:noFill/>
          <a:ln/>
        </p:spPr>
        <p:txBody>
          <a:bodyPr wrap="square" lIns="0" tIns="0" rIns="0" bIns="0" rtlCol="0" anchor="t"/>
          <a:lstStyle/>
          <a:p>
            <a:pPr indent="0" marL="0">
              <a:buNone/>
            </a:pPr>
            <a:r>
              <a:rPr lang="en-US" sz="1400" dirty="0">
                <a:solidFill>
                  <a:srgbClr val="E6F2F0"/>
                </a:solidFill>
                <a:latin typeface="Courier New" pitchFamily="34" charset="0"/>
                <a:ea typeface="Courier New" pitchFamily="34" charset="-122"/>
                <a:cs typeface="Courier New" pitchFamily="34" charset="-120"/>
              </a:rPr>
              <a:t>POST /api/auth/signup {email, displayName, password}</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POST /api/auth/signout</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POST /api/auth/password {email, password}</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GET  /api/me</a:t>
            </a:r>
            <a:endParaRPr lang="en-US" sz="1400" dirty="0"/>
          </a:p>
        </p:txBody>
      </p:sp>
      <p:sp>
        <p:nvSpPr>
          <p:cNvPr id="7" name="Text 5"/>
          <p:cNvSpPr txBox="1"/>
          <p:nvPr/>
        </p:nvSpPr>
        <p:spPr>
          <a:xfrm>
            <a:off x="457200" y="2615184"/>
            <a:ext cx="3657600" cy="274320"/>
          </a:xfrm>
          <a:prstGeom prst="rect">
            <a:avLst/>
          </a:prstGeom>
          <a:noFill/>
          <a:ln/>
        </p:spPr>
        <p:txBody>
          <a:bodyPr wrap="square" lIns="0" tIns="0" rIns="0" bIns="0" rtlCol="0" anchor="ctr"/>
          <a:lstStyle/>
          <a:p>
            <a:pPr indent="0" marL="0">
              <a:buNone/>
            </a:pPr>
            <a:r>
              <a:rPr lang="en-US" sz="1400" b="1" dirty="0">
                <a:solidFill>
                  <a:srgbClr val="1B6F6A"/>
                </a:solidFill>
              </a:rPr>
              <a:t>Watch for</a:t>
            </a:r>
            <a:endParaRPr lang="en-US" sz="1400" dirty="0"/>
          </a:p>
        </p:txBody>
      </p:sp>
      <p:sp>
        <p:nvSpPr>
          <p:cNvPr id="8" name="Text 6"/>
          <p:cNvSpPr txBox="1"/>
          <p:nvPr/>
        </p:nvSpPr>
        <p:spPr>
          <a:xfrm>
            <a:off x="457200" y="2980944"/>
            <a:ext cx="8229600" cy="1682496"/>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1C2B2D"/>
                </a:solidFill>
              </a:rPr>
              <a:t>The identity service handles every call</a:t>
            </a:r>
            <a:endParaRPr lang="en-US" sz="1800" dirty="0"/>
          </a:p>
          <a:p>
            <a:pPr marL="177800" indent="-177800">
              <a:spcAft>
                <a:spcPts val="500"/>
              </a:spcAft>
              <a:buSzPct val="100000"/>
              <a:buChar char="•"/>
            </a:pPr>
            <a:r>
              <a:rPr lang="en-US" sz="1800" dirty="0">
                <a:solidFill>
                  <a:srgbClr val="1C2B2D"/>
                </a:solidFill>
              </a:rPr>
              <a:t>Cookie lumen_session; Origin header checked</a:t>
            </a:r>
            <a:endParaRPr lang="en-US" sz="1800" dirty="0"/>
          </a:p>
          <a:p>
            <a:pPr marL="177800" indent="-177800">
              <a:spcAft>
                <a:spcPts val="500"/>
              </a:spcAft>
              <a:buSzPct val="100000"/>
              <a:buChar char="•"/>
            </a:pPr>
            <a:r>
              <a:rPr lang="en-US" sz="1800" dirty="0">
                <a:solidFill>
                  <a:srgbClr val="1C2B2D"/>
                </a:solidFill>
              </a:rPr>
              <a:t>The password shows as $PASSWORD, never in clear</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tep circle 4"/>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Create a project with a question</a:t>
            </a:r>
            <a:endParaRPr lang="en-US" sz="2400" dirty="0"/>
          </a:p>
        </p:txBody>
      </p:sp>
      <p:sp>
        <p:nvSpPr>
          <p:cNvPr id="5" name="command box"/>
          <p:cNvSpPr/>
          <p:nvPr/>
        </p:nvSpPr>
        <p:spPr>
          <a:xfrm>
            <a:off x="457200" y="1051560"/>
            <a:ext cx="8229600" cy="1005840"/>
          </a:xfrm>
          <a:prstGeom prst="roundRect">
            <a:avLst>
              <a:gd name="adj" fmla="val 5455"/>
            </a:avLst>
          </a:prstGeom>
          <a:solidFill>
            <a:srgbClr val="0B2E33"/>
          </a:solidFill>
          <a:ln w="12700">
            <a:solidFill>
              <a:srgbClr val="0B2E33"/>
            </a:solidFill>
            <a:prstDash val="solid"/>
          </a:ln>
        </p:spPr>
      </p:sp>
      <p:sp>
        <p:nvSpPr>
          <p:cNvPr id="6" name="command text"/>
          <p:cNvSpPr txBox="1"/>
          <p:nvPr/>
        </p:nvSpPr>
        <p:spPr>
          <a:xfrm>
            <a:off x="594360" y="1124712"/>
            <a:ext cx="7955280" cy="859536"/>
          </a:xfrm>
          <a:prstGeom prst="rect">
            <a:avLst/>
          </a:prstGeom>
          <a:noFill/>
          <a:ln/>
        </p:spPr>
        <p:txBody>
          <a:bodyPr wrap="square" lIns="0" tIns="0" rIns="0" bIns="0" rtlCol="0" anchor="t"/>
          <a:lstStyle/>
          <a:p>
            <a:pPr indent="0" marL="0">
              <a:buNone/>
            </a:pPr>
            <a:r>
              <a:rPr lang="en-US" sz="1400" dirty="0">
                <a:solidFill>
                  <a:srgbClr val="E6F2F0"/>
                </a:solidFill>
                <a:latin typeface="Courier New" pitchFamily="34" charset="0"/>
                <a:ea typeface="Courier New" pitchFamily="34" charset="-122"/>
                <a:cs typeface="Courier New" pitchFamily="34" charset="-120"/>
              </a:rPr>
              <a:t>POST /api/projects</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{"question": "How many permutations of length 5</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  avoid the pattern 132?", "mode": "explore"}</a:t>
            </a:r>
            <a:endParaRPr lang="en-US" sz="1400" dirty="0"/>
          </a:p>
        </p:txBody>
      </p:sp>
      <p:sp>
        <p:nvSpPr>
          <p:cNvPr id="7" name="Text 5"/>
          <p:cNvSpPr txBox="1"/>
          <p:nvPr/>
        </p:nvSpPr>
        <p:spPr>
          <a:xfrm>
            <a:off x="457200" y="2377440"/>
            <a:ext cx="3657600" cy="274320"/>
          </a:xfrm>
          <a:prstGeom prst="rect">
            <a:avLst/>
          </a:prstGeom>
          <a:noFill/>
          <a:ln/>
        </p:spPr>
        <p:txBody>
          <a:bodyPr wrap="square" lIns="0" tIns="0" rIns="0" bIns="0" rtlCol="0" anchor="ctr"/>
          <a:lstStyle/>
          <a:p>
            <a:pPr indent="0" marL="0">
              <a:buNone/>
            </a:pPr>
            <a:r>
              <a:rPr lang="en-US" sz="1400" b="1" dirty="0">
                <a:solidFill>
                  <a:srgbClr val="1B6F6A"/>
                </a:solidFill>
              </a:rPr>
              <a:t>Watch for</a:t>
            </a:r>
            <a:endParaRPr lang="en-US" sz="1400" dirty="0"/>
          </a:p>
        </p:txBody>
      </p:sp>
      <p:sp>
        <p:nvSpPr>
          <p:cNvPr id="8" name="Text 6"/>
          <p:cNvSpPr txBox="1"/>
          <p:nvPr/>
        </p:nvSpPr>
        <p:spPr>
          <a:xfrm>
            <a:off x="457200" y="2743200"/>
            <a:ext cx="8229600" cy="1920240"/>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1C2B2D"/>
                </a:solidFill>
              </a:rPr>
              <a:t>201 with the project id and the session id</a:t>
            </a:r>
            <a:endParaRPr lang="en-US" sz="1800" dirty="0"/>
          </a:p>
          <a:p>
            <a:pPr marL="177800" indent="-177800">
              <a:spcAft>
                <a:spcPts val="500"/>
              </a:spcAft>
              <a:buSzPct val="100000"/>
              <a:buChar char="•"/>
            </a:pPr>
            <a:r>
              <a:rPr lang="en-US" sz="1800" dirty="0">
                <a:solidFill>
                  <a:srgbClr val="1C2B2D"/>
                </a:solidFill>
              </a:rPr>
              <a:t>The root turn is already on lumen.turns.0</a:t>
            </a:r>
            <a:endParaRPr lang="en-US" sz="1800" dirty="0"/>
          </a:p>
          <a:p>
            <a:pPr marL="177800" indent="-177800">
              <a:spcAft>
                <a:spcPts val="500"/>
              </a:spcAft>
              <a:buSzPct val="100000"/>
              <a:buChar char="•"/>
            </a:pPr>
            <a:r>
              <a:rPr lang="en-US" sz="1800" dirty="0">
                <a:solidFill>
                  <a:srgbClr val="1C2B2D"/>
                </a:solidFill>
              </a:rPr>
              <a:t>Project calls session over internal HTTP</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tep circle 5"/>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Watch the steps arrive from the workers</a:t>
            </a:r>
            <a:endParaRPr lang="en-US" sz="2400" dirty="0"/>
          </a:p>
        </p:txBody>
      </p:sp>
      <p:sp>
        <p:nvSpPr>
          <p:cNvPr id="5" name="command box"/>
          <p:cNvSpPr/>
          <p:nvPr/>
        </p:nvSpPr>
        <p:spPr>
          <a:xfrm>
            <a:off x="457200" y="1051560"/>
            <a:ext cx="8229600" cy="768096"/>
          </a:xfrm>
          <a:prstGeom prst="roundRect">
            <a:avLst>
              <a:gd name="adj" fmla="val 7143"/>
            </a:avLst>
          </a:prstGeom>
          <a:solidFill>
            <a:srgbClr val="0B2E33"/>
          </a:solidFill>
          <a:ln w="12700">
            <a:solidFill>
              <a:srgbClr val="0B2E33"/>
            </a:solidFill>
            <a:prstDash val="solid"/>
          </a:ln>
        </p:spPr>
      </p:sp>
      <p:sp>
        <p:nvSpPr>
          <p:cNvPr id="6" name="command text"/>
          <p:cNvSpPr txBox="1"/>
          <p:nvPr/>
        </p:nvSpPr>
        <p:spPr>
          <a:xfrm>
            <a:off x="594360" y="1124712"/>
            <a:ext cx="7955280" cy="621792"/>
          </a:xfrm>
          <a:prstGeom prst="rect">
            <a:avLst/>
          </a:prstGeom>
          <a:noFill/>
          <a:ln/>
        </p:spPr>
        <p:txBody>
          <a:bodyPr wrap="square" lIns="0" tIns="0" rIns="0" bIns="0" rtlCol="0" anchor="t"/>
          <a:lstStyle/>
          <a:p>
            <a:pPr indent="0" marL="0">
              <a:buNone/>
            </a:pPr>
            <a:r>
              <a:rPr lang="en-US" sz="1400" dirty="0">
                <a:solidFill>
                  <a:srgbClr val="E6F2F0"/>
                </a:solidFill>
                <a:latin typeface="Courier New" pitchFamily="34" charset="0"/>
                <a:ea typeface="Courier New" pitchFamily="34" charset="-122"/>
                <a:cs typeface="Courier New" pitchFamily="34" charset="-120"/>
              </a:rPr>
              <a:t>GET /api/sessions/$SESSION</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  | jq '.tasks[] | {agent, depth, status}'</a:t>
            </a:r>
            <a:endParaRPr lang="en-US" sz="1400" dirty="0"/>
          </a:p>
        </p:txBody>
      </p:sp>
      <p:sp>
        <p:nvSpPr>
          <p:cNvPr id="7" name="Text 5"/>
          <p:cNvSpPr txBox="1"/>
          <p:nvPr/>
        </p:nvSpPr>
        <p:spPr>
          <a:xfrm>
            <a:off x="457200" y="2139696"/>
            <a:ext cx="3657600" cy="274320"/>
          </a:xfrm>
          <a:prstGeom prst="rect">
            <a:avLst/>
          </a:prstGeom>
          <a:noFill/>
          <a:ln/>
        </p:spPr>
        <p:txBody>
          <a:bodyPr wrap="square" lIns="0" tIns="0" rIns="0" bIns="0" rtlCol="0" anchor="ctr"/>
          <a:lstStyle/>
          <a:p>
            <a:pPr indent="0" marL="0">
              <a:buNone/>
            </a:pPr>
            <a:r>
              <a:rPr lang="en-US" sz="1400" b="1" dirty="0">
                <a:solidFill>
                  <a:srgbClr val="1B6F6A"/>
                </a:solidFill>
              </a:rPr>
              <a:t>Watch for</a:t>
            </a:r>
            <a:endParaRPr lang="en-US" sz="1400" dirty="0"/>
          </a:p>
        </p:txBody>
      </p:sp>
      <p:sp>
        <p:nvSpPr>
          <p:cNvPr id="8" name="Text 6"/>
          <p:cNvSpPr txBox="1"/>
          <p:nvPr/>
        </p:nvSpPr>
        <p:spPr>
          <a:xfrm>
            <a:off x="457200" y="2505456"/>
            <a:ext cx="8229600" cy="2157984"/>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1C2B2D"/>
                </a:solidFill>
              </a:rPr>
              <a:t>Lead at depth 0, three readers at depth 1</a:t>
            </a:r>
            <a:endParaRPr lang="en-US" sz="1800" dirty="0"/>
          </a:p>
          <a:p>
            <a:pPr marL="177800" indent="-177800">
              <a:spcAft>
                <a:spcPts val="500"/>
              </a:spcAft>
              <a:buSzPct val="100000"/>
              <a:buChar char="•"/>
            </a:pPr>
            <a:r>
              <a:rPr lang="en-US" sz="1800" dirty="0">
                <a:solidFill>
                  <a:srgbClr val="1C2B2D"/>
                </a:solidFill>
              </a:rPr>
              <a:t>Each step: worker → /internal/turns → session</a:t>
            </a:r>
            <a:endParaRPr lang="en-US" sz="1800" dirty="0"/>
          </a:p>
          <a:p>
            <a:pPr marL="177800" indent="-177800">
              <a:spcAft>
                <a:spcPts val="500"/>
              </a:spcAft>
              <a:buSzPct val="100000"/>
              <a:buChar char="•"/>
            </a:pPr>
            <a:r>
              <a:rPr lang="en-US" sz="1800" dirty="0">
                <a:solidFill>
                  <a:srgbClr val="1C2B2D"/>
                </a:solidFill>
              </a:rPr>
              <a:t>The browser gets the same steps over /ws</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tep circle 6"/>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6</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Turns on the queues: one queue per task depth</a:t>
            </a:r>
            <a:endParaRPr lang="en-US" sz="2400" dirty="0"/>
          </a:p>
        </p:txBody>
      </p:sp>
      <p:sp>
        <p:nvSpPr>
          <p:cNvPr id="5" name="command box"/>
          <p:cNvSpPr/>
          <p:nvPr/>
        </p:nvSpPr>
        <p:spPr>
          <a:xfrm>
            <a:off x="457200" y="1051560"/>
            <a:ext cx="8229600" cy="768096"/>
          </a:xfrm>
          <a:prstGeom prst="roundRect">
            <a:avLst>
              <a:gd name="adj" fmla="val 7143"/>
            </a:avLst>
          </a:prstGeom>
          <a:solidFill>
            <a:srgbClr val="0B2E33"/>
          </a:solidFill>
          <a:ln w="12700">
            <a:solidFill>
              <a:srgbClr val="0B2E33"/>
            </a:solidFill>
            <a:prstDash val="solid"/>
          </a:ln>
        </p:spPr>
      </p:sp>
      <p:sp>
        <p:nvSpPr>
          <p:cNvPr id="6" name="command text"/>
          <p:cNvSpPr txBox="1"/>
          <p:nvPr/>
        </p:nvSpPr>
        <p:spPr>
          <a:xfrm>
            <a:off x="594360" y="1124712"/>
            <a:ext cx="7955280" cy="621792"/>
          </a:xfrm>
          <a:prstGeom prst="rect">
            <a:avLst/>
          </a:prstGeom>
          <a:noFill/>
          <a:ln/>
        </p:spPr>
        <p:txBody>
          <a:bodyPr wrap="square" lIns="0" tIns="0" rIns="0" bIns="0" rtlCol="0" anchor="t"/>
          <a:lstStyle/>
          <a:p>
            <a:pPr indent="0" marL="0">
              <a:buNone/>
            </a:pPr>
            <a:r>
              <a:rPr lang="en-US" sz="1400" dirty="0">
                <a:solidFill>
                  <a:srgbClr val="E6F2F0"/>
                </a:solidFill>
                <a:latin typeface="Courier New" pitchFamily="34" charset="0"/>
                <a:ea typeface="Courier New" pitchFamily="34" charset="-122"/>
                <a:cs typeface="Courier New" pitchFamily="34" charset="-120"/>
              </a:rPr>
              <a:t>kubectl exec rabbitmq-0 -- rabbitmqctl list_queues \</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  name messages messages_unacknowledged consumers</a:t>
            </a:r>
            <a:endParaRPr lang="en-US" sz="1400" dirty="0"/>
          </a:p>
        </p:txBody>
      </p:sp>
      <p:sp>
        <p:nvSpPr>
          <p:cNvPr id="7" name="Text 5"/>
          <p:cNvSpPr txBox="1"/>
          <p:nvPr/>
        </p:nvSpPr>
        <p:spPr>
          <a:xfrm>
            <a:off x="457200" y="2139696"/>
            <a:ext cx="3657600" cy="274320"/>
          </a:xfrm>
          <a:prstGeom prst="rect">
            <a:avLst/>
          </a:prstGeom>
          <a:noFill/>
          <a:ln/>
        </p:spPr>
        <p:txBody>
          <a:bodyPr wrap="square" lIns="0" tIns="0" rIns="0" bIns="0" rtlCol="0" anchor="ctr"/>
          <a:lstStyle/>
          <a:p>
            <a:pPr indent="0" marL="0">
              <a:buNone/>
            </a:pPr>
            <a:r>
              <a:rPr lang="en-US" sz="1400" b="1" dirty="0">
                <a:solidFill>
                  <a:srgbClr val="1B6F6A"/>
                </a:solidFill>
              </a:rPr>
              <a:t>Watch for</a:t>
            </a:r>
            <a:endParaRPr lang="en-US" sz="1400" dirty="0"/>
          </a:p>
        </p:txBody>
      </p:sp>
      <p:sp>
        <p:nvSpPr>
          <p:cNvPr id="8" name="Text 6"/>
          <p:cNvSpPr txBox="1"/>
          <p:nvPr/>
        </p:nvSpPr>
        <p:spPr>
          <a:xfrm>
            <a:off x="457200" y="2505456"/>
            <a:ext cx="8229600" cy="2157984"/>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1C2B2D"/>
                </a:solidFill>
              </a:rPr>
              <a:t>lumen.turns.0 root, .1 readers, .2 deeper</a:t>
            </a:r>
            <a:endParaRPr lang="en-US" sz="1800" dirty="0"/>
          </a:p>
          <a:p>
            <a:pPr marL="177800" indent="-177800">
              <a:spcAft>
                <a:spcPts val="500"/>
              </a:spcAft>
              <a:buSzPct val="100000"/>
              <a:buChar char="•"/>
            </a:pPr>
            <a:r>
              <a:rPr lang="en-US" sz="1800" dirty="0">
                <a:solidFill>
                  <a:srgbClr val="1C2B2D"/>
                </a:solidFill>
              </a:rPr>
              <a:t>Unacknowledged = turns in a worker's hands</a:t>
            </a:r>
            <a:endParaRPr lang="en-US" sz="1800" dirty="0"/>
          </a:p>
          <a:p>
            <a:pPr marL="177800" indent="-177800">
              <a:spcAft>
                <a:spcPts val="500"/>
              </a:spcAft>
              <a:buSzPct val="100000"/>
              <a:buChar char="•"/>
            </a:pPr>
            <a:r>
              <a:rPr lang="en-US" sz="1800" dirty="0">
                <a:solidFill>
                  <a:srgbClr val="1C2B2D"/>
                </a:solidFill>
              </a:rPr>
              <a:t>Why per depth: waiting parents cannot starve children</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tep circle 7"/>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7</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Load: k6 in the background, the workers scale out</a:t>
            </a:r>
            <a:endParaRPr lang="en-US" sz="2400" dirty="0"/>
          </a:p>
        </p:txBody>
      </p:sp>
      <p:sp>
        <p:nvSpPr>
          <p:cNvPr id="5" name="command box"/>
          <p:cNvSpPr/>
          <p:nvPr/>
        </p:nvSpPr>
        <p:spPr>
          <a:xfrm>
            <a:off x="457200" y="1005840"/>
            <a:ext cx="8229600" cy="566928"/>
          </a:xfrm>
          <a:prstGeom prst="roundRect">
            <a:avLst>
              <a:gd name="adj" fmla="val 9677"/>
            </a:avLst>
          </a:prstGeom>
          <a:solidFill>
            <a:srgbClr val="0B2E33"/>
          </a:solidFill>
          <a:ln w="12700">
            <a:solidFill>
              <a:srgbClr val="0B2E33"/>
            </a:solidFill>
            <a:prstDash val="solid"/>
          </a:ln>
        </p:spPr>
      </p:sp>
      <p:sp>
        <p:nvSpPr>
          <p:cNvPr id="6" name="command text"/>
          <p:cNvSpPr txBox="1"/>
          <p:nvPr/>
        </p:nvSpPr>
        <p:spPr>
          <a:xfrm>
            <a:off x="594360" y="1078992"/>
            <a:ext cx="7955280" cy="420624"/>
          </a:xfrm>
          <a:prstGeom prst="rect">
            <a:avLst/>
          </a:prstGeom>
          <a:noFill/>
          <a:ln/>
        </p:spPr>
        <p:txBody>
          <a:bodyPr wrap="square" lIns="0" tIns="0" rIns="0" bIns="0" rtlCol="0" anchor="t"/>
          <a:lstStyle/>
          <a:p>
            <a:pPr indent="0" marL="0">
              <a:buNone/>
            </a:pPr>
            <a:r>
              <a:rPr lang="en-US" sz="1100" dirty="0">
                <a:solidFill>
                  <a:srgbClr val="E6F2F0"/>
                </a:solidFill>
                <a:latin typeface="Courier New" pitchFamily="34" charset="0"/>
                <a:ea typeface="Courier New" pitchFamily="34" charset="-122"/>
                <a:cs typeface="Courier New" pitchFamily="34" charset="-120"/>
              </a:rPr>
              <a:t>k6 run -e LUMEN_URL=$URL -e PROFILE=short deploy/k8s/load/ask.js &amp;</a:t>
            </a:r>
            <a:endParaRPr lang="en-US" sz="1100" dirty="0"/>
          </a:p>
          <a:p>
            <a:pPr indent="0" marL="0">
              <a:buNone/>
            </a:pPr>
            <a:r>
              <a:rPr lang="en-US" sz="1100" dirty="0">
                <a:solidFill>
                  <a:srgbClr val="E6F2F0"/>
                </a:solidFill>
                <a:latin typeface="Courier New" pitchFamily="34" charset="0"/>
                <a:ea typeface="Courier New" pitchFamily="34" charset="-122"/>
                <a:cs typeface="Courier New" pitchFamily="34" charset="-120"/>
              </a:rPr>
              <a:t>kubectl get scaledobject,hpa,pods -n lumen</a:t>
            </a:r>
            <a:endParaRPr lang="en-US" sz="1100" dirty="0"/>
          </a:p>
        </p:txBody>
      </p:sp>
      <p:graphicFrame>
        <p:nvGraphicFramePr>
          <p:cNvPr id="7" name="Chart 0" descr=""/>
          <p:cNvGraphicFramePr/>
          <p:nvPr/>
        </p:nvGraphicFramePr>
        <p:xfrm>
          <a:off x="457200" y="1691640"/>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806440" y="1691640"/>
            <a:ext cx="2880360" cy="713232"/>
          </a:xfrm>
          <a:prstGeom prst="rect">
            <a:avLst/>
          </a:prstGeom>
          <a:noFill/>
          <a:ln/>
        </p:spPr>
        <p:txBody>
          <a:bodyPr wrap="square" lIns="0" tIns="0" rIns="0" bIns="0" rtlCol="0" anchor="t"/>
          <a:lstStyle/>
          <a:p>
            <a:pPr indent="0" marL="0">
              <a:buNone/>
            </a:pPr>
            <a:r>
              <a:rPr lang="en-US" sz="2200" b="1" dirty="0">
                <a:solidFill>
                  <a:srgbClr val="1B6F6A"/>
                </a:solidFill>
              </a:rPr>
              <a:t>135</a:t>
            </a:r>
            <a:endParaRPr lang="en-US" sz="2200" dirty="0"/>
          </a:p>
          <a:p>
            <a:pPr indent="0" marL="0">
              <a:buNone/>
            </a:pPr>
            <a:r>
              <a:rPr lang="en-US" sz="1100" dirty="0">
                <a:solidFill>
                  <a:srgbClr val="1C2B2D"/>
                </a:solidFill>
              </a:rPr>
              <a:t>questions, all at rest</a:t>
            </a:r>
            <a:endParaRPr lang="en-US" sz="2200" dirty="0"/>
          </a:p>
        </p:txBody>
      </p:sp>
      <p:sp>
        <p:nvSpPr>
          <p:cNvPr id="9" name="Text 6"/>
          <p:cNvSpPr txBox="1"/>
          <p:nvPr/>
        </p:nvSpPr>
        <p:spPr>
          <a:xfrm>
            <a:off x="5806440" y="2450592"/>
            <a:ext cx="2880360" cy="713232"/>
          </a:xfrm>
          <a:prstGeom prst="rect">
            <a:avLst/>
          </a:prstGeom>
          <a:noFill/>
          <a:ln/>
        </p:spPr>
        <p:txBody>
          <a:bodyPr wrap="square" lIns="0" tIns="0" rIns="0" bIns="0" rtlCol="0" anchor="t"/>
          <a:lstStyle/>
          <a:p>
            <a:pPr indent="0" marL="0">
              <a:buNone/>
            </a:pPr>
            <a:r>
              <a:rPr lang="en-US" sz="2200" b="1" dirty="0">
                <a:solidFill>
                  <a:srgbClr val="1B6F6A"/>
                </a:solidFill>
              </a:rPr>
              <a:t>6.1 s</a:t>
            </a:r>
            <a:endParaRPr lang="en-US" sz="2200" dirty="0"/>
          </a:p>
          <a:p>
            <a:pPr indent="0" marL="0">
              <a:buNone/>
            </a:pPr>
            <a:r>
              <a:rPr lang="en-US" sz="1100" dirty="0">
                <a:solidFill>
                  <a:srgbClr val="1C2B2D"/>
                </a:solidFill>
              </a:rPr>
              <a:t>median time to rest (p95 9.3 s)</a:t>
            </a:r>
            <a:endParaRPr lang="en-US" sz="2200" dirty="0"/>
          </a:p>
        </p:txBody>
      </p:sp>
      <p:sp>
        <p:nvSpPr>
          <p:cNvPr id="10" name="Text 7"/>
          <p:cNvSpPr txBox="1"/>
          <p:nvPr/>
        </p:nvSpPr>
        <p:spPr>
          <a:xfrm>
            <a:off x="5806440" y="3209544"/>
            <a:ext cx="2880360" cy="713232"/>
          </a:xfrm>
          <a:prstGeom prst="rect">
            <a:avLst/>
          </a:prstGeom>
          <a:noFill/>
          <a:ln/>
        </p:spPr>
        <p:txBody>
          <a:bodyPr wrap="square" lIns="0" tIns="0" rIns="0" bIns="0" rtlCol="0" anchor="t"/>
          <a:lstStyle/>
          <a:p>
            <a:pPr indent="0" marL="0">
              <a:buNone/>
            </a:pPr>
            <a:r>
              <a:rPr lang="en-US" sz="2200" b="1" dirty="0">
                <a:solidFill>
                  <a:srgbClr val="1B6F6A"/>
                </a:solidFill>
              </a:rPr>
              <a:t>0.00 %</a:t>
            </a:r>
            <a:endParaRPr lang="en-US" sz="2200" dirty="0"/>
          </a:p>
          <a:p>
            <a:pPr indent="0" marL="0">
              <a:buNone/>
            </a:pPr>
            <a:r>
              <a:rPr lang="en-US" sz="1100" dirty="0">
                <a:solidFill>
                  <a:srgbClr val="1C2B2D"/>
                </a:solidFill>
              </a:rPr>
              <a:t>failed of 1,040 requests</a:t>
            </a:r>
            <a:endParaRPr lang="en-US" sz="2200" dirty="0"/>
          </a:p>
        </p:txBody>
      </p:sp>
      <p:sp>
        <p:nvSpPr>
          <p:cNvPr id="11" name="Text 8"/>
          <p:cNvSpPr txBox="1"/>
          <p:nvPr/>
        </p:nvSpPr>
        <p:spPr>
          <a:xfrm>
            <a:off x="5806440" y="3968496"/>
            <a:ext cx="2880360" cy="713232"/>
          </a:xfrm>
          <a:prstGeom prst="rect">
            <a:avLst/>
          </a:prstGeom>
          <a:noFill/>
          <a:ln/>
        </p:spPr>
        <p:txBody>
          <a:bodyPr wrap="square" lIns="0" tIns="0" rIns="0" bIns="0" rtlCol="0" anchor="t"/>
          <a:lstStyle/>
          <a:p>
            <a:pPr indent="0" marL="0">
              <a:buNone/>
            </a:pPr>
            <a:r>
              <a:rPr lang="en-US" sz="2200" b="1" dirty="0">
                <a:solidFill>
                  <a:srgbClr val="1B6F6A"/>
                </a:solidFill>
              </a:rPr>
              <a:t>1 → 4</a:t>
            </a:r>
            <a:endParaRPr lang="en-US" sz="2200" dirty="0"/>
          </a:p>
          <a:p>
            <a:pPr indent="0" marL="0">
              <a:buNone/>
            </a:pPr>
            <a:r>
              <a:rPr lang="en-US" sz="1100" dirty="0">
                <a:solidFill>
                  <a:srgbClr val="1C2B2D"/>
                </a:solidFill>
              </a:rPr>
              <a:t>workers in about 40 s</a:t>
            </a:r>
            <a:endParaRPr lang="en-US" sz="2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tep circle 8"/>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8</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Kill a worker during a run</a:t>
            </a:r>
            <a:endParaRPr lang="en-US" sz="2400" dirty="0"/>
          </a:p>
        </p:txBody>
      </p:sp>
      <p:sp>
        <p:nvSpPr>
          <p:cNvPr id="5" name="command box"/>
          <p:cNvSpPr/>
          <p:nvPr/>
        </p:nvSpPr>
        <p:spPr>
          <a:xfrm>
            <a:off x="457200" y="1051560"/>
            <a:ext cx="8229600" cy="731520"/>
          </a:xfrm>
          <a:prstGeom prst="roundRect">
            <a:avLst>
              <a:gd name="adj" fmla="val 7500"/>
            </a:avLst>
          </a:prstGeom>
          <a:solidFill>
            <a:srgbClr val="0B2E33"/>
          </a:solidFill>
          <a:ln w="12700">
            <a:solidFill>
              <a:srgbClr val="0B2E33"/>
            </a:solidFill>
            <a:prstDash val="solid"/>
          </a:ln>
        </p:spPr>
      </p:sp>
      <p:sp>
        <p:nvSpPr>
          <p:cNvPr id="6" name="command text"/>
          <p:cNvSpPr txBox="1"/>
          <p:nvPr/>
        </p:nvSpPr>
        <p:spPr>
          <a:xfrm>
            <a:off x="594360" y="1124712"/>
            <a:ext cx="7955280" cy="585216"/>
          </a:xfrm>
          <a:prstGeom prst="rect">
            <a:avLst/>
          </a:prstGeom>
          <a:noFill/>
          <a:ln/>
        </p:spPr>
        <p:txBody>
          <a:bodyPr wrap="square" lIns="0" tIns="0" rIns="0" bIns="0" rtlCol="0" anchor="t"/>
          <a:lstStyle/>
          <a:p>
            <a:pPr indent="0" marL="0">
              <a:buNone/>
            </a:pPr>
            <a:r>
              <a:rPr lang="en-US" sz="1400" dirty="0">
                <a:solidFill>
                  <a:srgbClr val="E6F2F0"/>
                </a:solidFill>
                <a:latin typeface="Courier New" pitchFamily="34" charset="0"/>
                <a:ea typeface="Courier New" pitchFamily="34" charset="-122"/>
                <a:cs typeface="Courier New" pitchFamily="34" charset="-120"/>
              </a:rPr>
              <a:t>kubectl delete pod/worker-... -n lumen --wait=false</a:t>
            </a:r>
            <a:endParaRPr lang="en-US" sz="1400" dirty="0"/>
          </a:p>
        </p:txBody>
      </p:sp>
      <p:sp>
        <p:nvSpPr>
          <p:cNvPr id="7" name="Text 5"/>
          <p:cNvSpPr txBox="1"/>
          <p:nvPr/>
        </p:nvSpPr>
        <p:spPr>
          <a:xfrm>
            <a:off x="457200" y="2103120"/>
            <a:ext cx="3657600" cy="274320"/>
          </a:xfrm>
          <a:prstGeom prst="rect">
            <a:avLst/>
          </a:prstGeom>
          <a:noFill/>
          <a:ln/>
        </p:spPr>
        <p:txBody>
          <a:bodyPr wrap="square" lIns="0" tIns="0" rIns="0" bIns="0" rtlCol="0" anchor="ctr"/>
          <a:lstStyle/>
          <a:p>
            <a:pPr indent="0" marL="0">
              <a:buNone/>
            </a:pPr>
            <a:r>
              <a:rPr lang="en-US" sz="1400" b="1" dirty="0">
                <a:solidFill>
                  <a:srgbClr val="1B6F6A"/>
                </a:solidFill>
              </a:rPr>
              <a:t>Watch for</a:t>
            </a:r>
            <a:endParaRPr lang="en-US" sz="1400" dirty="0"/>
          </a:p>
        </p:txBody>
      </p:sp>
      <p:sp>
        <p:nvSpPr>
          <p:cNvPr id="8" name="Text 6"/>
          <p:cNvSpPr txBox="1"/>
          <p:nvPr/>
        </p:nvSpPr>
        <p:spPr>
          <a:xfrm>
            <a:off x="457200" y="2468880"/>
            <a:ext cx="8229600" cy="2194560"/>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1C2B2D"/>
                </a:solidFill>
              </a:rPr>
              <a:t>Tested: graceful delete, question ended as normal</a:t>
            </a:r>
            <a:endParaRPr lang="en-US" sz="1800" dirty="0"/>
          </a:p>
          <a:p>
            <a:pPr marL="177800" indent="-177800">
              <a:spcAft>
                <a:spcPts val="500"/>
              </a:spcAft>
              <a:buSzPct val="100000"/>
              <a:buChar char="•"/>
            </a:pPr>
            <a:r>
              <a:rPr lang="en-US" sz="1800" dirty="0">
                <a:solidFill>
                  <a:srgbClr val="1C2B2D"/>
                </a:solidFill>
              </a:rPr>
              <a:t>Tested: hard kill, ended in 12.6 s; turns redelivered</a:t>
            </a:r>
            <a:endParaRPr lang="en-US" sz="1800" dirty="0"/>
          </a:p>
          <a:p>
            <a:pPr marL="177800" indent="-177800">
              <a:spcAft>
                <a:spcPts val="500"/>
              </a:spcAft>
              <a:buSzPct val="100000"/>
              <a:buChar char="•"/>
            </a:pPr>
            <a:r>
              <a:rPr lang="en-US" sz="1800" dirty="0">
                <a:solidFill>
                  <a:srgbClr val="1C2B2D"/>
                </a:solidFill>
              </a:rPr>
              <a:t>Hard kill cost USD 0.08 vs 0.03: turns ran twice</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tep circle 9"/>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9</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The load test ends; the workers scale back in</a:t>
            </a:r>
            <a:endParaRPr lang="en-US" sz="2400" dirty="0"/>
          </a:p>
        </p:txBody>
      </p:sp>
      <p:sp>
        <p:nvSpPr>
          <p:cNvPr id="5" name="command box"/>
          <p:cNvSpPr/>
          <p:nvPr/>
        </p:nvSpPr>
        <p:spPr>
          <a:xfrm>
            <a:off x="457200" y="1051560"/>
            <a:ext cx="8229600" cy="768096"/>
          </a:xfrm>
          <a:prstGeom prst="roundRect">
            <a:avLst>
              <a:gd name="adj" fmla="val 7143"/>
            </a:avLst>
          </a:prstGeom>
          <a:solidFill>
            <a:srgbClr val="0B2E33"/>
          </a:solidFill>
          <a:ln w="12700">
            <a:solidFill>
              <a:srgbClr val="0B2E33"/>
            </a:solidFill>
            <a:prstDash val="solid"/>
          </a:ln>
        </p:spPr>
      </p:sp>
      <p:sp>
        <p:nvSpPr>
          <p:cNvPr id="6" name="command text"/>
          <p:cNvSpPr txBox="1"/>
          <p:nvPr/>
        </p:nvSpPr>
        <p:spPr>
          <a:xfrm>
            <a:off x="594360" y="1124712"/>
            <a:ext cx="7955280" cy="621792"/>
          </a:xfrm>
          <a:prstGeom prst="rect">
            <a:avLst/>
          </a:prstGeom>
          <a:noFill/>
          <a:ln/>
        </p:spPr>
        <p:txBody>
          <a:bodyPr wrap="square" lIns="0" tIns="0" rIns="0" bIns="0" rtlCol="0" anchor="t"/>
          <a:lstStyle/>
          <a:p>
            <a:pPr indent="0" marL="0">
              <a:buNone/>
            </a:pPr>
            <a:r>
              <a:rPr lang="en-US" sz="1400" dirty="0">
                <a:solidFill>
                  <a:srgbClr val="E6F2F0"/>
                </a:solidFill>
                <a:latin typeface="Courier New" pitchFamily="34" charset="0"/>
                <a:ea typeface="Courier New" pitchFamily="34" charset="-122"/>
                <a:cs typeface="Courier New" pitchFamily="34" charset="-120"/>
              </a:rPr>
              <a:t>wait $K6_PID; tail -5 k6.log</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kubectl get scaledobject,hpa,pods -n lumen</a:t>
            </a:r>
            <a:endParaRPr lang="en-US" sz="1400" dirty="0"/>
          </a:p>
        </p:txBody>
      </p:sp>
      <p:sp>
        <p:nvSpPr>
          <p:cNvPr id="7" name="Text 5"/>
          <p:cNvSpPr txBox="1"/>
          <p:nvPr/>
        </p:nvSpPr>
        <p:spPr>
          <a:xfrm>
            <a:off x="457200" y="2139696"/>
            <a:ext cx="3657600" cy="274320"/>
          </a:xfrm>
          <a:prstGeom prst="rect">
            <a:avLst/>
          </a:prstGeom>
          <a:noFill/>
          <a:ln/>
        </p:spPr>
        <p:txBody>
          <a:bodyPr wrap="square" lIns="0" tIns="0" rIns="0" bIns="0" rtlCol="0" anchor="ctr"/>
          <a:lstStyle/>
          <a:p>
            <a:pPr indent="0" marL="0">
              <a:buNone/>
            </a:pPr>
            <a:r>
              <a:rPr lang="en-US" sz="1400" b="1" dirty="0">
                <a:solidFill>
                  <a:srgbClr val="1B6F6A"/>
                </a:solidFill>
              </a:rPr>
              <a:t>Watch for</a:t>
            </a:r>
            <a:endParaRPr lang="en-US" sz="1400" dirty="0"/>
          </a:p>
        </p:txBody>
      </p:sp>
      <p:sp>
        <p:nvSpPr>
          <p:cNvPr id="8" name="Text 6"/>
          <p:cNvSpPr txBox="1"/>
          <p:nvPr/>
        </p:nvSpPr>
        <p:spPr>
          <a:xfrm>
            <a:off x="457200" y="2505456"/>
            <a:ext cx="8229600" cy="2157984"/>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1C2B2D"/>
                </a:solidFill>
              </a:rPr>
              <a:t>k6 summary: questions, time to rest, failures</a:t>
            </a:r>
            <a:endParaRPr lang="en-US" sz="1800" dirty="0"/>
          </a:p>
          <a:p>
            <a:pPr marL="177800" indent="-177800">
              <a:spcAft>
                <a:spcPts val="500"/>
              </a:spcAft>
              <a:buSzPct val="100000"/>
              <a:buChar char="•"/>
            </a:pPr>
            <a:r>
              <a:rPr lang="en-US" sz="1800" dirty="0">
                <a:solidFill>
                  <a:srgbClr val="1C2B2D"/>
                </a:solidFill>
              </a:rPr>
              <a:t>Workers return to 1 after the 60 s window</a:t>
            </a:r>
            <a:endParaRPr lang="en-US" sz="1800" dirty="0"/>
          </a:p>
          <a:p>
            <a:pPr marL="177800" indent="-177800">
              <a:spcAft>
                <a:spcPts val="500"/>
              </a:spcAft>
              <a:buSzPct val="100000"/>
              <a:buChar char="•"/>
            </a:pPr>
            <a:r>
              <a:rPr lang="en-US" sz="1800" dirty="0">
                <a:solidFill>
                  <a:srgbClr val="1C2B2D"/>
                </a:solidFill>
              </a:rPr>
              <a:t>Recorded run: 4 → 2 → 1 within about a minute</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tep circle 10"/>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10</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A second app on the platform: the literature watch</a:t>
            </a:r>
            <a:endParaRPr lang="en-US" sz="2400" dirty="0"/>
          </a:p>
        </p:txBody>
      </p:sp>
      <p:sp>
        <p:nvSpPr>
          <p:cNvPr id="5" name="command box"/>
          <p:cNvSpPr/>
          <p:nvPr/>
        </p:nvSpPr>
        <p:spPr>
          <a:xfrm>
            <a:off x="457200" y="1051560"/>
            <a:ext cx="8229600" cy="768096"/>
          </a:xfrm>
          <a:prstGeom prst="roundRect">
            <a:avLst>
              <a:gd name="adj" fmla="val 7143"/>
            </a:avLst>
          </a:prstGeom>
          <a:solidFill>
            <a:srgbClr val="0B2E33"/>
          </a:solidFill>
          <a:ln w="12700">
            <a:solidFill>
              <a:srgbClr val="0B2E33"/>
            </a:solidFill>
            <a:prstDash val="solid"/>
          </a:ln>
        </p:spPr>
      </p:sp>
      <p:sp>
        <p:nvSpPr>
          <p:cNvPr id="6" name="command text"/>
          <p:cNvSpPr txBox="1"/>
          <p:nvPr/>
        </p:nvSpPr>
        <p:spPr>
          <a:xfrm>
            <a:off x="594360" y="1124712"/>
            <a:ext cx="7955280" cy="621792"/>
          </a:xfrm>
          <a:prstGeom prst="rect">
            <a:avLst/>
          </a:prstGeom>
          <a:noFill/>
          <a:ln/>
        </p:spPr>
        <p:txBody>
          <a:bodyPr wrap="square" lIns="0" tIns="0" rIns="0" bIns="0" rtlCol="0" anchor="t"/>
          <a:lstStyle/>
          <a:p>
            <a:pPr indent="0" marL="0">
              <a:buNone/>
            </a:pPr>
            <a:r>
              <a:rPr lang="en-US" sz="1400" dirty="0">
                <a:solidFill>
                  <a:srgbClr val="E6F2F0"/>
                </a:solidFill>
                <a:latin typeface="Courier New" pitchFamily="34" charset="0"/>
                <a:ea typeface="Courier New" pitchFamily="34" charset="-122"/>
                <a:cs typeface="Courier New" pitchFamily="34" charset="-120"/>
              </a:rPr>
              <a:t>LUMEN_URL=$URL LUMEN_API_KEY=$LUMEN_API_KEY \</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  WATCH_FILE=watches.json node apps/watch/watch.mjs</a:t>
            </a:r>
            <a:endParaRPr lang="en-US" sz="1400" dirty="0"/>
          </a:p>
        </p:txBody>
      </p:sp>
      <p:sp>
        <p:nvSpPr>
          <p:cNvPr id="7" name="Text 5"/>
          <p:cNvSpPr txBox="1"/>
          <p:nvPr/>
        </p:nvSpPr>
        <p:spPr>
          <a:xfrm>
            <a:off x="457200" y="2139696"/>
            <a:ext cx="3657600" cy="274320"/>
          </a:xfrm>
          <a:prstGeom prst="rect">
            <a:avLst/>
          </a:prstGeom>
          <a:noFill/>
          <a:ln/>
        </p:spPr>
        <p:txBody>
          <a:bodyPr wrap="square" lIns="0" tIns="0" rIns="0" bIns="0" rtlCol="0" anchor="ctr"/>
          <a:lstStyle/>
          <a:p>
            <a:pPr indent="0" marL="0">
              <a:buNone/>
            </a:pPr>
            <a:r>
              <a:rPr lang="en-US" sz="1400" b="1" dirty="0">
                <a:solidFill>
                  <a:srgbClr val="1B6F6A"/>
                </a:solidFill>
              </a:rPr>
              <a:t>Watch for</a:t>
            </a:r>
            <a:endParaRPr lang="en-US" sz="1400" dirty="0"/>
          </a:p>
        </p:txBody>
      </p:sp>
      <p:sp>
        <p:nvSpPr>
          <p:cNvPr id="8" name="Text 6"/>
          <p:cNvSpPr txBox="1"/>
          <p:nvPr/>
        </p:nvSpPr>
        <p:spPr>
          <a:xfrm>
            <a:off x="457200" y="2505456"/>
            <a:ext cx="8229600" cy="2157984"/>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1C2B2D"/>
                </a:solidFill>
              </a:rPr>
              <a:t>Only the public API and a key</a:t>
            </a:r>
            <a:endParaRPr lang="en-US" sz="1800" dirty="0"/>
          </a:p>
          <a:p>
            <a:pPr marL="177800" indent="-177800">
              <a:spcAft>
                <a:spcPts val="500"/>
              </a:spcAft>
              <a:buSzPct val="100000"/>
              <a:buChar char="•"/>
            </a:pPr>
            <a:r>
              <a:rPr lang="en-US" sz="1800" dirty="0">
                <a:solidFill>
                  <a:srgbClr val="1C2B2D"/>
                </a:solidFill>
              </a:rPr>
              <a:t>Agent literature-scout, published by a producer</a:t>
            </a:r>
            <a:endParaRPr lang="en-US" sz="1800" dirty="0"/>
          </a:p>
          <a:p>
            <a:pPr marL="177800" indent="-177800">
              <a:spcAft>
                <a:spcPts val="500"/>
              </a:spcAft>
              <a:buSzPct val="100000"/>
              <a:buChar char="•"/>
            </a:pPr>
            <a:r>
              <a:rPr lang="en-US" sz="1800" dirty="0">
                <a:solidFill>
                  <a:srgbClr val="1C2B2D"/>
                </a:solidFill>
              </a:rPr>
              <a:t>Verified on host: ended, USD 0.01, 5 s, exit 0</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tep circle 11"/>
          <p:cNvSpPr/>
          <p:nvPr/>
        </p:nvSpPr>
        <p:spPr>
          <a:xfrm>
            <a:off x="457200" y="274320"/>
            <a:ext cx="566928" cy="566928"/>
          </a:xfrm>
          <a:prstGeom prst="ellipse">
            <a:avLst/>
          </a:prstGeom>
          <a:solidFill>
            <a:srgbClr val="1B6F6A"/>
          </a:solidFill>
          <a:ln w="12700">
            <a:solidFill>
              <a:srgbClr val="1B6F6A"/>
            </a:solidFill>
            <a:prstDash val="solid"/>
          </a:ln>
        </p:spPr>
      </p:sp>
      <p:sp>
        <p:nvSpPr>
          <p:cNvPr id="3" name="Text 1"/>
          <p:cNvSpPr txBox="1"/>
          <p:nvPr/>
        </p:nvSpPr>
        <p:spPr>
          <a:xfrm>
            <a:off x="457200" y="2743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11</a:t>
            </a:r>
            <a:endParaRPr lang="en-US" sz="2200" dirty="0"/>
          </a:p>
        </p:txBody>
      </p:sp>
      <p:sp>
        <p:nvSpPr>
          <p:cNvPr id="4" name="Text 0"/>
          <p:cNvSpPr/>
          <p:nvPr>
            <p:ph idx="100" type="title" hasCustomPrompt="1"/>
          </p:nvPr>
        </p:nvSpPr>
        <p:spPr>
          <a:xfrm>
            <a:off x="1325880" y="274320"/>
            <a:ext cx="7360920" cy="566928"/>
          </a:xfrm>
          <a:prstGeom prst="rect">
            <a:avLst/>
          </a:prstGeom>
          <a:noFill/>
          <a:ln/>
        </p:spPr>
        <p:txBody>
          <a:bodyPr wrap="square" lIns="0" tIns="0" rIns="0" bIns="0" rtlCol="0" anchor="ctr"/>
          <a:lstStyle/>
          <a:p>
            <a:pPr indent="0" marL="0">
              <a:buNone/>
            </a:pPr>
            <a:r>
              <a:rPr lang="en-US" sz="2400" b="1" dirty="0">
                <a:solidFill>
                  <a:srgbClr val="0B2E33"/>
                </a:solidFill>
              </a:rPr>
              <a:t>The wallet: what the demo questions cost</a:t>
            </a:r>
            <a:endParaRPr lang="en-US" sz="2400" dirty="0"/>
          </a:p>
        </p:txBody>
      </p:sp>
      <p:sp>
        <p:nvSpPr>
          <p:cNvPr id="5" name="command box"/>
          <p:cNvSpPr/>
          <p:nvPr/>
        </p:nvSpPr>
        <p:spPr>
          <a:xfrm>
            <a:off x="457200" y="1051560"/>
            <a:ext cx="8229600" cy="768096"/>
          </a:xfrm>
          <a:prstGeom prst="roundRect">
            <a:avLst>
              <a:gd name="adj" fmla="val 7143"/>
            </a:avLst>
          </a:prstGeom>
          <a:solidFill>
            <a:srgbClr val="0B2E33"/>
          </a:solidFill>
          <a:ln w="12700">
            <a:solidFill>
              <a:srgbClr val="0B2E33"/>
            </a:solidFill>
            <a:prstDash val="solid"/>
          </a:ln>
        </p:spPr>
      </p:sp>
      <p:sp>
        <p:nvSpPr>
          <p:cNvPr id="6" name="command text"/>
          <p:cNvSpPr txBox="1"/>
          <p:nvPr/>
        </p:nvSpPr>
        <p:spPr>
          <a:xfrm>
            <a:off x="594360" y="1124712"/>
            <a:ext cx="7955280" cy="621792"/>
          </a:xfrm>
          <a:prstGeom prst="rect">
            <a:avLst/>
          </a:prstGeom>
          <a:noFill/>
          <a:ln/>
        </p:spPr>
        <p:txBody>
          <a:bodyPr wrap="square" lIns="0" tIns="0" rIns="0" bIns="0" rtlCol="0" anchor="t"/>
          <a:lstStyle/>
          <a:p>
            <a:pPr indent="0" marL="0">
              <a:buNone/>
            </a:pPr>
            <a:r>
              <a:rPr lang="en-US" sz="1400" dirty="0">
                <a:solidFill>
                  <a:srgbClr val="E6F2F0"/>
                </a:solidFill>
                <a:latin typeface="Courier New" pitchFamily="34" charset="0"/>
                <a:ea typeface="Courier New" pitchFamily="34" charset="-122"/>
                <a:cs typeface="Courier New" pitchFamily="34" charset="-120"/>
              </a:rPr>
              <a:t>GET /api/wallet</a:t>
            </a:r>
            <a:endParaRPr lang="en-US" sz="1400" dirty="0"/>
          </a:p>
          <a:p>
            <a:pPr indent="0" marL="0">
              <a:buNone/>
            </a:pPr>
            <a:r>
              <a:rPr lang="en-US" sz="1400" dirty="0">
                <a:solidFill>
                  <a:srgbClr val="E6F2F0"/>
                </a:solidFill>
                <a:latin typeface="Courier New" pitchFamily="34" charset="0"/>
                <a:ea typeface="Courier New" pitchFamily="34" charset="-122"/>
                <a:cs typeface="Courier New" pitchFamily="34" charset="-120"/>
              </a:rPr>
              <a:t>→ {"spent": {...}, "cap": {...}}</a:t>
            </a:r>
            <a:endParaRPr lang="en-US" sz="1400" dirty="0"/>
          </a:p>
        </p:txBody>
      </p:sp>
      <p:sp>
        <p:nvSpPr>
          <p:cNvPr id="7" name="Text 5"/>
          <p:cNvSpPr txBox="1"/>
          <p:nvPr/>
        </p:nvSpPr>
        <p:spPr>
          <a:xfrm>
            <a:off x="457200" y="2139696"/>
            <a:ext cx="3657600" cy="274320"/>
          </a:xfrm>
          <a:prstGeom prst="rect">
            <a:avLst/>
          </a:prstGeom>
          <a:noFill/>
          <a:ln/>
        </p:spPr>
        <p:txBody>
          <a:bodyPr wrap="square" lIns="0" tIns="0" rIns="0" bIns="0" rtlCol="0" anchor="ctr"/>
          <a:lstStyle/>
          <a:p>
            <a:pPr indent="0" marL="0">
              <a:buNone/>
            </a:pPr>
            <a:r>
              <a:rPr lang="en-US" sz="1400" b="1" dirty="0">
                <a:solidFill>
                  <a:srgbClr val="1B6F6A"/>
                </a:solidFill>
              </a:rPr>
              <a:t>Watch for</a:t>
            </a:r>
            <a:endParaRPr lang="en-US" sz="1400" dirty="0"/>
          </a:p>
        </p:txBody>
      </p:sp>
      <p:sp>
        <p:nvSpPr>
          <p:cNvPr id="8" name="Text 6"/>
          <p:cNvSpPr txBox="1"/>
          <p:nvPr/>
        </p:nvSpPr>
        <p:spPr>
          <a:xfrm>
            <a:off x="457200" y="2505456"/>
            <a:ext cx="8229600" cy="2157984"/>
          </a:xfrm>
          <a:prstGeom prst="rect">
            <a:avLst/>
          </a:prstGeom>
          <a:noFill/>
          <a:ln/>
        </p:spPr>
        <p:txBody>
          <a:bodyPr wrap="square" lIns="0" tIns="0" rIns="0" bIns="0" rtlCol="0" anchor="t"/>
          <a:lstStyle/>
          <a:p>
            <a:pPr marL="177800" indent="-177800">
              <a:spcAft>
                <a:spcPts val="500"/>
              </a:spcAft>
              <a:buSzPct val="100000"/>
              <a:buChar char="•"/>
            </a:pPr>
            <a:r>
              <a:rPr lang="en-US" sz="1800" dirty="0">
                <a:solidFill>
                  <a:srgbClr val="1C2B2D"/>
                </a:solidFill>
              </a:rPr>
              <a:t>Every step is costed against the cap</a:t>
            </a:r>
            <a:endParaRPr lang="en-US" sz="1800" dirty="0"/>
          </a:p>
          <a:p>
            <a:pPr marL="177800" indent="-177800">
              <a:spcAft>
                <a:spcPts val="500"/>
              </a:spcAft>
              <a:buSzPct val="100000"/>
              <a:buChar char="•"/>
            </a:pPr>
            <a:r>
              <a:rPr lang="en-US" sz="1800" dirty="0">
                <a:solidFill>
                  <a:srgbClr val="1C2B2D"/>
                </a:solidFill>
              </a:rPr>
              <a:t>Billing service, ledger in numeric(12,6)</a:t>
            </a:r>
            <a:endParaRPr lang="en-US" sz="1800" dirty="0"/>
          </a:p>
          <a:p>
            <a:pPr marL="177800" indent="-177800">
              <a:spcAft>
                <a:spcPts val="500"/>
              </a:spcAft>
              <a:buSzPct val="100000"/>
              <a:buChar char="•"/>
            </a:pPr>
            <a:r>
              <a:rPr lang="en-US" sz="1800" dirty="0">
                <a:solidFill>
                  <a:srgbClr val="1C2B2D"/>
                </a:solidFill>
              </a:rPr>
              <a:t>Summary: questions, worker peak, p95, spend</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D"/>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566928"/>
          </a:xfrm>
          <a:prstGeom prst="rect">
            <a:avLst/>
          </a:prstGeom>
          <a:noFill/>
          <a:ln/>
        </p:spPr>
        <p:txBody>
          <a:bodyPr wrap="square" lIns="0" tIns="0" rIns="0" bIns="0" rtlCol="0" anchor="ctr"/>
          <a:lstStyle/>
          <a:p>
            <a:pPr indent="0" marL="0">
              <a:buNone/>
            </a:pPr>
            <a:r>
              <a:rPr lang="en-US" sz="2800" b="1" dirty="0">
                <a:solidFill>
                  <a:srgbClr val="FFFFFF"/>
                </a:solidFill>
              </a:rPr>
              <a:t>Limitations and next steps</a:t>
            </a:r>
            <a:endParaRPr lang="en-US" sz="2800" dirty="0"/>
          </a:p>
        </p:txBody>
      </p:sp>
      <p:sp>
        <p:nvSpPr>
          <p:cNvPr id="3" name="Text 1"/>
          <p:cNvSpPr txBox="1"/>
          <p:nvPr/>
        </p:nvSpPr>
        <p:spPr>
          <a:xfrm>
            <a:off x="548640" y="1188720"/>
            <a:ext cx="4206240" cy="3017520"/>
          </a:xfrm>
          <a:prstGeom prst="rect">
            <a:avLst/>
          </a:prstGeom>
          <a:noFill/>
          <a:ln/>
        </p:spPr>
        <p:txBody>
          <a:bodyPr wrap="square" lIns="0" tIns="0" rIns="0" bIns="0" rtlCol="0" anchor="t"/>
          <a:lstStyle/>
          <a:p>
            <a:pPr indent="0" marL="0">
              <a:spcAft>
                <a:spcPts val="800"/>
              </a:spcAft>
              <a:buNone/>
            </a:pPr>
            <a:r>
              <a:rPr lang="en-US" sz="1300" b="1" dirty="0">
                <a:solidFill>
                  <a:srgbClr val="E8A33D"/>
                </a:solidFill>
              </a:rPr>
              <a:t>AISS-01  </a:t>
            </a:r>
            <a:pPr indent="0" marL="0">
              <a:spcAft>
                <a:spcPts val="800"/>
              </a:spcAft>
              <a:buNone/>
            </a:pPr>
            <a:r>
              <a:rPr lang="en-US" sz="1300" dirty="0">
                <a:solidFill>
                  <a:srgbClr val="FFFFFF"/>
                </a:solidFill>
              </a:rPr>
              <a:t>Session has one replica: running questions end on a restart</a:t>
            </a:r>
            <a:endParaRPr lang="en-US" sz="1300" dirty="0"/>
          </a:p>
          <a:p>
            <a:pPr indent="0" marL="0">
              <a:spcAft>
                <a:spcPts val="800"/>
              </a:spcAft>
              <a:buNone/>
            </a:pPr>
            <a:r>
              <a:rPr lang="en-US" sz="1300" b="1" dirty="0">
                <a:solidFill>
                  <a:srgbClr val="E8A33D"/>
                </a:solidFill>
              </a:rPr>
              <a:t>AISS-02  </a:t>
            </a:r>
            <a:pPr indent="0" marL="0">
              <a:spcAft>
                <a:spcPts val="800"/>
              </a:spcAft>
              <a:buNone/>
            </a:pPr>
            <a:r>
              <a:rPr lang="en-US" sz="1300" dirty="0">
                <a:solidFill>
                  <a:srgbClr val="FFFFFF"/>
                </a:solidFill>
              </a:rPr>
              <a:t>One shared database for five services</a:t>
            </a:r>
            <a:endParaRPr lang="en-US" sz="1300" dirty="0"/>
          </a:p>
          <a:p>
            <a:pPr indent="0" marL="0">
              <a:spcAft>
                <a:spcPts val="800"/>
              </a:spcAft>
              <a:buNone/>
            </a:pPr>
            <a:r>
              <a:rPr lang="en-US" sz="1300" b="1" dirty="0">
                <a:solidFill>
                  <a:srgbClr val="E8A33D"/>
                </a:solidFill>
              </a:rPr>
              <a:t>AISS-03  </a:t>
            </a:r>
            <a:pPr indent="0" marL="0">
              <a:spcAft>
                <a:spcPts val="800"/>
              </a:spcAft>
              <a:buNone/>
            </a:pPr>
            <a:r>
              <a:rPr lang="en-US" sz="1300" dirty="0">
                <a:solidFill>
                  <a:srgbClr val="FFFFFF"/>
                </a:solidFill>
              </a:rPr>
              <a:t>One EC2 node: no node autoscaling</a:t>
            </a:r>
            <a:endParaRPr lang="en-US" sz="1300" dirty="0"/>
          </a:p>
          <a:p>
            <a:pPr indent="0" marL="0">
              <a:spcAft>
                <a:spcPts val="800"/>
              </a:spcAft>
              <a:buNone/>
            </a:pPr>
            <a:r>
              <a:rPr lang="en-US" sz="1300" b="1" dirty="0">
                <a:solidFill>
                  <a:srgbClr val="E8A33D"/>
                </a:solidFill>
              </a:rPr>
              <a:t>AISS-04  </a:t>
            </a:r>
            <a:pPr indent="0" marL="0">
              <a:spcAft>
                <a:spcPts val="800"/>
              </a:spcAft>
              <a:buNone/>
            </a:pPr>
            <a:r>
              <a:rPr lang="en-US" sz="1300" dirty="0">
                <a:solidFill>
                  <a:srgbClr val="FFFFFF"/>
                </a:solidFill>
              </a:rPr>
              <a:t>A redelivered turn runs again from its start</a:t>
            </a:r>
            <a:endParaRPr lang="en-US" sz="1300" dirty="0"/>
          </a:p>
          <a:p>
            <a:pPr indent="0" marL="0">
              <a:spcAft>
                <a:spcPts val="800"/>
              </a:spcAft>
              <a:buNone/>
            </a:pPr>
            <a:r>
              <a:rPr lang="en-US" sz="1300" b="1" dirty="0">
                <a:solidFill>
                  <a:srgbClr val="E8A33D"/>
                </a:solidFill>
              </a:rPr>
              <a:t>AISS-05/06  </a:t>
            </a:r>
            <a:pPr indent="0" marL="0">
              <a:spcAft>
                <a:spcPts val="800"/>
              </a:spcAft>
              <a:buNone/>
            </a:pPr>
            <a:r>
              <a:rPr lang="en-US" sz="1300" dirty="0">
                <a:solidFill>
                  <a:srgbClr val="FFFFFF"/>
                </a:solidFill>
              </a:rPr>
              <a:t>No network policies; no tracing or metrics stack</a:t>
            </a:r>
            <a:endParaRPr lang="en-US" sz="1300" dirty="0"/>
          </a:p>
          <a:p>
            <a:pPr indent="0" marL="0">
              <a:spcAft>
                <a:spcPts val="800"/>
              </a:spcAft>
              <a:buNone/>
            </a:pPr>
            <a:r>
              <a:rPr lang="en-US" sz="1300" b="1" dirty="0">
                <a:solidFill>
                  <a:srgbClr val="E8A33D"/>
                </a:solidFill>
              </a:rPr>
              <a:t>Demo mode  </a:t>
            </a:r>
            <a:pPr indent="0" marL="0">
              <a:spcAft>
                <a:spcPts val="800"/>
              </a:spcAft>
              <a:buNone/>
            </a:pPr>
            <a:r>
              <a:rPr lang="en-US" sz="1300" dirty="0">
                <a:solidFill>
                  <a:srgbClr val="FFFFFF"/>
                </a:solidFill>
              </a:rPr>
              <a:t>Workers run without a model key until the talk</a:t>
            </a:r>
            <a:endParaRPr lang="en-US" sz="1300" dirty="0"/>
          </a:p>
        </p:txBody>
      </p:sp>
      <p:sp>
        <p:nvSpPr>
          <p:cNvPr id="4" name="Text 2"/>
          <p:cNvSpPr txBox="1"/>
          <p:nvPr/>
        </p:nvSpPr>
        <p:spPr>
          <a:xfrm>
            <a:off x="5029200" y="1188720"/>
            <a:ext cx="3657600" cy="30175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D7E9E6"/>
                </a:solidFill>
              </a:rPr>
              <a:t>Stream service and task state in the database, then several session replicas</a:t>
            </a:r>
            <a:endParaRPr lang="en-US" sz="1300" dirty="0"/>
          </a:p>
          <a:p>
            <a:pPr marL="177800" indent="-177800">
              <a:spcAft>
                <a:spcPts val="800"/>
              </a:spcAft>
              <a:buSzPct val="100000"/>
              <a:buChar char="•"/>
            </a:pPr>
            <a:r>
              <a:rPr lang="en-US" sz="1300" dirty="0">
                <a:solidFill>
                  <a:srgbClr val="D7E9E6"/>
                </a:solidFill>
              </a:rPr>
              <a:t>One schema and user per service, then one database each</a:t>
            </a:r>
            <a:endParaRPr lang="en-US" sz="1300" dirty="0"/>
          </a:p>
          <a:p>
            <a:pPr marL="177800" indent="-177800">
              <a:spcAft>
                <a:spcPts val="800"/>
              </a:spcAft>
              <a:buSzPct val="100000"/>
              <a:buChar char="•"/>
            </a:pPr>
            <a:r>
              <a:rPr lang="en-US" sz="1300" dirty="0">
                <a:solidFill>
                  <a:srgbClr val="D7E9E6"/>
                </a:solidFill>
              </a:rPr>
              <a:t>EKS with node autoscaling; EFS for files</a:t>
            </a:r>
            <a:endParaRPr lang="en-US" sz="1300" dirty="0"/>
          </a:p>
          <a:p>
            <a:pPr marL="177800" indent="-177800">
              <a:spcAft>
                <a:spcPts val="800"/>
              </a:spcAft>
              <a:buSzPct val="100000"/>
              <a:buChar char="•"/>
            </a:pPr>
            <a:r>
              <a:rPr lang="en-US" sz="1300" dirty="0">
                <a:solidFill>
                  <a:srgbClr val="D7E9E6"/>
                </a:solidFill>
              </a:rPr>
              <a:t>Idempotent turns (hard kill: USD 0.08 vs 0.03)</a:t>
            </a:r>
            <a:endParaRPr lang="en-US" sz="1300" dirty="0"/>
          </a:p>
          <a:p>
            <a:pPr marL="177800" indent="-177800">
              <a:spcAft>
                <a:spcPts val="800"/>
              </a:spcAft>
              <a:buSzPct val="100000"/>
              <a:buChar char="•"/>
            </a:pPr>
            <a:r>
              <a:rPr lang="en-US" sz="1300" dirty="0">
                <a:solidFill>
                  <a:srgbClr val="D7E9E6"/>
                </a:solidFill>
              </a:rPr>
              <a:t>Network policies; OpenTelemetry</a:t>
            </a:r>
            <a:endParaRPr lang="en-US" sz="1300" dirty="0"/>
          </a:p>
        </p:txBody>
      </p:sp>
      <p:sp>
        <p:nvSpPr>
          <p:cNvPr id="5" name="Text 3"/>
          <p:cNvSpPr txBox="1"/>
          <p:nvPr/>
        </p:nvSpPr>
        <p:spPr>
          <a:xfrm>
            <a:off x="5029200" y="914400"/>
            <a:ext cx="3657600" cy="274320"/>
          </a:xfrm>
          <a:prstGeom prst="rect">
            <a:avLst/>
          </a:prstGeom>
          <a:noFill/>
          <a:ln/>
        </p:spPr>
        <p:txBody>
          <a:bodyPr wrap="square" lIns="0" tIns="0" rIns="0" bIns="0" rtlCol="0" anchor="ctr"/>
          <a:lstStyle/>
          <a:p>
            <a:pPr indent="0" marL="0">
              <a:buNone/>
            </a:pPr>
            <a:r>
              <a:rPr lang="en-US" sz="1300" b="1" dirty="0">
                <a:solidFill>
                  <a:srgbClr val="E8A33D"/>
                </a:solidFill>
              </a:rPr>
              <a:t>Next steps</a:t>
            </a:r>
            <a:endParaRPr lang="en-US" sz="1300" dirty="0"/>
          </a:p>
        </p:txBody>
      </p:sp>
      <p:sp>
        <p:nvSpPr>
          <p:cNvPr id="6" name="Text 4"/>
          <p:cNvSpPr txBox="1"/>
          <p:nvPr/>
        </p:nvSpPr>
        <p:spPr>
          <a:xfrm>
            <a:off x="548640" y="914400"/>
            <a:ext cx="3657600" cy="274320"/>
          </a:xfrm>
          <a:prstGeom prst="rect">
            <a:avLst/>
          </a:prstGeom>
          <a:noFill/>
          <a:ln/>
        </p:spPr>
        <p:txBody>
          <a:bodyPr wrap="square" lIns="0" tIns="0" rIns="0" bIns="0" rtlCol="0" anchor="ctr"/>
          <a:lstStyle/>
          <a:p>
            <a:pPr indent="0" marL="0">
              <a:buNone/>
            </a:pPr>
            <a:r>
              <a:rPr lang="en-US" sz="1300" b="1" dirty="0">
                <a:solidFill>
                  <a:srgbClr val="E8A33D"/>
                </a:solidFill>
              </a:rPr>
              <a:t>Known limitations</a:t>
            </a:r>
            <a:endParaRPr lang="en-US" sz="1300" dirty="0"/>
          </a:p>
        </p:txBody>
      </p:sp>
      <p:sp>
        <p:nvSpPr>
          <p:cNvPr id="7" name="Text 5"/>
          <p:cNvSpPr txBox="1"/>
          <p:nvPr/>
        </p:nvSpPr>
        <p:spPr>
          <a:xfrm>
            <a:off x="548640" y="4434840"/>
            <a:ext cx="8046720" cy="365760"/>
          </a:xfrm>
          <a:prstGeom prst="rect">
            <a:avLst/>
          </a:prstGeom>
          <a:noFill/>
          <a:ln/>
        </p:spPr>
        <p:txBody>
          <a:bodyPr wrap="square" lIns="0" tIns="0" rIns="0" bIns="0" rtlCol="0" anchor="ctr"/>
          <a:lstStyle/>
          <a:p>
            <a:pPr indent="0" marL="0">
              <a:buNone/>
            </a:pPr>
            <a:r>
              <a:rPr lang="en-US" sz="1400" b="1" dirty="0">
                <a:solidFill>
                  <a:srgbClr val="FFFFFF"/>
                </a:solidFill>
              </a:rPr>
              <a:t>Thank you. Questions?  ·  https://lumen.54-179-112-87.sslip.io</a:t>
            </a:r>
            <a:endParaRPr lang="en-US" sz="1400" dirty="0"/>
          </a:p>
        </p:txBody>
      </p:sp>
    </p:spTree>
  </p:cSld>
  <p:clrMapOvr>
    <a:masterClrMapping/>
  </p:clrMapOvr>
</p:sld>
</file>

<file path=ppt/theme/theme1.xml><?xml version="1.0" encoding="utf-8"?>
<a:theme xmlns:a="http://schemas.openxmlformats.org/drawingml/2006/main" name="Lumen Platform">
  <a:themeElements>
    <a:clrScheme name="Lumen Platform">
      <a:dk1>
        <a:srgbClr val="1C2B2D"/>
      </a:dk1>
      <a:lt1>
        <a:srgbClr val="FFFFFF"/>
      </a:lt1>
      <a:dk2>
        <a:srgbClr val="0B2E33"/>
      </a:dk2>
      <a:lt2>
        <a:srgbClr val="E6F2F0"/>
      </a:lt2>
      <a:accent1>
        <a:srgbClr val="1B6F6A"/>
      </a:accent1>
      <a:accent2>
        <a:srgbClr val="E8A33D"/>
      </a:accent2>
      <a:accent3>
        <a:srgbClr val="3F8F88"/>
      </a:accent3>
      <a:accent4>
        <a:srgbClr val="B5543C"/>
      </a:accent4>
      <a:accent5>
        <a:srgbClr val="6B7F82"/>
      </a:accent5>
      <a:accent6>
        <a:srgbClr val="9CC9C3"/>
      </a:accent6>
      <a:hlink>
        <a:srgbClr val="1B6F6A"/>
      </a:hlink>
      <a:folHlink>
        <a:srgbClr val="0B2E33"/>
      </a:folHlink>
    </a:clrScheme>
    <a:fontScheme name="Lumen Platfor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Lumen Platform</dc:title>
  <dc:subject>PptxGenJS Presentation</dc:subject>
  <dc:creator>Team 15</dc:creator>
  <cp:lastModifiedBy>Team 15</cp:lastModifiedBy>
  <cp:revision>1</cp:revision>
  <dcterms:created xsi:type="dcterms:W3CDTF">2026-10-20T15:09:01Z</dcterms:created>
  <dcterms:modified xsi:type="dcterms:W3CDTF">2026-10-20T15:09:01Z</dcterms:modified>
</cp:coreProperties>
</file>