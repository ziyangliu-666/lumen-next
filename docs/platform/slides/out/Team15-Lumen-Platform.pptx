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and this is Lumen Platform. We follow the order of the presentation outline. The number at the top left of each slide is the outline item. The address at the bottom is live, and you can open it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Here is a real run.
On the right is the call tree, one row per agent. The first row is the lead agent, which gets the question.
The lead gave three reader agents one paper each. Each row is a task, one agent's work, with its cost.
Each reader records its paper as a finding, here at the top right.
Two readers have finished, and the third is still working. For this course, we turned Lumen into a platform. Other apps use the same research AI through one public API. Now I show who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On the left is the producer, the person who writes an agent. An agent is a model with instructions. The producer publishes it to this registry.
On the right are the consumers. An app, like our literature watch app, asks with its API key. People ask in the web app.
In the middle, the run engine takes the agent's instructions.
It runs each question as a call tree: the lead agent and the helper agents it starts.
It records each step, one model or tool call, with its cost.
And it checks each step against the budget cap, the most an account may spend.
The answer, the findings and the cost go back. People watch the run live.
A new app builds none of this. Our literature watch app is about 210 lines of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 case diagram. The frame is the platform. Four actors stand outside it.
The producer publishes an agent and reads how much it is used.
The literature watch app asks questions. For each topic on its list, it writes a digest.
People in the web app ask questions and manage their API keys. They approve extra spend when a question would pass the budget cap.
The operator is our team. It reads usage too.
All six use cases run on the public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Each member has ten days, from 8 to 21 October.
We fixed the interfaces between the services first. Then each member built a service. Then came autoscaling, the public API and the pipeline.
Every bar is done, and the platform runs on AWS. Each member spent ten person-days, which is 80 hours. That is 400 hours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decisions of the logical design, each as before and after. First, Lumen was one program with five modules.
Each module became a service. The worker runs the agent loop: each agent's model and tool calls.
Second, session called a worker directly.
Now session puts each job, one piece of work for a worker, on a durable queue in RabbitMQ. A durable queue keeps its jobs when a program stops.
More workers can start, and any free worker takes the next job. A web request returns before the model answers.
Third, the worker wrote each step to the database itself.
Now the worker sends each step to session, and session writes it.
Session is the only writer of the steps. A step that reached session stays saved when a worker stops.
The label says job queues, plural. Li Zhuoyang shows why there are three,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diagram in four tiers. Each dependency points down, or sideways to session.
The clients see one thing: the API gateway, Traefik.
The gateway routes each path to one of five services.
Only Project and Worker call session's internal routes. The gateway never routes those from outside.
The services use one PostgreSQL database, RabbitMQ for the job queues, and the model's external API.
Now follow one question at run time. The watch app asks.
Project passes it to session.
Session puts a job on the queue, and a free worker takes it.
The worker calls the model.
Each step goes back to session, and session saves it.
The app reads the answer.
Billing has no line from session. Session checks the budget and records the spend in billing's tables, in the same database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found the contexts. We took the nouns that users say in the six use cases: agent, question, step, budget cap.
We grouped them so each word keeps one meaning: five bounded contexts. Each box lists its aggregates, the things one transaction keeps consistent.
Each arrow is a domain event: a fact that one context tells another. Project sends "question asked", and receives "finding recorded".
Identity is upstream. It tells Project who asks, with which API key.
The worker receives "job queued" and sends "step recorded". It keeps no saved state.
Billing receives "spend recorded" and "approval needed".
Session is part of every event but Identity's. It owns the call tree, what makes Lumen different, so it is the core domain.
Next, Lu Yi. Lu Yi built identity, the gateway, the API keys and the public API. Lu Yi now shows how apps use the platform, and where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the real calls on our public API, in the order they happen.
First the producer. It creates an API key, then publishes an agent: a name, a description and its instructions.
Now the consumer, on the left. It has its own API key. It lists the agents, then asks a question with one of them.
The platform runs the agent on the question.
The consumer reads the answer, the findings and the cost.
Last, the producer reads its usage.
An app uses only these six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physical architecture: three decisions. First, hosting. Our proposal put the Helm chart, our install package for Kubernetes, on EKS, the managed Kubernetes of AWS.
We run it on one EC2 t3.medium machine instead, with k3s, a small Kubernetes. It costs about 1.3 US dollars a day.
The same chart installs on EKS without change.
Second, scaling. HPA, the Kubernetes autoscaler, adds identity, project and billing pods when CPU passes 70 percent. A pod is one running copy of a service.
A worker waits on the model, so its CPU stays low. So KEDA, an event-driven autoscaler, adds worker pods when jobs wait in the queue.
Third, the database. The proposal had a database for each service.
We run one PostgreSQL. Each service keeps its own tables in it.
So one transaction writes the step, its cost and the ledger entry together. The ledger is billing's record of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UML deployment diagram shows one AWS machine, an EC2 t3.medium in Singapore.
k3s runs inside it. The dashed frame, namespace lumen, holds our pods.
Under each service is its pod count. Identity, project and billing run one to three, with HPA. The worker runs one to four, with KEDA.
PostgreSQL keeps its data on a 2 gigabyte disk. RabbitMQ holds the job queues.
Outside are the clients, GitHub Actions and OpenAI.
Users reach the platform only over HTTPS on port 443. Traefik routes each path to a service.
GitHub Actions deploys over SSH on port 22.
Only the worker pods call the OpenAI API.
The security group, the AWS firewall, opens only ports 22, 80 and 443.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recording on the real server.
Here are our seven pods, all running.
And here are the autoscalers. HPA watches CPU for identity, project and billing, with a target of 70 percent and up to three pods. The last line is KEDA for the worker. It shows one number for each queue level: two here, and the third as "+ 1 more". Each is the waiting jobs per worker, against a target of five. It allows up to four workers.
Next, Li Zhuoyang. Li Zhuoyang built the worker service, the job queues and the worker autoscaling. Li Zhuoyang now shows the queue design, one use case in detail, and what happens when a worker 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decision is about a deadlock that we found in design. Here is one shared queue for all jobs. Two questions start two lead agents.
Each worker runs one job, so each worker takes a lead.
Each lead starts three readers. It holds its worker while it waits for them.
Here, a lead waits for its readers.
Readers wait for workers.
Every worker holds a lead.
The waits form a cycle, so no question can finish.
The fix is one queue per level of the call tree. Level 0 holds leads, and level 1 readers. Each worker takes a job from each level.
A reader no longer waits behind a lead, so the cycle breaks.
The readers run beside the leads.
Level 2 is for agents that readers start. Here it stays empty.
Both questions finish. In the real system, each worker runs up to four jobs from each level. The autoscaler watches all three queues.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detailed design of one use case, Ask a question, as a UML sequence diagram.
The watch app sends the question. Project checks the API key.
Project asks session to start the question. Session puts the first job on the level 0 queue.
The par frame means that from here, two lanes run at the same time.
In the upper lane, the app gets 201 at once. In the lower lane, a worker takes the job.
The app reads the answer whenever it likes. Session checks the key on this read too.
Meanwhile the worker runs its steps in a loop. It calls the model and sends each step to session, which saves it in PostgreSQL.
So no web request waits on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use case, sent with curl and an API key.
The platform answers at once with the question id. The API calls it "sessionId". No agent is named here, so the default lead agent answers.
It has ended, with this cost.
And here is the answer from the model, gpt-4.1-nano: 25 prime numbers. The public server uses this smaller model to keep the cost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availability. Here a question starts.
Now we force-delete the only worker pod.
kubectl notes that it does not wait, and the pod is deleted.
We read the question every four seconds, shown at double speed. It is still running.
And here it ends. The cost goes up, because the work goes on.
A worker acknowledges a job only when the job is done. This job was not acknowledged. So Kubernetes starts a new worker, and RabbitMQ gives the open job to it.
Here is the new worker pod that Kubernetes started.
Next, He Rong. He Rong built billing, the Kubernetes setup, the pipeline and the load test. He Rong now shows the database, the DevOps pipeline and the scaling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ER diagram shows our one PostgreSQL 16 database. The frames group the tables by the service that owns them. The worker owns none.
An account has API keys.
It owns the agents it publishes.
A dashed line is an id with no foreign key, as in projects.
A question names an agent.
Sessions keep their project's id.
Each question is one row in sessions.
Tasks is the centre. Its parent id forms the call tree, so the cost roll-up is plain SQL.
Each task has its steps.
Readers record findings.
Each model call of a task is a ledger entry in billing.
Solid lines are foreign keys. Four of them cross between owners. Findings point to sessions and to tasks. Ledger entries point to tasks, and agents point to accounts. Money is stored as numeric 12,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DevOps. First, the source and the artifacts. Main holds Lumen, the base product.
The platform work lives on one integration branch off main.
Commits land on it.
A short-lived feature branch holds one change,
and a pull request merges it back after review.
Every commit lands on this branch, and each push deploys.
Every push builds one image, tagged with its commit.
The pipeline copies the image over SSH into k3s on the EC2 host.
And helm puts it live.
So we need no image registry, and each running version maps to one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pipeline. A push to the integration branch starts it.
Verify, SCA and SAST run at the same time. Verify runs lint, types and tests. SCA audits the dependencies, and SAST is CodeQL, a static analysis.
Then Trivy scans the image for known security flaws, called CVEs. The first two runs stopped here. The image had 5 critical CVEs, so it never reached the host.
We built a smaller platform image without Docker inside.
In the next run, the image passes the gate.
The deploy steps run one after another: copy, import, helm, health check.
Then DAST scans the live address with OWASP ZAP. A smoke load, a short k6 test, runs at the same time.
Every job passed. From the first job to the last took 12 minutes 30 seconds. GitHub shows 20 minutes 45 seconds for this run. That time includes 8 minutes of waiting for the run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real runs, from the GitHub command line.
The gate stopped the two red runs. Above them is the fix.
And here is the fixed run in detail. Every job has a check mark, with the same times as the flowchart.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The first two you saw on slides 13 and 19.
One queue per level of the call tree ended the deadlock.
The image scan stopped the old image, which carried Docker.
The smaller image without Docker passed.
The third we found in the load test. By default, KEDA waits 300 seconds after the load before it removes a worker.
Our Helm chart sets 60 seconds, a fifth of the default. So the extra workers leave a minute after the load, and KEDA still checks the queues every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real load test of 20 October. A fixed delay replaced each model call, so the test measures the platform's scaling. Ten users ask questions without a pause.
The grey bars are the jobs in the three queues. One worker falls behind, and the queues grow.
The dashed line is KEDA's target: five jobs for each worker. KEDA checks each queue against it, and adds worker pods, up to four.
Four is the maximum we set. With four workers, the queue stops growing and drains to zero.
A minute after the load ends, KEDA removes the extra pods. One worker remains.
All 135 questions finished, with a median of 6.1 seconds. Not 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with a short burst of questions.
The TARGETS column compares the waiting jobs per worker with the target of five.
The jobs reached 10 over 5, so the replicas went from one to two. With two workers, the jobs come down. 4500m means 4.5. The recording shortens the waits between the lines.
After the load, the replicas go back to one.
Next, Peng Xujian. Peng Xujian built the project service, the agent registry, usage and the literature watch app. Peng Xujian now shows the platform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seven minutes. Follow the run sheet in the speaker script, slide 24. If the live demo fails, play the narrated backup video ASS-Architecting-Scalable-Systems/Team15-Demo-Backup.mp4 (coursework repository) (about 6 minutes). In Zoom, share the screen with computer sound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The platform stays live at this address, so you can try it after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for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live:  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lumen-at-work-crop.gif">    </p:cNvPr>
          <p:cNvPicPr>
            <a:picLocks noChangeAspect="1"/>
          </p:cNvPicPr>
          <p:nvPr/>
        </p:nvPicPr>
        <p:blipFill>
          <a:blip r:embed="rId1"/>
          <a:stretch>
            <a:fillRect/>
          </a:stretch>
        </p:blipFill>
        <p:spPr>
          <a:xfrm>
            <a:off x="616219" y="1600200"/>
            <a:ext cx="10956515" cy="48006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Context and business problem</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Lumen does: one question, a tree of agents</a:t>
            </a:r>
            <a:endParaRPr lang="en-US" sz="3400" dirty="0"/>
          </a:p>
        </p:txBody>
      </p:sp>
      <p:sp>
        <p:nvSpPr>
          <p:cNvPr id="5" name="Shape 2"/>
          <p:cNvSpPr/>
          <p:nvPr/>
        </p:nvSpPr>
        <p:spPr>
          <a:xfrm>
            <a:off x="548640" y="6492240"/>
            <a:ext cx="1734312" cy="27432"/>
          </a:xfrm>
          <a:prstGeom prst="rect">
            <a:avLst/>
          </a:prstGeom>
          <a:solidFill>
            <a:srgbClr val="FFFFFF"/>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platform.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Platform thinking</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and consumers</a:t>
            </a:r>
            <a:endParaRPr lang="en-US" sz="3400" dirty="0"/>
          </a:p>
        </p:txBody>
      </p:sp>
      <p:sp>
        <p:nvSpPr>
          <p:cNvPr id="5" name="Shape 2"/>
          <p:cNvSpPr/>
          <p:nvPr/>
        </p:nvSpPr>
        <p:spPr>
          <a:xfrm>
            <a:off x="548640" y="6492240"/>
            <a:ext cx="1734312" cy="27432"/>
          </a:xfrm>
          <a:prstGeom prst="rect">
            <a:avLst/>
          </a:prstGeom>
          <a:solidFill>
            <a:srgbClr val="FFFFFF"/>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usecas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Scope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Use cases</a:t>
            </a:r>
            <a:endParaRPr lang="en-US" sz="3400" dirty="0"/>
          </a:p>
        </p:txBody>
      </p:sp>
      <p:sp>
        <p:nvSpPr>
          <p:cNvPr id="5" name="Shape 2"/>
          <p:cNvSpPr/>
          <p:nvPr/>
        </p:nvSpPr>
        <p:spPr>
          <a:xfrm>
            <a:off x="548640" y="6492240"/>
            <a:ext cx="1734312" cy="27432"/>
          </a:xfrm>
          <a:prstGeom prst="rect">
            <a:avLst/>
          </a:prstGeom>
          <a:solidFill>
            <a:srgbClr val="FFFFFF"/>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mileston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  ·  Status, milestones and effort</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Plan and effort</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FFFFFF"/>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decision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Key architectural decisions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Logical architecture decisions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logical.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Logical architecture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the API gateway</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contextmap.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Domain-driven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Bounded contexts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interaction.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Producers and consumers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Public API: the calls in order</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FFFFFF"/>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physdecision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Key architectural decisions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Physical architecture decisions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deployment.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Physical architecture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Deployment diagram</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pods-cut.gif">    </p:cNvPr>
          <p:cNvPicPr>
            <a:picLocks noChangeAspect="1"/>
          </p:cNvPicPr>
          <p:nvPr/>
        </p:nvPicPr>
        <p:blipFill>
          <a:blip r:embed="rId1"/>
          <a:stretch>
            <a:fillRect/>
          </a:stretch>
        </p:blipFill>
        <p:spPr>
          <a:xfrm>
            <a:off x="548640" y="1600200"/>
            <a:ext cx="11091672" cy="3497104"/>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Physical architecture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Pods on the server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queu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Key architectural decisions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Decision: one queue per level of the call tree</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sequence.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Detailed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 a question: sequence diagram</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ask.gif">    </p:cNvPr>
          <p:cNvPicPr>
            <a:picLocks noChangeAspect="1"/>
          </p:cNvPicPr>
          <p:nvPr/>
        </p:nvPicPr>
        <p:blipFill>
          <a:blip r:embed="rId1"/>
          <a:stretch>
            <a:fillRect/>
          </a:stretch>
        </p:blipFill>
        <p:spPr>
          <a:xfrm>
            <a:off x="548640" y="1600200"/>
            <a:ext cx="11091672" cy="4569248"/>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Detailed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 a question through the public API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kill.gif">    </p:cNvPr>
          <p:cNvPicPr>
            <a:picLocks noChangeAspect="1"/>
          </p:cNvPicPr>
          <p:nvPr/>
        </p:nvPicPr>
        <p:blipFill>
          <a:blip r:embed="rId1"/>
          <a:stretch>
            <a:fillRect/>
          </a:stretch>
        </p:blipFill>
        <p:spPr>
          <a:xfrm>
            <a:off x="548640" y="1600200"/>
            <a:ext cx="11091672" cy="4569248"/>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Detailed design</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Availability: deleting a worker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er.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Persistence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Database schema</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FFFFFF"/>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branche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Source and artifacts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Branches and images</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pipeline.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DevOps pipeline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CI/CD pipeline</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pipeline-cut.gif">    </p:cNvPr>
          <p:cNvPicPr>
            <a:picLocks noChangeAspect="1"/>
          </p:cNvPicPr>
          <p:nvPr/>
        </p:nvPicPr>
        <p:blipFill>
          <a:blip r:embed="rId1"/>
          <a:stretch>
            <a:fillRect/>
          </a:stretch>
        </p:blipFill>
        <p:spPr>
          <a:xfrm>
            <a:off x="2853141" y="1600200"/>
            <a:ext cx="6482671" cy="48006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DevOps pipeline</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Pipeline runs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findings.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Technical findings</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problems we found and fixed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FFFFFF"/>
          </a:solidFill>
          <a:ln/>
        </p:spPr>
      </p:sp>
      <p:sp>
        <p:nvSpPr>
          <p:cNvPr id="10" name="Shape 7"/>
          <p:cNvSpPr/>
          <p:nvPr/>
        </p:nvSpPr>
        <p:spPr>
          <a:xfrm>
            <a:off x="9906000" y="6492240"/>
            <a:ext cx="1734312" cy="27432"/>
          </a:xfrm>
          <a:prstGeom prst="rect">
            <a:avLst/>
          </a:prstGeom>
          <a:solidFill>
            <a:srgbClr val="45484C"/>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scaling.gif">    </p:cNvPr>
          <p:cNvPicPr>
            <a:picLocks noChangeAspect="1"/>
          </p:cNvPicPr>
          <p:nvPr/>
        </p:nvPicPr>
        <p:blipFill>
          <a:blip r:embed="rId1"/>
          <a:stretch>
            <a:fillRect/>
          </a:stretch>
        </p:blipFill>
        <p:spPr>
          <a:xfrm>
            <a:off x="548640" y="1188720"/>
            <a:ext cx="11091672" cy="4572000"/>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Scalability</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Load test: 1 to 4 workers, no failed request</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FFFFFF"/>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Users/rufus/lumen-next/.claude/worktrees/ass-platform/docs/platform/slides/out/rec-scale-cut.gif">    </p:cNvPr>
          <p:cNvPicPr>
            <a:picLocks noChangeAspect="1"/>
          </p:cNvPicPr>
          <p:nvPr/>
        </p:nvPicPr>
        <p:blipFill>
          <a:blip r:embed="rId1"/>
          <a:stretch>
            <a:fillRect/>
          </a:stretch>
        </p:blipFill>
        <p:spPr>
          <a:xfrm>
            <a:off x="548640" y="1600200"/>
            <a:ext cx="11091672" cy="3113077"/>
          </a:xfrm>
          <a:prstGeom prst="rect">
            <a:avLst/>
          </a:prstGeom>
        </p:spPr>
      </p:pic>
      <p:sp>
        <p:nvSpPr>
          <p:cNvPr id="3"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Scalability</a:t>
            </a:r>
            <a:endParaRPr lang="en-US" sz="1400" dirty="0"/>
          </a:p>
        </p:txBody>
      </p:sp>
      <p:sp>
        <p:nvSpPr>
          <p:cNvPr id="4"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scaling (recorded)</a:t>
            </a:r>
            <a:endParaRPr lang="en-US" sz="3400" dirty="0"/>
          </a:p>
        </p:txBody>
      </p:sp>
      <p:sp>
        <p:nvSpPr>
          <p:cNvPr id="5" name="Shape 2"/>
          <p:cNvSpPr/>
          <p:nvPr/>
        </p:nvSpPr>
        <p:spPr>
          <a:xfrm>
            <a:off x="548640" y="6492240"/>
            <a:ext cx="1734312" cy="27432"/>
          </a:xfrm>
          <a:prstGeom prst="rect">
            <a:avLst/>
          </a:prstGeom>
          <a:solidFill>
            <a:srgbClr val="45484C"/>
          </a:solidFill>
          <a:ln/>
        </p:spPr>
      </p:sp>
      <p:sp>
        <p:nvSpPr>
          <p:cNvPr id="6" name="Shape 3"/>
          <p:cNvSpPr/>
          <p:nvPr/>
        </p:nvSpPr>
        <p:spPr>
          <a:xfrm>
            <a:off x="2420112" y="6492240"/>
            <a:ext cx="1734312" cy="27432"/>
          </a:xfrm>
          <a:prstGeom prst="rect">
            <a:avLst/>
          </a:prstGeom>
          <a:solidFill>
            <a:srgbClr val="45484C"/>
          </a:solidFill>
          <a:ln/>
        </p:spPr>
      </p:sp>
      <p:sp>
        <p:nvSpPr>
          <p:cNvPr id="7" name="Shape 4"/>
          <p:cNvSpPr/>
          <p:nvPr/>
        </p:nvSpPr>
        <p:spPr>
          <a:xfrm>
            <a:off x="4291584" y="6492240"/>
            <a:ext cx="1734312" cy="27432"/>
          </a:xfrm>
          <a:prstGeom prst="rect">
            <a:avLst/>
          </a:prstGeom>
          <a:solidFill>
            <a:srgbClr val="45484C"/>
          </a:solidFill>
          <a:ln/>
        </p:spPr>
      </p:sp>
      <p:sp>
        <p:nvSpPr>
          <p:cNvPr id="8" name="Shape 5"/>
          <p:cNvSpPr/>
          <p:nvPr/>
        </p:nvSpPr>
        <p:spPr>
          <a:xfrm>
            <a:off x="6163056" y="6492240"/>
            <a:ext cx="1734312" cy="27432"/>
          </a:xfrm>
          <a:prstGeom prst="rect">
            <a:avLst/>
          </a:prstGeom>
          <a:solidFill>
            <a:srgbClr val="45484C"/>
          </a:solidFill>
          <a:ln/>
        </p:spPr>
      </p:sp>
      <p:sp>
        <p:nvSpPr>
          <p:cNvPr id="9" name="Shape 6"/>
          <p:cNvSpPr/>
          <p:nvPr/>
        </p:nvSpPr>
        <p:spPr>
          <a:xfrm>
            <a:off x="8034528" y="6492240"/>
            <a:ext cx="1734312" cy="27432"/>
          </a:xfrm>
          <a:prstGeom prst="rect">
            <a:avLst/>
          </a:prstGeom>
          <a:solidFill>
            <a:srgbClr val="45484C"/>
          </a:solidFill>
          <a:ln/>
        </p:spPr>
      </p:sp>
      <p:sp>
        <p:nvSpPr>
          <p:cNvPr id="10" name="Shape 7"/>
          <p:cNvSpPr/>
          <p:nvPr/>
        </p:nvSpPr>
        <p:spPr>
          <a:xfrm>
            <a:off x="9906000" y="6492240"/>
            <a:ext cx="1734312" cy="27432"/>
          </a:xfrm>
          <a:prstGeom prst="rect">
            <a:avLst/>
          </a:prstGeom>
          <a:solidFill>
            <a:srgbClr val="FFFFFF"/>
          </a:solidFill>
          <a:ln/>
        </p:spPr>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Live demo</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and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publish an agent, ask with it from the watch app, read usage</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KEDA on the live server</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and the question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2026-10-23T16:05:45Z</dcterms:created>
  <dcterms:modified xsi:type="dcterms:W3CDTF">2026-10-23T16:05:45Z</dcterms:modified>
</cp:coreProperties>
</file>