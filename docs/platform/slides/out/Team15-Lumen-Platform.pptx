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15. We present Lumen Platform, following the order of the presentation outline.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Lumen is an AI that does research. This is a real run, recorded on 22 October with gpt-4.1: we ask for three key papers on retrieval-augmented generation. The lead agent searches arXiv, then hands one paper each to three reader agents that work in parallel. On the right, the call tree grows, every task shows what it cost, and each reader records its paper as a finding. For this course, we turned Lumen into a platform: other apps can use the same research AI through one public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platform sits between two groups of users. A producer, the agent author, publishes agents to the registry. A consumer asks: an app with its API key, or people who sign in to the web app. In the middle is the run engine. It takes the agent's instructions, runs each question as a call tree, records each step with its cost, and keeps the spend under the account's budget 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UML use case diagram of the platform. We take one actor at a time, so each actor's use cases are clear. The producer publishes and reads usage. The literature watch app asks and watches. People in the web app manage keys and approve spend over the cap. The operator also reads usage. All six use cases are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plan from our proposal: ten person-days for each member, from 8 to 21 October. Architecture and the service contracts first, then each service, then autoscaling, the public API and the pipeline. Each member spent about ten person-days, 80 hours, so 400 hours in total, as the proposal planned. Every part is built and runs on 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key decisions are shown as before and after. AD-01: each module of Lumen becomes a service, with its own entry point in the same image. AD-02 puts a durable queue between session and the workers, so a slow model call never holds a request, and any worker can take the next job. AD-04 makes session the only writer of the steps, so a worker that dies loses no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logical architecture has four tiers, and each dependency points down. The clients see one gateway, and the gateway routes to five services. Only Project and Worker call session's internal routes. At run time, project passes the question to session, and session puts a job on the queue. A free worker runs it, and session saves each step. The proposal listed eight services. Traefik is the gateway, the live stream runs inside session, and the model client runs inside the worker, so five services remain, each with one purpose and its own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found the contexts from the use cases and the nouns that users say. Each context keeps its own aggregates. Each context talks to the others only through domain events, and each arrow shows who sends and who receives. Session comes last, because every event goes through it. Session is the core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sequence diagram shows real calls on the public API v1, in the order they happen. First the producer creates an API key and publishes an agent. Then a consumer lists the agents, asks with one of them, and reads the answer, the findings and the cost. Last, the producer reads usage. Publish, list, ask and read all use one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decisions shape the physical side. The proposal put the chart on EKS; we run the same chart on k3s on one EC2 t3.medium, for about USD 1.3 a day, and the chart can still go to EKS. Two autoscalers watch two kinds of load: HPA adds identity, project and billing pods on CPU, and KEDA adds workers on queue length, because a worker waits on the model and its CPU stays low. One PostgreSQL, with its own tables for each context, lets one transaction write the step, its cost and the ledger entry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platform runs on one AWS node, an EC2 t3.medium in Singapore. k3s runs inside it, and every service, PostgreSQL, RabbitMQ and KEDA run as pods inside k3s. Users reach it only over HTTPS on 443, through Traefik, which routes to the service pods. GitHub Actions deploys over SSH on 22, and only the worker pod talks to the OpenAI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recording of the real server. kubectl runs on the server over SSH, because the Kubernetes API is not public. Five services, PostgreSQL and RabbitMQ, and the autoscalers: HPA on CPU for identity, project and billing, and KEDA on queue length for the worker.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AD-03 is about a deadlock that we found in design. With one shared queue, a lead agent holds its worker while it waits for its readers, and the readers wait for a free worker. The waits close into a cycle, so no question can finish. With a queue per level, each worker runs one job of each level. A reader no longer waits behind a lead, so the cycle breaks and every question finishes.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UC2, a question asked with a chosen agent. Project checks the API key, session starts the question and puts the first job on the queue, and from that moment two lanes run at the same time. The app gets 201 at once and reads the answer whenever it likes, while a worker takes the job and runs its steps in a loop. Each step goes back to session, which saves it in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use case on the public server, from the command line: POST /api/v1/questions with an API key, then GET /api/v1/questions/:id for the status, the cost and the answer from gpt-4.1-nano.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Availability. A question starts, and we force-delete the worker that runs it. Its job was not acknowledged, so RabbitMQ gives it to another worker, and the question still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context owns its own tables in the one PostgreSQL database. Solid lines are foreign keys inside a context; dashed lines are ids that cross a context, with no foreign key, so a later split stays mechanical. The tasks table is the centre: its parent_id is the call tree, and each task has its steps, its findings and its ledger entries. The worker owns no tables; it reports every step to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ass/platform is our one integration branch. It has 48 commits, and one short-lived branch came back through pull request #148. Every push builds one image tagged with its commit, copies it over SSH into k3s on the EC2 host, and helm puts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push to ass/platform starts the pipeline, and verify, SCA and SAST run at the same time. In the first run the Trivy gate found 5 critical CVEs in the image, so the deploy stopped before the host. The team built a smaller platform image without Docker, and the next run passed every stage, with DAST and a smoke load against the live address, in 12 min 30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pipeline runs, from the GitHub command line: the list of runs, and every job of one run with its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found three technical problems and fixed each one. With one queue for all jobs, the lead agents held every worker while their readers waited, so we made one queue per level of the call tree. The image with Docker inside failed the Trivy gate, and the smaller platform image passed. KEDA waits 300 s by default before it removes a worker; the chart sets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load test of 20 October, with a fixed delay in place of each model call, so it measures the platform's scaling and not the model. When more than 5 jobs wait per worker, KEDA adds a pod, and a new worker pod appears on the right as the cursor passes that moment. Four workers stop the queue from growing and then drain it. A minute after the load ends, KEDA removes the extra pods, and all 135 questions finished with no failed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autoscaler on the public server: KEDA compares the jobs per worker with the target of five, and the worker replicas go up, then back down after the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about six minutes, with LUMEN_URL set to the address on the slide. The workers run the real model. For scalability, go back to the recorded load test (slides 22 and 23), then show kubectl get scaledobject,hpa -n lumen live. If the network fails, the recorded slides before this one show the same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gif"/><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gif"/><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gif"/><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gif"/><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gif"/><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gif"/><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gif"/><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gif"/><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1828800"/>
            <a:ext cx="10058400" cy="365760"/>
          </a:xfrm>
          <a:prstGeom prst="rect">
            <a:avLst/>
          </a:prstGeom>
          <a:noFill/>
          <a:ln/>
        </p:spPr>
        <p:txBody>
          <a:bodyPr wrap="square" lIns="0" tIns="0" rIns="0" bIns="0" rtlCol="0" anchor="t"/>
          <a:lstStyle/>
          <a:p>
            <a:pPr indent="0" marL="0">
              <a:buNone/>
            </a:pPr>
            <a:r>
              <a:rPr lang="en-US" sz="1800" dirty="0">
                <a:solidFill>
                  <a:srgbClr val="9A9DA3"/>
                </a:solidFill>
                <a:latin typeface="Switzer" pitchFamily="34" charset="0"/>
                <a:ea typeface="Switzer" pitchFamily="34" charset="-122"/>
                <a:cs typeface="Switzer" pitchFamily="34" charset="-120"/>
              </a:rPr>
              <a:t>Architecting Scalable Systems  ·  Team 15</a:t>
            </a:r>
            <a:endParaRPr lang="en-US" sz="1800" dirty="0"/>
          </a:p>
        </p:txBody>
      </p:sp>
      <p:sp>
        <p:nvSpPr>
          <p:cNvPr id="3" name="Text 1"/>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Lumen Platform</a:t>
            </a:r>
            <a:endParaRPr lang="en-US" sz="6400" dirty="0"/>
          </a:p>
        </p:txBody>
      </p:sp>
      <p:sp>
        <p:nvSpPr>
          <p:cNvPr id="4" name="Text 2"/>
          <p:cNvSpPr txBox="1"/>
          <p:nvPr/>
        </p:nvSpPr>
        <p:spPr>
          <a:xfrm>
            <a:off x="731520" y="3520440"/>
            <a:ext cx="10058400" cy="548640"/>
          </a:xfrm>
          <a:prstGeom prst="rect">
            <a:avLst/>
          </a:prstGeom>
          <a:noFill/>
          <a:ln/>
        </p:spPr>
        <p:txBody>
          <a:bodyPr wrap="square" lIns="0" tIns="0" rIns="0" bIns="0" rtlCol="0" anchor="t"/>
          <a:lstStyle/>
          <a:p>
            <a:pPr indent="0" marL="0">
              <a:buNone/>
            </a:pPr>
            <a:r>
              <a:rPr lang="en-US" sz="2600" dirty="0">
                <a:solidFill>
                  <a:srgbClr val="9A9DA3"/>
                </a:solidFill>
                <a:latin typeface="Switzer" pitchFamily="34" charset="0"/>
                <a:ea typeface="Switzer" pitchFamily="34" charset="-122"/>
                <a:cs typeface="Switzer" pitchFamily="34" charset="-120"/>
              </a:rPr>
              <a:t>An AI for research, built as a scalable platform</a:t>
            </a:r>
            <a:endParaRPr lang="en-US" sz="2600" dirty="0"/>
          </a:p>
        </p:txBody>
      </p:sp>
      <p:sp>
        <p:nvSpPr>
          <p:cNvPr id="5" name="Text 3"/>
          <p:cNvSpPr txBox="1"/>
          <p:nvPr/>
        </p:nvSpPr>
        <p:spPr>
          <a:xfrm>
            <a:off x="731520" y="5212080"/>
            <a:ext cx="10058400" cy="365760"/>
          </a:xfrm>
          <a:prstGeom prst="rect">
            <a:avLst/>
          </a:prstGeom>
          <a:noFill/>
          <a:ln/>
        </p:spPr>
        <p:txBody>
          <a:bodyPr wrap="square" lIns="0" tIns="0" rIns="0" bIns="0" rtlCol="0" anchor="t"/>
          <a:lstStyle/>
          <a:p>
            <a:pPr indent="0" marL="0">
              <a:buNone/>
            </a:pPr>
            <a:r>
              <a:rPr lang="en-US" sz="1600" dirty="0">
                <a:solidFill>
                  <a:srgbClr val="FFFFFF"/>
                </a:solidFill>
                <a:latin typeface="Switzer" pitchFamily="34" charset="0"/>
                <a:ea typeface="Switzer" pitchFamily="34" charset="-122"/>
                <a:cs typeface="Switzer" pitchFamily="34" charset="-120"/>
              </a:rPr>
              <a:t>He Rong  ·  Li Zhuoyang  ·  Liu Ziyang  ·  Lu Yi  ·  Peng Xujian</a:t>
            </a:r>
            <a:endParaRPr lang="en-US" sz="1600" dirty="0"/>
          </a:p>
        </p:txBody>
      </p:sp>
      <p:sp>
        <p:nvSpPr>
          <p:cNvPr id="6" name="Text 4"/>
          <p:cNvSpPr txBox="1"/>
          <p:nvPr/>
        </p:nvSpPr>
        <p:spPr>
          <a:xfrm>
            <a:off x="731520" y="5623560"/>
            <a:ext cx="10058400" cy="365760"/>
          </a:xfrm>
          <a:prstGeom prst="rect">
            <a:avLst/>
          </a:prstGeom>
          <a:noFill/>
          <a:ln/>
        </p:spPr>
        <p:txBody>
          <a:bodyPr wrap="square" lIns="0" tIns="0" rIns="0" bIns="0" rtlCol="0" anchor="t"/>
          <a:lstStyle/>
          <a:p>
            <a:pPr indent="0" marL="0">
              <a:buNone/>
            </a:pPr>
            <a:r>
              <a:rPr lang="en-US" sz="1500" dirty="0">
                <a:solidFill>
                  <a:srgbClr val="9A9DA3"/>
                </a:solidFill>
                <a:latin typeface="JetBrains Mono" pitchFamily="34" charset="0"/>
                <a:ea typeface="JetBrains Mono" pitchFamily="34" charset="-122"/>
                <a:cs typeface="JetBrains Mono" pitchFamily="34" charset="-120"/>
              </a:rPr>
              <a:t>lumen.54-179-112-87.sslip.io</a:t>
            </a:r>
            <a:endParaRPr lang="en-US" sz="1500" dirty="0"/>
          </a:p>
        </p:txBody>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  ·  Context and business problem</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What Lumen does</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lumen-at-work.gif">    </p:cNvPr>
          <p:cNvPicPr>
            <a:picLocks noChangeAspect="1"/>
          </p:cNvPicPr>
          <p:nvPr/>
        </p:nvPicPr>
        <p:blipFill>
          <a:blip r:embed="rId1"/>
          <a:stretch>
            <a:fillRect/>
          </a:stretch>
        </p:blipFill>
        <p:spPr>
          <a:xfrm>
            <a:off x="548640" y="1691640"/>
            <a:ext cx="11091672" cy="4572000"/>
          </a:xfrm>
          <a:prstGeom prst="rect">
            <a:avLst/>
          </a:prstGeom>
        </p:spPr>
      </p:pic>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  ·  Platform thinking</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Producers and consumers</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latform.gif">    </p:cNvPr>
          <p:cNvPicPr>
            <a:picLocks noChangeAspect="1"/>
          </p:cNvPicPr>
          <p:nvPr/>
        </p:nvPicPr>
        <p:blipFill>
          <a:blip r:embed="rId1"/>
          <a:stretch>
            <a:fillRect/>
          </a:stretch>
        </p:blipFill>
        <p:spPr>
          <a:xfrm>
            <a:off x="548640" y="1691640"/>
            <a:ext cx="11091672" cy="4572000"/>
          </a:xfrm>
          <a:prstGeom prst="rect">
            <a:avLst/>
          </a:prstGeom>
        </p:spPr>
      </p:pic>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1  ·  Scope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Use cases</a:t>
            </a:r>
            <a:endParaRPr lang="en-US" sz="3400" dirty="0"/>
          </a:p>
        </p:txBody>
      </p:sp>
      <p:sp>
        <p:nvSpPr>
          <p:cNvPr id="4" name="Shape 2"/>
          <p:cNvSpPr/>
          <p:nvPr/>
        </p:nvSpPr>
        <p:spPr>
          <a:xfrm>
            <a:off x="548640" y="6492240"/>
            <a:ext cx="1734312" cy="27432"/>
          </a:xfrm>
          <a:prstGeom prst="rect">
            <a:avLst/>
          </a:prstGeom>
          <a:solidFill>
            <a:srgbClr val="FFFFFF"/>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usecases.gif">    </p:cNvPr>
          <p:cNvPicPr>
            <a:picLocks noChangeAspect="1"/>
          </p:cNvPicPr>
          <p:nvPr/>
        </p:nvPicPr>
        <p:blipFill>
          <a:blip r:embed="rId1"/>
          <a:stretch>
            <a:fillRect/>
          </a:stretch>
        </p:blipFill>
        <p:spPr>
          <a:xfrm>
            <a:off x="548640" y="1691640"/>
            <a:ext cx="11091672" cy="4572000"/>
          </a:xfrm>
          <a:prstGeom prst="rect">
            <a:avLst/>
          </a:prstGeom>
        </p:spPr>
      </p:pic>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2  ·  Status, milestones and effort</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Plan and effort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FFFFFF"/>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milestones.gif">    </p:cNvPr>
          <p:cNvPicPr>
            <a:picLocks noChangeAspect="1"/>
          </p:cNvPicPr>
          <p:nvPr/>
        </p:nvPicPr>
        <p:blipFill>
          <a:blip r:embed="rId1"/>
          <a:stretch>
            <a:fillRect/>
          </a:stretch>
        </p:blipFill>
        <p:spPr>
          <a:xfrm>
            <a:off x="548640" y="1691640"/>
            <a:ext cx="11091672" cy="4572000"/>
          </a:xfrm>
          <a:prstGeom prst="rect">
            <a:avLst/>
          </a:prstGeom>
        </p:spPr>
      </p:pic>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  ·  Key architectural decisions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Logical architecture decisions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cisions.gif">    </p:cNvPr>
          <p:cNvPicPr>
            <a:picLocks noChangeAspect="1"/>
          </p:cNvPicPr>
          <p:nvPr/>
        </p:nvPicPr>
        <p:blipFill>
          <a:blip r:embed="rId1"/>
          <a:stretch>
            <a:fillRect/>
          </a:stretch>
        </p:blipFill>
        <p:spPr>
          <a:xfrm>
            <a:off x="548640" y="1691640"/>
            <a:ext cx="11091672" cy="4572000"/>
          </a:xfrm>
          <a:prstGeom prst="rect">
            <a:avLst/>
          </a:prstGeom>
        </p:spPr>
      </p:pic>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  ·  Logical architecture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Logical architecture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logical.gif">    </p:cNvPr>
          <p:cNvPicPr>
            <a:picLocks noChangeAspect="1"/>
          </p:cNvPicPr>
          <p:nvPr/>
        </p:nvPicPr>
        <p:blipFill>
          <a:blip r:embed="rId1"/>
          <a:stretch>
            <a:fillRect/>
          </a:stretch>
        </p:blipFill>
        <p:spPr>
          <a:xfrm>
            <a:off x="548640" y="1691640"/>
            <a:ext cx="11091672" cy="4572000"/>
          </a:xfrm>
          <a:prstGeom prst="rect">
            <a:avLst/>
          </a:prstGeom>
        </p:spPr>
      </p:pic>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  ·  Domain-driven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Bounded contexts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contextmap.gif">    </p:cNvPr>
          <p:cNvPicPr>
            <a:picLocks noChangeAspect="1"/>
          </p:cNvPicPr>
          <p:nvPr/>
        </p:nvPicPr>
        <p:blipFill>
          <a:blip r:embed="rId1"/>
          <a:stretch>
            <a:fillRect/>
          </a:stretch>
        </p:blipFill>
        <p:spPr>
          <a:xfrm>
            <a:off x="548640" y="1691640"/>
            <a:ext cx="11091672" cy="4572000"/>
          </a:xfrm>
          <a:prstGeom prst="rect">
            <a:avLst/>
          </a:prstGeom>
        </p:spPr>
      </p:pic>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3  ·  Producers and consumers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Public API flow</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FFFFFF"/>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interaction.gif">    </p:cNvPr>
          <p:cNvPicPr>
            <a:picLocks noChangeAspect="1"/>
          </p:cNvPicPr>
          <p:nvPr/>
        </p:nvPicPr>
        <p:blipFill>
          <a:blip r:embed="rId1"/>
          <a:stretch>
            <a:fillRect/>
          </a:stretch>
        </p:blipFill>
        <p:spPr>
          <a:xfrm>
            <a:off x="548640" y="1691640"/>
            <a:ext cx="11091672" cy="4572000"/>
          </a:xfrm>
          <a:prstGeom prst="rect">
            <a:avLst/>
          </a:prstGeom>
        </p:spPr>
      </p:pic>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  ·  Key architectural decisions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Physical architecture decisions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hysdecisions.gif">    </p:cNvPr>
          <p:cNvPicPr>
            <a:picLocks noChangeAspect="1"/>
          </p:cNvPicPr>
          <p:nvPr/>
        </p:nvPicPr>
        <p:blipFill>
          <a:blip r:embed="rId1"/>
          <a:stretch>
            <a:fillRect/>
          </a:stretch>
        </p:blipFill>
        <p:spPr>
          <a:xfrm>
            <a:off x="548640" y="1691640"/>
            <a:ext cx="11091672" cy="4572000"/>
          </a:xfrm>
          <a:prstGeom prst="rect">
            <a:avLst/>
          </a:prstGeom>
        </p:spPr>
      </p:pic>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  ·  Physical architecture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Deployment diagram</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deployment.gif">    </p:cNvPr>
          <p:cNvPicPr>
            <a:picLocks noChangeAspect="1"/>
          </p:cNvPicPr>
          <p:nvPr/>
        </p:nvPicPr>
        <p:blipFill>
          <a:blip r:embed="rId1"/>
          <a:stretch>
            <a:fillRect/>
          </a:stretch>
        </p:blipFill>
        <p:spPr>
          <a:xfrm>
            <a:off x="548640" y="1691640"/>
            <a:ext cx="11091672" cy="4572000"/>
          </a:xfrm>
          <a:prstGeom prst="rect">
            <a:avLst/>
          </a:prstGeom>
        </p:spPr>
      </p:pic>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Pods on the server (recorded)</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ods.gif">    </p:cNvPr>
          <p:cNvPicPr>
            <a:picLocks noChangeAspect="1"/>
          </p:cNvPicPr>
          <p:nvPr/>
        </p:nvPicPr>
        <p:blipFill>
          <a:blip r:embed="rId1"/>
          <a:stretch>
            <a:fillRect/>
          </a:stretch>
        </p:blipFill>
        <p:spPr>
          <a:xfrm>
            <a:off x="548640" y="1691640"/>
            <a:ext cx="11091672" cy="4572000"/>
          </a:xfrm>
          <a:prstGeom prst="rect">
            <a:avLst/>
          </a:prstGeom>
        </p:spPr>
      </p:pic>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  ·  Key architectural decision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Decision: one queue per tree level</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queues.gif">    </p:cNvPr>
          <p:cNvPicPr>
            <a:picLocks noChangeAspect="1"/>
          </p:cNvPicPr>
          <p:nvPr/>
        </p:nvPicPr>
        <p:blipFill>
          <a:blip r:embed="rId1"/>
          <a:stretch>
            <a:fillRect/>
          </a:stretch>
        </p:blipFill>
        <p:spPr>
          <a:xfrm>
            <a:off x="548640" y="1691640"/>
            <a:ext cx="11091672" cy="4572000"/>
          </a:xfrm>
          <a:prstGeom prst="rect">
            <a:avLst/>
          </a:prstGeom>
        </p:spPr>
      </p:pic>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  ·  Detailed design</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UC2 sequence diagram</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sequence.gif">    </p:cNvPr>
          <p:cNvPicPr>
            <a:picLocks noChangeAspect="1"/>
          </p:cNvPicPr>
          <p:nvPr/>
        </p:nvPicPr>
        <p:blipFill>
          <a:blip r:embed="rId1"/>
          <a:stretch>
            <a:fillRect/>
          </a:stretch>
        </p:blipFill>
        <p:spPr>
          <a:xfrm>
            <a:off x="548640" y="1691640"/>
            <a:ext cx="11091672" cy="4572000"/>
          </a:xfrm>
          <a:prstGeom prst="rect">
            <a:avLst/>
          </a:prstGeom>
        </p:spPr>
      </p:pic>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  ·  Recorded through the API</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UC2 through the public API (recorded)</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ask.gif">    </p:cNvPr>
          <p:cNvPicPr>
            <a:picLocks noChangeAspect="1"/>
          </p:cNvPicPr>
          <p:nvPr/>
        </p:nvPicPr>
        <p:blipFill>
          <a:blip r:embed="rId1"/>
          <a:stretch>
            <a:fillRect/>
          </a:stretch>
        </p:blipFill>
        <p:spPr>
          <a:xfrm>
            <a:off x="548640" y="1691640"/>
            <a:ext cx="11091672" cy="4572000"/>
          </a:xfrm>
          <a:prstGeom prst="rect">
            <a:avLst/>
          </a:prstGeom>
        </p:spPr>
      </p:pic>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  ·  Availability, recorded</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Availability: deleting a worker (recorded)</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kill.gif">    </p:cNvPr>
          <p:cNvPicPr>
            <a:picLocks noChangeAspect="1"/>
          </p:cNvPicPr>
          <p:nvPr/>
        </p:nvPicPr>
        <p:blipFill>
          <a:blip r:embed="rId1"/>
          <a:stretch>
            <a:fillRect/>
          </a:stretch>
        </p:blipFill>
        <p:spPr>
          <a:xfrm>
            <a:off x="548640" y="1691640"/>
            <a:ext cx="11091672" cy="4572000"/>
          </a:xfrm>
          <a:prstGeom prst="rect">
            <a:avLst/>
          </a:prstGeom>
        </p:spPr>
      </p:pic>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4  ·  Persistence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Database schema</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FFFFFF"/>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er.gif">    </p:cNvPr>
          <p:cNvPicPr>
            <a:picLocks noChangeAspect="1"/>
          </p:cNvPicPr>
          <p:nvPr/>
        </p:nvPicPr>
        <p:blipFill>
          <a:blip r:embed="rId1"/>
          <a:stretch>
            <a:fillRect/>
          </a:stretch>
        </p:blipFill>
        <p:spPr>
          <a:xfrm>
            <a:off x="548640" y="1691640"/>
            <a:ext cx="11091672" cy="4572000"/>
          </a:xfrm>
          <a:prstGeom prst="rect">
            <a:avLst/>
          </a:prstGeom>
        </p:spPr>
      </p:pic>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  ·  Source and artifacts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Branches and images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branches.gif">    </p:cNvPr>
          <p:cNvPicPr>
            <a:picLocks noChangeAspect="1"/>
          </p:cNvPicPr>
          <p:nvPr/>
        </p:nvPicPr>
        <p:blipFill>
          <a:blip r:embed="rId1"/>
          <a:stretch>
            <a:fillRect/>
          </a:stretch>
        </p:blipFill>
        <p:spPr>
          <a:xfrm>
            <a:off x="548640" y="1691640"/>
            <a:ext cx="11091672" cy="4572000"/>
          </a:xfrm>
          <a:prstGeom prst="rect">
            <a:avLst/>
          </a:prstGeom>
        </p:spPr>
      </p:pic>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  ·  DevOps pipeline</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CI/CD pipeline</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pipeline.gif">    </p:cNvPr>
          <p:cNvPicPr>
            <a:picLocks noChangeAspect="1"/>
          </p:cNvPicPr>
          <p:nvPr/>
        </p:nvPicPr>
        <p:blipFill>
          <a:blip r:embed="rId1"/>
          <a:stretch>
            <a:fillRect/>
          </a:stretch>
        </p:blipFill>
        <p:spPr>
          <a:xfrm>
            <a:off x="548640" y="1691640"/>
            <a:ext cx="11091672" cy="4572000"/>
          </a:xfrm>
          <a:prstGeom prst="rect">
            <a:avLst/>
          </a:prstGeom>
        </p:spPr>
      </p:pic>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  ·  Recorded on GitHub</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Pipeline runs (recorded)</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rec-pipeline.gif">    </p:cNvPr>
          <p:cNvPicPr>
            <a:picLocks noChangeAspect="1"/>
          </p:cNvPicPr>
          <p:nvPr/>
        </p:nvPicPr>
        <p:blipFill>
          <a:blip r:embed="rId1"/>
          <a:stretch>
            <a:fillRect/>
          </a:stretch>
        </p:blipFill>
        <p:spPr>
          <a:xfrm>
            <a:off x="548640" y="1691640"/>
            <a:ext cx="11091672" cy="4572000"/>
          </a:xfrm>
          <a:prstGeom prst="rect">
            <a:avLst/>
          </a:prstGeom>
        </p:spPr>
      </p:pic>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5  ·  Technical findings</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Technical findings</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FFFFFF"/>
          </a:solidFill>
          <a:ln/>
        </p:spPr>
      </p:sp>
      <p:sp>
        <p:nvSpPr>
          <p:cNvPr id="9" name="Shape 7"/>
          <p:cNvSpPr/>
          <p:nvPr/>
        </p:nvSpPr>
        <p:spPr>
          <a:xfrm>
            <a:off x="9906000" y="6492240"/>
            <a:ext cx="1734312" cy="27432"/>
          </a:xfrm>
          <a:prstGeom prst="rect">
            <a:avLst/>
          </a:prstGeom>
          <a:solidFill>
            <a:srgbClr val="45484C"/>
          </a:solidFill>
          <a:ln/>
        </p:spPr>
      </p:sp>
      <p:pic>
        <p:nvPicPr>
          <p:cNvPr id="10" name="Image 0" descr="/Users/rufus/lumen-next/.claude/worktrees/ass-platform/docs/platform/slides/out/findings.gif">    </p:cNvPr>
          <p:cNvPicPr>
            <a:picLocks noChangeAspect="1"/>
          </p:cNvPicPr>
          <p:nvPr/>
        </p:nvPicPr>
        <p:blipFill>
          <a:blip r:embed="rId1"/>
          <a:stretch>
            <a:fillRect/>
          </a:stretch>
        </p:blipFill>
        <p:spPr>
          <a:xfrm>
            <a:off x="548640" y="1691640"/>
            <a:ext cx="11091672" cy="4572000"/>
          </a:xfrm>
          <a:prstGeom prst="rect">
            <a:avLst/>
          </a:prstGeom>
        </p:spPr>
      </p:pic>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  ·  Scalability</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Scalability: load test</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scaling.gif">    </p:cNvPr>
          <p:cNvPicPr>
            <a:picLocks noChangeAspect="1"/>
          </p:cNvPicPr>
          <p:nvPr/>
        </p:nvPicPr>
        <p:blipFill>
          <a:blip r:embed="rId1"/>
          <a:stretch>
            <a:fillRect/>
          </a:stretch>
        </p:blipFill>
        <p:spPr>
          <a:xfrm>
            <a:off x="548640" y="1691640"/>
            <a:ext cx="11091672" cy="4572000"/>
          </a:xfrm>
          <a:prstGeom prst="rect">
            <a:avLst/>
          </a:prstGeom>
        </p:spPr>
      </p:pic>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  ·  Recorded on the server</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KEDA scaling (recorded)</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pic>
        <p:nvPicPr>
          <p:cNvPr id="10" name="Image 0" descr="/Users/rufus/lumen-next/.claude/worktrees/ass-platform/docs/platform/slides/out/rec-scale.gif">    </p:cNvPr>
          <p:cNvPicPr>
            <a:picLocks noChangeAspect="1"/>
          </p:cNvPicPr>
          <p:nvPr/>
        </p:nvPicPr>
        <p:blipFill>
          <a:blip r:embed="rId1"/>
          <a:stretch>
            <a:fillRect/>
          </a:stretch>
        </p:blipFill>
        <p:spPr>
          <a:xfrm>
            <a:off x="548640" y="1691640"/>
            <a:ext cx="11091672" cy="4572000"/>
          </a:xfrm>
          <a:prstGeom prst="rect">
            <a:avLst/>
          </a:prstGeom>
        </p:spPr>
      </p:pic>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548640" y="384048"/>
            <a:ext cx="10972800" cy="292608"/>
          </a:xfrm>
          <a:prstGeom prst="rect">
            <a:avLst/>
          </a:prstGeom>
          <a:noFill/>
          <a:ln/>
        </p:spPr>
        <p:txBody>
          <a:bodyPr wrap="square" lIns="0" tIns="0" rIns="0" bIns="0" rtlCol="0" anchor="t"/>
          <a:lstStyle/>
          <a:p>
            <a:pPr indent="0" marL="0">
              <a:buNone/>
            </a:pPr>
            <a:r>
              <a:rPr lang="en-US" sz="1400" dirty="0">
                <a:solidFill>
                  <a:srgbClr val="9A9DA3"/>
                </a:solidFill>
                <a:latin typeface="Switzer" pitchFamily="34" charset="0"/>
                <a:ea typeface="Switzer" pitchFamily="34" charset="-122"/>
                <a:cs typeface="Switzer" pitchFamily="34" charset="-120"/>
              </a:rPr>
              <a:t>6  ·  Live demo</a:t>
            </a:r>
            <a:endParaRPr lang="en-US" sz="1400" dirty="0"/>
          </a:p>
        </p:txBody>
      </p:sp>
      <p:sp>
        <p:nvSpPr>
          <p:cNvPr id="3" name="Text 1"/>
          <p:cNvSpPr txBox="1"/>
          <p:nvPr/>
        </p:nvSpPr>
        <p:spPr>
          <a:xfrm>
            <a:off x="548640" y="713232"/>
            <a:ext cx="11064240" cy="731520"/>
          </a:xfrm>
          <a:prstGeom prst="rect">
            <a:avLst/>
          </a:prstGeom>
          <a:noFill/>
          <a:ln/>
        </p:spPr>
        <p:txBody>
          <a:bodyPr wrap="square" lIns="0" tIns="0" rIns="0" bIns="0" rtlCol="0" anchor="ctr"/>
          <a:lstStyle/>
          <a:p>
            <a:pPr indent="0" marL="0">
              <a:buNone/>
            </a:pPr>
            <a:r>
              <a:rPr lang="en-US" sz="3400" dirty="0">
                <a:solidFill>
                  <a:srgbClr val="FFFFFF"/>
                </a:solidFill>
                <a:latin typeface="Switzer Medium" pitchFamily="34" charset="0"/>
                <a:ea typeface="Switzer Medium" pitchFamily="34" charset="-122"/>
                <a:cs typeface="Switzer Medium" pitchFamily="34" charset="-120"/>
              </a:rPr>
              <a:t>Live demo</a:t>
            </a:r>
            <a:endParaRPr lang="en-US" sz="3400" dirty="0"/>
          </a:p>
        </p:txBody>
      </p:sp>
      <p:sp>
        <p:nvSpPr>
          <p:cNvPr id="4" name="Shape 2"/>
          <p:cNvSpPr/>
          <p:nvPr/>
        </p:nvSpPr>
        <p:spPr>
          <a:xfrm>
            <a:off x="548640" y="6492240"/>
            <a:ext cx="1734312" cy="27432"/>
          </a:xfrm>
          <a:prstGeom prst="rect">
            <a:avLst/>
          </a:prstGeom>
          <a:solidFill>
            <a:srgbClr val="45484C"/>
          </a:solidFill>
          <a:ln/>
        </p:spPr>
      </p:sp>
      <p:sp>
        <p:nvSpPr>
          <p:cNvPr id="5" name="Shape 3"/>
          <p:cNvSpPr/>
          <p:nvPr/>
        </p:nvSpPr>
        <p:spPr>
          <a:xfrm>
            <a:off x="2420112" y="6492240"/>
            <a:ext cx="1734312" cy="27432"/>
          </a:xfrm>
          <a:prstGeom prst="rect">
            <a:avLst/>
          </a:prstGeom>
          <a:solidFill>
            <a:srgbClr val="45484C"/>
          </a:solidFill>
          <a:ln/>
        </p:spPr>
      </p:sp>
      <p:sp>
        <p:nvSpPr>
          <p:cNvPr id="6" name="Shape 4"/>
          <p:cNvSpPr/>
          <p:nvPr/>
        </p:nvSpPr>
        <p:spPr>
          <a:xfrm>
            <a:off x="4291584" y="6492240"/>
            <a:ext cx="1734312" cy="27432"/>
          </a:xfrm>
          <a:prstGeom prst="rect">
            <a:avLst/>
          </a:prstGeom>
          <a:solidFill>
            <a:srgbClr val="45484C"/>
          </a:solidFill>
          <a:ln/>
        </p:spPr>
      </p:sp>
      <p:sp>
        <p:nvSpPr>
          <p:cNvPr id="7" name="Shape 5"/>
          <p:cNvSpPr/>
          <p:nvPr/>
        </p:nvSpPr>
        <p:spPr>
          <a:xfrm>
            <a:off x="6163056" y="6492240"/>
            <a:ext cx="1734312" cy="27432"/>
          </a:xfrm>
          <a:prstGeom prst="rect">
            <a:avLst/>
          </a:prstGeom>
          <a:solidFill>
            <a:srgbClr val="45484C"/>
          </a:solidFill>
          <a:ln/>
        </p:spPr>
      </p:sp>
      <p:sp>
        <p:nvSpPr>
          <p:cNvPr id="8" name="Shape 6"/>
          <p:cNvSpPr/>
          <p:nvPr/>
        </p:nvSpPr>
        <p:spPr>
          <a:xfrm>
            <a:off x="8034528" y="6492240"/>
            <a:ext cx="1734312" cy="27432"/>
          </a:xfrm>
          <a:prstGeom prst="rect">
            <a:avLst/>
          </a:prstGeom>
          <a:solidFill>
            <a:srgbClr val="45484C"/>
          </a:solidFill>
          <a:ln/>
        </p:spPr>
      </p:sp>
      <p:sp>
        <p:nvSpPr>
          <p:cNvPr id="9" name="Shape 7"/>
          <p:cNvSpPr/>
          <p:nvPr/>
        </p:nvSpPr>
        <p:spPr>
          <a:xfrm>
            <a:off x="9906000" y="6492240"/>
            <a:ext cx="1734312" cy="27432"/>
          </a:xfrm>
          <a:prstGeom prst="rect">
            <a:avLst/>
          </a:prstGeom>
          <a:solidFill>
            <a:srgbClr val="FFFFFF"/>
          </a:solidFill>
          <a:ln/>
        </p:spPr>
      </p:sp>
      <p:sp>
        <p:nvSpPr>
          <p:cNvPr id="10" name="Shape 8"/>
          <p:cNvSpPr/>
          <p:nvPr/>
        </p:nvSpPr>
        <p:spPr>
          <a:xfrm>
            <a:off x="548640" y="1737360"/>
            <a:ext cx="11091672" cy="868680"/>
          </a:xfrm>
          <a:prstGeom prst="rect">
            <a:avLst/>
          </a:prstGeom>
          <a:ln w="12700">
            <a:solidFill>
              <a:srgbClr val="45484C"/>
            </a:solidFill>
            <a:prstDash val="solid"/>
          </a:ln>
        </p:spPr>
      </p:sp>
      <p:sp>
        <p:nvSpPr>
          <p:cNvPr id="11" name="Text 9"/>
          <p:cNvSpPr txBox="1"/>
          <p:nvPr/>
        </p:nvSpPr>
        <p:spPr>
          <a:xfrm>
            <a:off x="548640" y="1737360"/>
            <a:ext cx="11091672" cy="868680"/>
          </a:xfrm>
          <a:prstGeom prst="rect">
            <a:avLst/>
          </a:prstGeom>
          <a:noFill/>
          <a:ln/>
        </p:spPr>
        <p:txBody>
          <a:bodyPr wrap="square" lIns="0" tIns="0" rIns="0" bIns="0" rtlCol="0" anchor="ctr"/>
          <a:lstStyle/>
          <a:p>
            <a:pPr algn="ctr" indent="0" marL="0">
              <a:buNone/>
            </a:pPr>
            <a:r>
              <a:rPr lang="en-US" sz="2800" dirty="0">
                <a:solidFill>
                  <a:srgbClr val="FFFFFF"/>
                </a:solidFill>
                <a:latin typeface="JetBrains Mono" pitchFamily="34" charset="0"/>
                <a:ea typeface="JetBrains Mono" pitchFamily="34" charset="-122"/>
                <a:cs typeface="JetBrains Mono" pitchFamily="34" charset="-120"/>
              </a:rPr>
              <a:t>https://lumen.54-179-112-87.sslip.io</a:t>
            </a:r>
            <a:endParaRPr lang="en-US" sz="2800" dirty="0"/>
          </a:p>
        </p:txBody>
      </p:sp>
      <p:sp>
        <p:nvSpPr>
          <p:cNvPr id="12" name="Text 10"/>
          <p:cNvSpPr txBox="1"/>
          <p:nvPr/>
        </p:nvSpPr>
        <p:spPr>
          <a:xfrm>
            <a:off x="548640" y="2926080"/>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3" name="Text 11"/>
          <p:cNvSpPr txBox="1"/>
          <p:nvPr/>
        </p:nvSpPr>
        <p:spPr>
          <a:xfrm>
            <a:off x="3017520" y="2926080"/>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ask a question in the browser; watch the call tree grow</a:t>
            </a:r>
            <a:endParaRPr lang="en-US" sz="2200" dirty="0"/>
          </a:p>
        </p:txBody>
      </p:sp>
      <p:sp>
        <p:nvSpPr>
          <p:cNvPr id="14" name="Text 12"/>
          <p:cNvSpPr txBox="1"/>
          <p:nvPr/>
        </p:nvSpPr>
        <p:spPr>
          <a:xfrm>
            <a:off x="548640" y="3584448"/>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Use case</a:t>
            </a:r>
            <a:endParaRPr lang="en-US" sz="1800" dirty="0"/>
          </a:p>
        </p:txBody>
      </p:sp>
      <p:sp>
        <p:nvSpPr>
          <p:cNvPr id="15" name="Text 13"/>
          <p:cNvSpPr txBox="1"/>
          <p:nvPr/>
        </p:nvSpPr>
        <p:spPr>
          <a:xfrm>
            <a:off x="3017520" y="3584448"/>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the watch app publishes its agent and asks; then read usage</a:t>
            </a:r>
            <a:endParaRPr lang="en-US" sz="2200" dirty="0"/>
          </a:p>
        </p:txBody>
      </p:sp>
      <p:sp>
        <p:nvSpPr>
          <p:cNvPr id="16" name="Text 14"/>
          <p:cNvSpPr txBox="1"/>
          <p:nvPr/>
        </p:nvSpPr>
        <p:spPr>
          <a:xfrm>
            <a:off x="548640" y="4242816"/>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Scalability</a:t>
            </a:r>
            <a:endParaRPr lang="en-US" sz="1800" dirty="0"/>
          </a:p>
        </p:txBody>
      </p:sp>
      <p:sp>
        <p:nvSpPr>
          <p:cNvPr id="17" name="Text 15"/>
          <p:cNvSpPr txBox="1"/>
          <p:nvPr/>
        </p:nvSpPr>
        <p:spPr>
          <a:xfrm>
            <a:off x="3017520" y="4242816"/>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the recorded load test, then KEDA live</a:t>
            </a:r>
            <a:endParaRPr lang="en-US" sz="2200" dirty="0"/>
          </a:p>
        </p:txBody>
      </p:sp>
      <p:sp>
        <p:nvSpPr>
          <p:cNvPr id="18" name="Text 16"/>
          <p:cNvSpPr txBox="1"/>
          <p:nvPr/>
        </p:nvSpPr>
        <p:spPr>
          <a:xfrm>
            <a:off x="548640" y="4901184"/>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Availability</a:t>
            </a:r>
            <a:endParaRPr lang="en-US" sz="1800" dirty="0"/>
          </a:p>
        </p:txBody>
      </p:sp>
      <p:sp>
        <p:nvSpPr>
          <p:cNvPr id="19" name="Text 17"/>
          <p:cNvSpPr txBox="1"/>
          <p:nvPr/>
        </p:nvSpPr>
        <p:spPr>
          <a:xfrm>
            <a:off x="3017520" y="4901184"/>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delete a worker during a question; it still ends</a:t>
            </a:r>
            <a:endParaRPr lang="en-US" sz="2200" dirty="0"/>
          </a:p>
        </p:txBody>
      </p:sp>
      <p:sp>
        <p:nvSpPr>
          <p:cNvPr id="20" name="Text 18"/>
          <p:cNvSpPr txBox="1"/>
          <p:nvPr/>
        </p:nvSpPr>
        <p:spPr>
          <a:xfrm>
            <a:off x="548640" y="5559552"/>
            <a:ext cx="2377440" cy="512064"/>
          </a:xfrm>
          <a:prstGeom prst="rect">
            <a:avLst/>
          </a:prstGeom>
          <a:noFill/>
          <a:ln/>
        </p:spPr>
        <p:txBody>
          <a:bodyPr wrap="square" lIns="0" tIns="0" rIns="0" bIns="0" rtlCol="0" anchor="ctr"/>
          <a:lstStyle/>
          <a:p>
            <a:pPr indent="0" marL="0">
              <a:buNone/>
            </a:pPr>
            <a:r>
              <a:rPr lang="en-US" sz="1800" dirty="0">
                <a:solidFill>
                  <a:srgbClr val="9A9DA3"/>
                </a:solidFill>
                <a:latin typeface="Switzer" pitchFamily="34" charset="0"/>
                <a:ea typeface="Switzer" pitchFamily="34" charset="-122"/>
                <a:cs typeface="Switzer" pitchFamily="34" charset="-120"/>
              </a:rPr>
              <a:t>Maintainability</a:t>
            </a:r>
            <a:endParaRPr lang="en-US" sz="1800" dirty="0"/>
          </a:p>
        </p:txBody>
      </p:sp>
      <p:sp>
        <p:nvSpPr>
          <p:cNvPr id="21" name="Text 19"/>
          <p:cNvSpPr txBox="1"/>
          <p:nvPr/>
        </p:nvSpPr>
        <p:spPr>
          <a:xfrm>
            <a:off x="3017520" y="5559552"/>
            <a:ext cx="8595360" cy="512064"/>
          </a:xfrm>
          <a:prstGeom prst="rect">
            <a:avLst/>
          </a:prstGeom>
          <a:noFill/>
          <a:ln/>
        </p:spPr>
        <p:txBody>
          <a:bodyPr wrap="square" lIns="0" tIns="0" rIns="0" bIns="0" rtlCol="0" anchor="ctr"/>
          <a:lstStyle/>
          <a:p>
            <a:pPr indent="0" marL="0">
              <a:buNone/>
            </a:pPr>
            <a:r>
              <a:rPr lang="en-US" sz="2200" dirty="0">
                <a:solidFill>
                  <a:srgbClr val="FFFFFF"/>
                </a:solidFill>
                <a:latin typeface="Switzer" pitchFamily="34" charset="0"/>
                <a:ea typeface="Switzer" pitchFamily="34" charset="-122"/>
                <a:cs typeface="Switzer" pitchFamily="34" charset="-120"/>
              </a:rPr>
              <a:t>open the last pipeline run on GitHub</a:t>
            </a:r>
            <a:endParaRPr lang="en-US" sz="2200" dirty="0"/>
          </a:p>
        </p:txBody>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731520" y="2286000"/>
            <a:ext cx="10058400" cy="1188720"/>
          </a:xfrm>
          <a:prstGeom prst="rect">
            <a:avLst/>
          </a:prstGeom>
          <a:noFill/>
          <a:ln/>
        </p:spPr>
        <p:txBody>
          <a:bodyPr wrap="square" lIns="0" tIns="0" rIns="0" bIns="0" rtlCol="0" anchor="ctr"/>
          <a:lstStyle/>
          <a:p>
            <a:pPr indent="0" marL="0">
              <a:buNone/>
            </a:pPr>
            <a:r>
              <a:rPr lang="en-US" sz="6400" dirty="0">
                <a:solidFill>
                  <a:srgbClr val="FFFFFF"/>
                </a:solidFill>
                <a:latin typeface="Switzer Medium" pitchFamily="34" charset="0"/>
                <a:ea typeface="Switzer Medium" pitchFamily="34" charset="-122"/>
                <a:cs typeface="Switzer Medium" pitchFamily="34" charset="-120"/>
              </a:rPr>
              <a:t>Thank you</a:t>
            </a:r>
            <a:endParaRPr lang="en-US" sz="6400" dirty="0"/>
          </a:p>
        </p:txBody>
      </p:sp>
      <p:sp>
        <p:nvSpPr>
          <p:cNvPr id="3" name="Text 1"/>
          <p:cNvSpPr txBox="1"/>
          <p:nvPr/>
        </p:nvSpPr>
        <p:spPr>
          <a:xfrm>
            <a:off x="731520" y="3566160"/>
            <a:ext cx="10058400" cy="548640"/>
          </a:xfrm>
          <a:prstGeom prst="rect">
            <a:avLst/>
          </a:prstGeom>
          <a:noFill/>
          <a:ln/>
        </p:spPr>
        <p:txBody>
          <a:bodyPr wrap="square" lIns="0" tIns="0" rIns="0" bIns="0" rtlCol="0" anchor="t"/>
          <a:lstStyle/>
          <a:p>
            <a:pPr indent="0" marL="0">
              <a:buNone/>
            </a:pPr>
            <a:r>
              <a:rPr lang="en-US" sz="2800" dirty="0">
                <a:solidFill>
                  <a:srgbClr val="9A9DA3"/>
                </a:solidFill>
                <a:latin typeface="Switzer" pitchFamily="34" charset="0"/>
                <a:ea typeface="Switzer" pitchFamily="34" charset="-122"/>
                <a:cs typeface="Switzer" pitchFamily="34" charset="-120"/>
              </a:rPr>
              <a:t>Questions?</a:t>
            </a:r>
            <a:endParaRPr lang="en-US" sz="2800" dirty="0"/>
          </a:p>
        </p:txBody>
      </p:sp>
      <p:sp>
        <p:nvSpPr>
          <p:cNvPr id="4" name="Text 2"/>
          <p:cNvSpPr txBox="1"/>
          <p:nvPr/>
        </p:nvSpPr>
        <p:spPr>
          <a:xfrm>
            <a:off x="731520" y="4389120"/>
            <a:ext cx="10058400" cy="457200"/>
          </a:xfrm>
          <a:prstGeom prst="rect">
            <a:avLst/>
          </a:prstGeom>
          <a:noFill/>
          <a:ln/>
        </p:spPr>
        <p:txBody>
          <a:bodyPr wrap="square" lIns="0" tIns="0" rIns="0" bIns="0" rtlCol="0" anchor="t"/>
          <a:lstStyle/>
          <a:p>
            <a:pPr indent="0" marL="0">
              <a:buNone/>
            </a:pPr>
            <a:r>
              <a:rPr lang="en-US" sz="1800" dirty="0">
                <a:solidFill>
                  <a:srgbClr val="9A9DA3"/>
                </a:solidFill>
                <a:latin typeface="JetBrains Mono" pitchFamily="34" charset="0"/>
                <a:ea typeface="JetBrains Mono" pitchFamily="34" charset="-122"/>
                <a:cs typeface="JetBrains Mono" pitchFamily="34" charset="-120"/>
              </a:rPr>
              <a:t>https://lumen.54-179-112-87.sslip.io</a:t>
            </a:r>
            <a:endParaRPr lang="en-US" sz="1800" dirty="0"/>
          </a:p>
        </p:txBody>
      </p:sp>
      <p:sp>
        <p:nvSpPr>
          <p:cNvPr id="25" name="Slide Number Placeholder 0"/>
          <p:cNvSpPr>
            <a:spLocks noGrp="1"/>
          </p:cNvSpPr>
          <p:nvPr>
            <p:ph type="sldNum" sz="quarter" idx="4294967295"/>
          </p:nvPr>
        </p:nvSpPr>
        <p:spPr>
          <a:xfrm>
            <a:off x="10908792" y="384048"/>
            <a:ext cx="731520" cy="292608"/>
          </a:xfrm>
          <a:prstGeom prst="rect">
            <a:avLst/>
          </a:prstGeom>
          <a:extLst>
            <a:ext uri="{C572A759-6A51-4108-AA02-DFA0A04FC94B}">
              <ma14:wrappingTextBoxFlag xmlns:ma14="http://schemas.microsoft.com/office/mac/drawingml/2011/main" val="0"/>
            </a:ext>
          </a:extLst>
        </p:spPr>
        <p:txBody>
          <a:bodyPr/>
          <a:lstStyle>
            <a:lvl1pPr>
              <a:defRPr sz="1400">
                <a:solidFill>
                  <a:srgbClr val="9A9DA3"/>
                </a:solidFill>
                <a:latin typeface="Switzer"/>
                <a:ea typeface="Switzer"/>
                <a:cs typeface="Switzer"/>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Lumen Platform</dc:title>
  <dc:subject>PptxGenJS Presentation</dc:subject>
  <dc:creator>Team 15</dc:creator>
  <cp:lastModifiedBy>Team 15</cp:lastModifiedBy>
  <cp:revision>1</cp:revision>
  <dcterms:created xsi:type="dcterms:W3CDTF">2026-10-23T10:35:17Z</dcterms:created>
  <dcterms:modified xsi:type="dcterms:W3CDTF">2026-10-23T10:35:17Z</dcterms:modified>
</cp:coreProperties>
</file>